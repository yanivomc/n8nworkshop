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8" r:id="rId7"/>
    <p:sldId id="259" r:id="rId8"/>
    <p:sldId id="261" r:id="rId11"/>
    <p:sldId id="262" r:id="rId12"/>
    <p:sldId id="263" r:id="rId13"/>
    <p:sldId id="264" r:id="rId14"/>
    <p:sldId id="265" r:id="rId15"/>
    <p:sldId id="266" r:id="rId16"/>
    <p:sldId id="267" r:id="rId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hwz2X17MlKujvXTjFVAixnaagt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10.xml"/><Relationship Id="rId10" Type="http://customschemas.google.com/relationships/presentationmetadata" Target="metadata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2 — MCP &amp; THE TOOL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Why n8n?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1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"/>
          <p:cNvSpPr/>
          <p:nvPr/>
        </p:nvSpPr>
        <p:spPr>
          <a:xfrm>
            <a:off x="274320" y="1325880"/>
            <a:ext cx="2011680" cy="35204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274320" y="1325880"/>
            <a:ext cx="2011680" cy="73152"/>
          </a:xfrm>
          <a:prstGeom prst="rect">
            <a:avLst/>
          </a:prstGeom>
          <a:solidFill>
            <a:srgbClr val="FF4444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274320" y="14173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Zapier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74320" y="18745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❌ Not for 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1"/>
          <p:cNvCxnSpPr/>
          <p:nvPr/>
        </p:nvCxnSpPr>
        <p:spPr>
          <a:xfrm>
            <a:off x="411480" y="22402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1"/>
          <p:cNvSpPr/>
          <p:nvPr/>
        </p:nvSpPr>
        <p:spPr>
          <a:xfrm>
            <a:off x="384048" y="233172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No code execution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84048" y="2862072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No kubectl/SSH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84048" y="3392424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SaaS-only, no self-host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84048" y="3922776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No AI Agent nodes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2450592" y="1325880"/>
            <a:ext cx="2011680" cy="35204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2450592" y="1325880"/>
            <a:ext cx="2011680" cy="73152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2450592" y="14173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Custom Scripts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2450592" y="18745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⚠️ Gets messy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1"/>
          <p:cNvCxnSpPr/>
          <p:nvPr/>
        </p:nvCxnSpPr>
        <p:spPr>
          <a:xfrm>
            <a:off x="2587752" y="22402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1"/>
          <p:cNvSpPr/>
          <p:nvPr/>
        </p:nvSpPr>
        <p:spPr>
          <a:xfrm>
            <a:off x="2560320" y="233172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Hard to maintain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2560320" y="2862072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No visual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2560320" y="3392424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No built-in retries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2560320" y="3922776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Brittle on API changes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4626864" y="1325880"/>
            <a:ext cx="2011680" cy="35204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4626864" y="1325880"/>
            <a:ext cx="2011680" cy="73152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4626864" y="14173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K8s Operators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4626864" y="18745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⚠️ Different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1"/>
          <p:cNvCxnSpPr/>
          <p:nvPr/>
        </p:nvCxnSpPr>
        <p:spPr>
          <a:xfrm>
            <a:off x="4764024" y="22402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1"/>
          <p:cNvSpPr/>
          <p:nvPr/>
        </p:nvSpPr>
        <p:spPr>
          <a:xfrm>
            <a:off x="4736592" y="233172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Great for reconciliation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4736592" y="2862072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Overkill for workflows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4736592" y="3392424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Needs CRD + Go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4736592" y="3922776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No human-in-the-loop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6803136" y="1325880"/>
            <a:ext cx="2011680" cy="3520440"/>
          </a:xfrm>
          <a:prstGeom prst="rect">
            <a:avLst/>
          </a:prstGeom>
          <a:solidFill>
            <a:srgbClr val="0F1729"/>
          </a:solidFill>
          <a:ln cap="flat" cmpd="sng" w="254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6803136" y="1325880"/>
            <a:ext cx="2011680" cy="73152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"/>
          <p:cNvSpPr/>
          <p:nvPr/>
        </p:nvSpPr>
        <p:spPr>
          <a:xfrm>
            <a:off x="6803136" y="14173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n8n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6803136" y="18745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✅ Just right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1"/>
          <p:cNvCxnSpPr/>
          <p:nvPr/>
        </p:nvCxnSpPr>
        <p:spPr>
          <a:xfrm>
            <a:off x="6940296" y="22402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1"/>
          <p:cNvSpPr/>
          <p:nvPr/>
        </p:nvSpPr>
        <p:spPr>
          <a:xfrm>
            <a:off x="6912864" y="233172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AI Agent + tools natively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6912864" y="2862072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Self-hosted, full control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6912864" y="3392424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Visual + version control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6912864" y="3922776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Human approval gates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solidFill>
            <a:srgbClr val="7B2FFF">
              <a:alpha val="14901"/>
            </a:srgbClr>
          </a:solidFill>
          <a:ln cap="flat" cmpd="sng" w="12700">
            <a:solidFill>
              <a:srgbClr val="7B2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"/>
          <p:cNvSpPr/>
          <p:nvPr/>
        </p:nvSpPr>
        <p:spPr>
          <a:xfrm>
            <a:off x="274320" y="4777437"/>
            <a:ext cx="859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n8n gives you the power of code with the visibility of a flowchart — and native AI Agent support out of the box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2 — MCP EXPLAINED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MCP — Model Context Protocol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3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3"/>
          <p:cNvSpPr/>
          <p:nvPr/>
        </p:nvSpPr>
        <p:spPr>
          <a:xfrm>
            <a:off x="274320" y="1325880"/>
            <a:ext cx="3931920" cy="352044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274320" y="1325880"/>
            <a:ext cx="3931920" cy="41148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274320" y="13258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🧩  WHAT IS MCP?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57200" y="19202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Protocol: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1508760" y="19202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Standard way for AI models to call external tools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57200" y="245059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Tool Definition: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508760" y="245059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JSON schema tells the AI what params each tool needs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457200" y="2980944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HTTP-based: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1508760" y="2980944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Any language can implement MCP tools over HTTP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57200" y="351129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n8n native: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1508760" y="351129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n8n's AI Agent node speaks MCP out of the box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457200" y="4041648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Our server: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1508760" y="4041648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FastAPI in the cluster — kubectl, promql, write &amp; incidents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4572000" y="1325880"/>
            <a:ext cx="4206240" cy="35204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4572000" y="1325880"/>
            <a:ext cx="4206240" cy="41148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4572000" y="132588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⚡  HOW IT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4846320" y="1874520"/>
            <a:ext cx="3657600" cy="384048"/>
          </a:xfrm>
          <a:prstGeom prst="rect">
            <a:avLst/>
          </a:prstGeom>
          <a:solidFill>
            <a:srgbClr val="7B2FFF">
              <a:alpha val="20000"/>
            </a:srgbClr>
          </a:solidFill>
          <a:ln cap="flat" cmpd="sng" w="12700">
            <a:solidFill>
              <a:srgbClr val="7B2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4846320" y="187452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AI Agent (Gemini)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6492240" y="2258568"/>
            <a:ext cx="3657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846320" y="2423160"/>
            <a:ext cx="3657600" cy="384048"/>
          </a:xfrm>
          <a:prstGeom prst="rect">
            <a:avLst/>
          </a:prstGeom>
          <a:solidFill>
            <a:srgbClr val="00D4FF">
              <a:alpha val="20000"/>
            </a:srgbClr>
          </a:solidFill>
          <a:ln cap="flat" cmpd="sng" w="12700">
            <a:solidFill>
              <a:srgbClr val="00D4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4846320" y="242316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MCP Tool Call: kubectl_read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492240" y="2807208"/>
            <a:ext cx="3657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4846320" y="2971800"/>
            <a:ext cx="3657600" cy="384048"/>
          </a:xfrm>
          <a:prstGeom prst="rect">
            <a:avLst/>
          </a:prstGeom>
          <a:solidFill>
            <a:srgbClr val="FF6B35">
              <a:alpha val="20000"/>
            </a:srgbClr>
          </a:solidFill>
          <a:ln cap="flat" cmpd="sng" w="12700">
            <a:solidFill>
              <a:srgbClr val="FF6B3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4846320" y="297180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MCP Server (FastAPI)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6492240" y="3355848"/>
            <a:ext cx="3657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4846320" y="3520440"/>
            <a:ext cx="3657600" cy="384048"/>
          </a:xfrm>
          <a:prstGeom prst="rect">
            <a:avLst/>
          </a:prstGeom>
          <a:solidFill>
            <a:srgbClr val="00C896">
              <a:alpha val="20000"/>
            </a:srgbClr>
          </a:solidFill>
          <a:ln cap="flat" cmpd="sng" w="12700">
            <a:solidFill>
              <a:srgbClr val="00C89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4846320" y="352044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kubectl / Prometheus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6492240" y="3904488"/>
            <a:ext cx="3657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4846320" y="4069080"/>
            <a:ext cx="3657600" cy="384048"/>
          </a:xfrm>
          <a:prstGeom prst="rect">
            <a:avLst/>
          </a:prstGeom>
          <a:solidFill>
            <a:srgbClr val="7B2FFF">
              <a:alpha val="20000"/>
            </a:srgbClr>
          </a:solidFill>
          <a:ln cap="flat" cmpd="sng" w="12700">
            <a:solidFill>
              <a:srgbClr val="7B2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4846320" y="406908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Result returned to AI Agent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2 — OUR MCP SERVER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Our MCP Server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4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4"/>
          <p:cNvSpPr/>
          <p:nvPr/>
        </p:nvSpPr>
        <p:spPr>
          <a:xfrm>
            <a:off x="274320" y="1325880"/>
            <a:ext cx="4160520" cy="160020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274320" y="1325880"/>
            <a:ext cx="4160520" cy="73152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365760" y="143560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🔍 kubectl_read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3108960" y="1453896"/>
            <a:ext cx="1188720" cy="256032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3108960" y="145389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FREE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365760" y="1801368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Any read-only kubectl command. get pods, describe deployment, get events, logs.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365760" y="2350008"/>
            <a:ext cx="3931920" cy="347472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457200" y="235000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kubectl get pods -n workshop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4709160" y="1325880"/>
            <a:ext cx="4160520" cy="160020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4709160" y="1325880"/>
            <a:ext cx="4160520" cy="7315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4800600" y="143560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📊 promql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7543800" y="1453896"/>
            <a:ext cx="1188720" cy="256032"/>
          </a:xfrm>
          <a:prstGeom prst="rect">
            <a:avLst/>
          </a:prstGeom>
          <a:solidFill>
            <a:srgbClr val="00D4FF">
              <a:alpha val="25098"/>
            </a:srgbClr>
          </a:solidFill>
          <a:ln cap="flat" cmpd="sng" w="12700">
            <a:solidFill>
              <a:srgbClr val="00D4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7543800" y="145389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FREE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4800600" y="1801368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Any PromQL query against Prometheus. Live metrics, ranges, custom aggregations.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4800600" y="2350008"/>
            <a:ext cx="3931920" cy="347472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4892040" y="235000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target_chaos_cpu_active{namespace="workshop"}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274320" y="3108960"/>
            <a:ext cx="4160520" cy="160020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274320" y="3108960"/>
            <a:ext cx="4160520" cy="73152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365760" y="321868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✍️ kubectl_write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3108960" y="3236976"/>
            <a:ext cx="1188720" cy="256032"/>
          </a:xfrm>
          <a:prstGeom prst="rect">
            <a:avLst/>
          </a:prstGeom>
          <a:solidFill>
            <a:srgbClr val="FF6B35">
              <a:alpha val="25098"/>
            </a:srgbClr>
          </a:solidFill>
          <a:ln cap="flat" cmpd="sng" w="12700">
            <a:solidFill>
              <a:srgbClr val="FF6B3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3108960" y="323697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TOTP GATED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365760" y="3584448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Write operations — rollout restart, delete, scale. Requires 6-digit TOTP code from Authenticator.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365760" y="4133088"/>
            <a:ext cx="3931920" cy="347472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457200" y="413308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kubectl rollout restart deployment/target-app -n workshop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4709160" y="3108960"/>
            <a:ext cx="4160520" cy="160020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4709160" y="3108960"/>
            <a:ext cx="4160520" cy="73152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4800600" y="321868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🗄️ /incidents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7543800" y="3236976"/>
            <a:ext cx="1188720" cy="256032"/>
          </a:xfrm>
          <a:prstGeom prst="rect">
            <a:avLst/>
          </a:prstGeom>
          <a:solidFill>
            <a:srgbClr val="7B2FFF">
              <a:alpha val="25098"/>
            </a:srgbClr>
          </a:solidFill>
          <a:ln cap="flat" cmpd="sng" w="12700">
            <a:solidFill>
              <a:srgbClr val="7B2F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7543800" y="323697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SQLITE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4800600" y="3584448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Incident audit store. POST creates with 4-char key. GET retrieves. PATCH updates status.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4800600" y="4133088"/>
            <a:ext cx="3931920" cy="347472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4892040" y="413308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GET /incidents/k42a → {command, status, resolved_at}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Runs as a pod in clawops • reached at mcp-server.clawops…:8000 • auth via in-cluster ServiceAccount (no kubeconfig) • docs at /mcp/docs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63" name="Google Shape;63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2 — OUR MCP SERVER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kubectl-read — read the cluster (FREE)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2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2"/>
          <p:cNvSpPr/>
          <p:nvPr/>
        </p:nvSpPr>
        <p:spPr>
          <a:xfrm>
            <a:off x="274320" y="132588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274320" y="1325880"/>
            <a:ext cx="548640" cy="1508760"/>
          </a:xfrm>
          <a:prstGeom prst="rect">
            <a:avLst/>
          </a:prstGeom>
          <a:solidFill>
            <a:srgbClr val="00C896">
              <a:alpha val="20000"/>
            </a:srgbClr>
          </a:solidFill>
          <a:ln cap="flat" cmpd="sng" w="12700">
            <a:solidFill>
              <a:srgbClr val="00C89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274320" y="132588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896112" y="1435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Endpoint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896112" y="176479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POST /tools/kubectl-read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3172968" y="132588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3172968" y="1325880"/>
            <a:ext cx="548640" cy="1508760"/>
          </a:xfrm>
          <a:prstGeom prst="rect">
            <a:avLst/>
          </a:prstGeom>
          <a:solidFill>
            <a:srgbClr val="00D4FF">
              <a:alpha val="20000"/>
            </a:srgbClr>
          </a:solidFill>
          <a:ln cap="flat" cmpd="sng" w="12700">
            <a:solidFill>
              <a:srgbClr val="00D4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3172968" y="132588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📥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3794760" y="1435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794760" y="176479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KubectlRequest { command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071616" y="132588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6071616" y="1325880"/>
            <a:ext cx="548640" cy="1508760"/>
          </a:xfrm>
          <a:prstGeom prst="rect">
            <a:avLst/>
          </a:prstGeom>
          <a:solidFill>
            <a:srgbClr val="7B2FFF">
              <a:alpha val="20000"/>
            </a:srgbClr>
          </a:solidFill>
          <a:ln cap="flat" cmpd="sng" w="12700">
            <a:solidFill>
              <a:srgbClr val="7B2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6071616" y="132588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6693408" y="1435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Guard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6693408" y="176479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is_write_command() → write verbs rejected (403)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274320" y="301752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274320" y="3017520"/>
            <a:ext cx="548640" cy="1508760"/>
          </a:xfrm>
          <a:prstGeom prst="rect">
            <a:avLst/>
          </a:prstGeom>
          <a:solidFill>
            <a:srgbClr val="FF6B35">
              <a:alpha val="20000"/>
            </a:srgbClr>
          </a:solidFill>
          <a:ln cap="flat" cmpd="sng" w="12700">
            <a:solidFill>
              <a:srgbClr val="FF6B35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274320" y="301752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896112" y="31272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Runs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896112" y="345643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kubectl &lt;command&gt; via subprocess (30s)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3172968" y="301752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3172968" y="3017520"/>
            <a:ext cx="548640" cy="1508760"/>
          </a:xfrm>
          <a:prstGeom prst="rect">
            <a:avLst/>
          </a:prstGeom>
          <a:solidFill>
            <a:srgbClr val="26A5E4">
              <a:alpha val="20000"/>
            </a:srgbClr>
          </a:solidFill>
          <a:ln cap="flat" cmpd="sng" w="12700">
            <a:solidFill>
              <a:srgbClr val="26A5E4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3172968" y="301752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📤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3794760" y="31272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Returns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3794760" y="345643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{ output, command, error, exit_code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6071616" y="301752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6071616" y="3017520"/>
            <a:ext cx="548640" cy="1508760"/>
          </a:xfrm>
          <a:prstGeom prst="rect">
            <a:avLst/>
          </a:prstGeom>
          <a:solidFill>
            <a:srgbClr val="00C896">
              <a:alpha val="20000"/>
            </a:srgbClr>
          </a:solidFill>
          <a:ln cap="flat" cmpd="sng" w="12700">
            <a:solidFill>
              <a:srgbClr val="00C89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6071616" y="301752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6693408" y="31272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Smart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6693408" y="345643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kubectl errors return as data, not 500 — the AI reasons on them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agent calls this freely — it can look, but a write verb is rejected before it ever runs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63" name="Google Shape;63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2 — OUR MCP SERVER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promql — live metrics (FREE)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2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2"/>
          <p:cNvSpPr/>
          <p:nvPr/>
        </p:nvSpPr>
        <p:spPr>
          <a:xfrm>
            <a:off x="274320" y="132588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274320" y="1325880"/>
            <a:ext cx="548640" cy="1508760"/>
          </a:xfrm>
          <a:prstGeom prst="rect">
            <a:avLst/>
          </a:prstGeom>
          <a:solidFill>
            <a:srgbClr val="00C896">
              <a:alpha val="20000"/>
            </a:srgbClr>
          </a:solidFill>
          <a:ln cap="flat" cmpd="sng" w="12700">
            <a:solidFill>
              <a:srgbClr val="00C89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274320" y="132588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896112" y="1435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Endpoint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896112" y="176479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POST /tools/promql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3172968" y="132588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3172968" y="1325880"/>
            <a:ext cx="548640" cy="1508760"/>
          </a:xfrm>
          <a:prstGeom prst="rect">
            <a:avLst/>
          </a:prstGeom>
          <a:solidFill>
            <a:srgbClr val="00D4FF">
              <a:alpha val="20000"/>
            </a:srgbClr>
          </a:solidFill>
          <a:ln cap="flat" cmpd="sng" w="12700">
            <a:solidFill>
              <a:srgbClr val="00D4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3172968" y="132588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📥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3794760" y="1435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794760" y="176479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PromQLRequest { query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071616" y="132588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6071616" y="1325880"/>
            <a:ext cx="548640" cy="1508760"/>
          </a:xfrm>
          <a:prstGeom prst="rect">
            <a:avLst/>
          </a:prstGeom>
          <a:solidFill>
            <a:srgbClr val="7B2FFF">
              <a:alpha val="20000"/>
            </a:srgbClr>
          </a:solidFill>
          <a:ln cap="flat" cmpd="sng" w="12700">
            <a:solidFill>
              <a:srgbClr val="7B2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6071616" y="132588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6693408" y="1435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Runs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6693408" y="176479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GET {PROMETHEUS_URL}/api/v1/query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274320" y="301752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274320" y="3017520"/>
            <a:ext cx="548640" cy="1508760"/>
          </a:xfrm>
          <a:prstGeom prst="rect">
            <a:avLst/>
          </a:prstGeom>
          <a:solidFill>
            <a:srgbClr val="FF6B35">
              <a:alpha val="20000"/>
            </a:srgbClr>
          </a:solidFill>
          <a:ln cap="flat" cmpd="sng" w="12700">
            <a:solidFill>
              <a:srgbClr val="FF6B35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274320" y="301752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📤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896112" y="31272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Returns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896112" y="345643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{ result, query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3172968" y="301752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3172968" y="3017520"/>
            <a:ext cx="548640" cy="1508760"/>
          </a:xfrm>
          <a:prstGeom prst="rect">
            <a:avLst/>
          </a:prstGeom>
          <a:solidFill>
            <a:srgbClr val="26A5E4">
              <a:alpha val="20000"/>
            </a:srgbClr>
          </a:solidFill>
          <a:ln cap="flat" cmpd="sng" w="12700">
            <a:solidFill>
              <a:srgbClr val="26A5E4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3172968" y="301752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3794760" y="31272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Gotcha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3794760" y="345643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URL needs the /prometheus routePrefix, or → 503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6071616" y="301752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6071616" y="3017520"/>
            <a:ext cx="548640" cy="1508760"/>
          </a:xfrm>
          <a:prstGeom prst="rect">
            <a:avLst/>
          </a:prstGeom>
          <a:solidFill>
            <a:srgbClr val="00C896">
              <a:alpha val="20000"/>
            </a:srgbClr>
          </a:solidFill>
          <a:ln cap="flat" cmpd="sng" w="12700">
            <a:solidFill>
              <a:srgbClr val="00C89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6071616" y="301752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🔥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6693408" y="31272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6693408" y="345643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target_chaos_cpu_active{namespace="workshop"}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 thin proxy to Prometheus — the agent writes PromQL, the server runs 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63" name="Google Shape;63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2 — OUR MCP SERVER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kubectl-write — the gated write (TOTP)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2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2"/>
          <p:cNvSpPr/>
          <p:nvPr/>
        </p:nvSpPr>
        <p:spPr>
          <a:xfrm>
            <a:off x="274320" y="132588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274320" y="1325880"/>
            <a:ext cx="548640" cy="1508760"/>
          </a:xfrm>
          <a:prstGeom prst="rect">
            <a:avLst/>
          </a:prstGeom>
          <a:solidFill>
            <a:srgbClr val="00C896">
              <a:alpha val="20000"/>
            </a:srgbClr>
          </a:solidFill>
          <a:ln cap="flat" cmpd="sng" w="12700">
            <a:solidFill>
              <a:srgbClr val="00C89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274320" y="132588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✍️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896112" y="1435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Endpoint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896112" y="176479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POST /tools/kubectl-write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3172968" y="132588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3172968" y="1325880"/>
            <a:ext cx="548640" cy="1508760"/>
          </a:xfrm>
          <a:prstGeom prst="rect">
            <a:avLst/>
          </a:prstGeom>
          <a:solidFill>
            <a:srgbClr val="00D4FF">
              <a:alpha val="20000"/>
            </a:srgbClr>
          </a:solidFill>
          <a:ln cap="flat" cmpd="sng" w="12700">
            <a:solidFill>
              <a:srgbClr val="00D4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3172968" y="132588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📥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3794760" y="1435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794760" y="176479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{ command, approved_by, approval_token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071616" y="132588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6071616" y="1325880"/>
            <a:ext cx="548640" cy="1508760"/>
          </a:xfrm>
          <a:prstGeom prst="rect">
            <a:avLst/>
          </a:prstGeom>
          <a:solidFill>
            <a:srgbClr val="7B2FFF">
              <a:alpha val="20000"/>
            </a:srgbClr>
          </a:solidFill>
          <a:ln cap="flat" cmpd="sng" w="12700">
            <a:solidFill>
              <a:srgbClr val="7B2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6071616" y="132588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6693408" y="1435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Gate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6693408" y="176479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validate_token(): pyotp TOTP, ±30s window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274320" y="301752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274320" y="3017520"/>
            <a:ext cx="548640" cy="1508760"/>
          </a:xfrm>
          <a:prstGeom prst="rect">
            <a:avLst/>
          </a:prstGeom>
          <a:solidFill>
            <a:srgbClr val="FF6B35">
              <a:alpha val="20000"/>
            </a:srgbClr>
          </a:solidFill>
          <a:ln cap="flat" cmpd="sng" w="12700">
            <a:solidFill>
              <a:srgbClr val="FF6B35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274320" y="301752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896112" y="31272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Gate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896112" y="345643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must be a write verb, else 400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3172968" y="301752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3172968" y="3017520"/>
            <a:ext cx="548640" cy="1508760"/>
          </a:xfrm>
          <a:prstGeom prst="rect">
            <a:avLst/>
          </a:prstGeom>
          <a:solidFill>
            <a:srgbClr val="26A5E4">
              <a:alpha val="20000"/>
            </a:srgbClr>
          </a:solidFill>
          <a:ln cap="flat" cmpd="sng" w="12700">
            <a:solidFill>
              <a:srgbClr val="26A5E4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3172968" y="301752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3794760" y="31272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Audit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3794760" y="345643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logs: AUDIT | WRITE_EXECUTED | approved_by | cmd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6071616" y="301752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6071616" y="3017520"/>
            <a:ext cx="548640" cy="1508760"/>
          </a:xfrm>
          <a:prstGeom prst="rect">
            <a:avLst/>
          </a:prstGeom>
          <a:solidFill>
            <a:srgbClr val="00C896">
              <a:alpha val="20000"/>
            </a:srgbClr>
          </a:solidFill>
          <a:ln cap="flat" cmpd="sng" w="12700">
            <a:solidFill>
              <a:srgbClr val="00C89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6071616" y="301752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6693408" y="31272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Pattern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6693408" y="345643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AI diagnoses · human approves · MCP executes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agent NEVER calls this — n8n does, only after a human approves with a TOTP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63" name="Google Shape;63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2 — OUR MCP SERVER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incidents — the audit store (SQLite)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2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2"/>
          <p:cNvSpPr/>
          <p:nvPr/>
        </p:nvSpPr>
        <p:spPr>
          <a:xfrm>
            <a:off x="274320" y="132588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274320" y="1325880"/>
            <a:ext cx="548640" cy="1508760"/>
          </a:xfrm>
          <a:prstGeom prst="rect">
            <a:avLst/>
          </a:prstGeom>
          <a:solidFill>
            <a:srgbClr val="00C896">
              <a:alpha val="20000"/>
            </a:srgbClr>
          </a:solidFill>
          <a:ln cap="flat" cmpd="sng" w="12700">
            <a:solidFill>
              <a:srgbClr val="00C89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274320" y="132588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896112" y="1435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Store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896112" y="176479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SQLite at /data/incidents.db (on a PVC)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3172968" y="132588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3172968" y="1325880"/>
            <a:ext cx="548640" cy="1508760"/>
          </a:xfrm>
          <a:prstGeom prst="rect">
            <a:avLst/>
          </a:prstGeom>
          <a:solidFill>
            <a:srgbClr val="00D4FF">
              <a:alpha val="20000"/>
            </a:srgbClr>
          </a:solidFill>
          <a:ln cap="flat" cmpd="sng" w="12700">
            <a:solidFill>
              <a:srgbClr val="00D4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3172968" y="132588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🆕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3794760" y="1435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POST /incidents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794760" y="176479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creates a row → returns a 4-char key (e.g. k42a)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071616" y="132588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6071616" y="1325880"/>
            <a:ext cx="548640" cy="1508760"/>
          </a:xfrm>
          <a:prstGeom prst="rect">
            <a:avLst/>
          </a:prstGeom>
          <a:solidFill>
            <a:srgbClr val="7B2FFF">
              <a:alpha val="20000"/>
            </a:srgbClr>
          </a:solidFill>
          <a:ln cap="flat" cmpd="sng" w="12700">
            <a:solidFill>
              <a:srgbClr val="7B2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6071616" y="132588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🔎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6693408" y="1435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GET /incidents/{key}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6693408" y="176479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fetch one incident by key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274320" y="301752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274320" y="3017520"/>
            <a:ext cx="548640" cy="1508760"/>
          </a:xfrm>
          <a:prstGeom prst="rect">
            <a:avLst/>
          </a:prstGeom>
          <a:solidFill>
            <a:srgbClr val="FF6B35">
              <a:alpha val="20000"/>
            </a:srgbClr>
          </a:solidFill>
          <a:ln cap="flat" cmpd="sng" w="12700">
            <a:solidFill>
              <a:srgbClr val="FF6B35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274320" y="301752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896112" y="31272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PATCH /incidents/{key}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896112" y="345643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set status: resolved (+ resolved_at)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3172968" y="301752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3172968" y="3017520"/>
            <a:ext cx="548640" cy="1508760"/>
          </a:xfrm>
          <a:prstGeom prst="rect">
            <a:avLst/>
          </a:prstGeom>
          <a:solidFill>
            <a:srgbClr val="26A5E4">
              <a:alpha val="20000"/>
            </a:srgbClr>
          </a:solidFill>
          <a:ln cap="flat" cmpd="sng" w="12700">
            <a:solidFill>
              <a:srgbClr val="26A5E4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3172968" y="301752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🧹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3794760" y="31272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DELETE /incidents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3794760" y="345643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clear all (bootstrap option 6)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6071616" y="301752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6071616" y="3017520"/>
            <a:ext cx="548640" cy="1508760"/>
          </a:xfrm>
          <a:prstGeom prst="rect">
            <a:avLst/>
          </a:prstGeom>
          <a:solidFill>
            <a:srgbClr val="00C896">
              <a:alpha val="20000"/>
            </a:srgbClr>
          </a:solidFill>
          <a:ln cap="flat" cmpd="sng" w="12700">
            <a:solidFill>
              <a:srgbClr val="00C89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6071616" y="301752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6693408" y="31272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6693408" y="345643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key links chat → approval → execution → audit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Every action gets a 4-char key — the trail of who approved what, and when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63" name="Google Shape;63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2 — A SECOND MCP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Linux MCP — same pattern, safer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2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2"/>
          <p:cNvSpPr/>
          <p:nvPr/>
        </p:nvSpPr>
        <p:spPr>
          <a:xfrm>
            <a:off x="274320" y="132588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274320" y="1325880"/>
            <a:ext cx="548640" cy="1508760"/>
          </a:xfrm>
          <a:prstGeom prst="rect">
            <a:avLst/>
          </a:prstGeom>
          <a:solidFill>
            <a:srgbClr val="00C896">
              <a:alpha val="20000"/>
            </a:srgbClr>
          </a:solidFill>
          <a:ln cap="flat" cmpd="sng" w="12700">
            <a:solidFill>
              <a:srgbClr val="00C89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274320" y="132588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🖥️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896112" y="1435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Server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896112" y="176479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linux-mcp-server (FastAPI) · port 8001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3172968" y="132588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3172968" y="1325880"/>
            <a:ext cx="548640" cy="1508760"/>
          </a:xfrm>
          <a:prstGeom prst="rect">
            <a:avLst/>
          </a:prstGeom>
          <a:solidFill>
            <a:srgbClr val="00D4FF">
              <a:alpha val="20000"/>
            </a:srgbClr>
          </a:solidFill>
          <a:ln cap="flat" cmpd="sng" w="12700">
            <a:solidFill>
              <a:srgbClr val="00D4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3172968" y="132588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📥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3794760" y="1435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Endpoint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794760" y="176479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POST /tools/linux-read { command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071616" y="132588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6071616" y="1325880"/>
            <a:ext cx="548640" cy="1508760"/>
          </a:xfrm>
          <a:prstGeom prst="rect">
            <a:avLst/>
          </a:prstGeom>
          <a:solidFill>
            <a:srgbClr val="7B2FFF">
              <a:alpha val="20000"/>
            </a:srgbClr>
          </a:solidFill>
          <a:ln cap="flat" cmpd="sng" w="12700">
            <a:solidFill>
              <a:srgbClr val="7B2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6071616" y="132588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6693408" y="1435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Allowlist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6693408" y="176479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ALLOWED_PREFIXES: df, free, ps, uptime, top -bn1…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274320" y="301752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274320" y="3017520"/>
            <a:ext cx="548640" cy="1508760"/>
          </a:xfrm>
          <a:prstGeom prst="rect">
            <a:avLst/>
          </a:prstGeom>
          <a:solidFill>
            <a:srgbClr val="FF6B35">
              <a:alpha val="20000"/>
            </a:srgbClr>
          </a:solidFill>
          <a:ln cap="flat" cmpd="sng" w="12700">
            <a:solidFill>
              <a:srgbClr val="FF6B35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274320" y="301752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896112" y="31272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Guard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896112" y="345643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is_allowed(): startswith a prefix, else 400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3172968" y="301752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3172968" y="3017520"/>
            <a:ext cx="548640" cy="1508760"/>
          </a:xfrm>
          <a:prstGeom prst="rect">
            <a:avLst/>
          </a:prstGeom>
          <a:solidFill>
            <a:srgbClr val="26A5E4">
              <a:alpha val="20000"/>
            </a:srgbClr>
          </a:solidFill>
          <a:ln cap="flat" cmpd="sng" w="12700">
            <a:solidFill>
              <a:srgbClr val="26A5E4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3172968" y="301752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3794760" y="31272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Safer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3794760" y="345643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allowlist (only these) vs kubectl-read’s verb-block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6071616" y="301752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6071616" y="3017520"/>
            <a:ext cx="548640" cy="1508760"/>
          </a:xfrm>
          <a:prstGeom prst="rect">
            <a:avLst/>
          </a:prstGeom>
          <a:solidFill>
            <a:srgbClr val="00C896">
              <a:alpha val="20000"/>
            </a:srgbClr>
          </a:solidFill>
          <a:ln cap="flat" cmpd="sng" w="12700">
            <a:solidFill>
              <a:srgbClr val="00C89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6071616" y="301752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📤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6693408" y="31272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Returns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6693408" y="345643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{ output, command, error, exit_code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 second FastAPI server proves the pattern repeats: a new MCP = a new set of tools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63" name="Google Shape;63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2 — BUILD YOUR OWN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Build Your Own Tool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2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2"/>
          <p:cNvSpPr/>
          <p:nvPr/>
        </p:nvSpPr>
        <p:spPr>
          <a:xfrm>
            <a:off x="274320" y="132588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274320" y="1325880"/>
            <a:ext cx="548640" cy="1508760"/>
          </a:xfrm>
          <a:prstGeom prst="rect">
            <a:avLst/>
          </a:prstGeom>
          <a:solidFill>
            <a:srgbClr val="00C896">
              <a:alpha val="20000"/>
            </a:srgbClr>
          </a:solidFill>
          <a:ln cap="flat" cmpd="sng" w="12700">
            <a:solidFill>
              <a:srgbClr val="00C89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274320" y="132588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1️⃣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896112" y="1435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A FastAPI endpoint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896112" y="176479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POST /tools/&lt;name&gt; with a Pydantic input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3172968" y="132588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3172968" y="1325880"/>
            <a:ext cx="548640" cy="1508760"/>
          </a:xfrm>
          <a:prstGeom prst="rect">
            <a:avLst/>
          </a:prstGeom>
          <a:solidFill>
            <a:srgbClr val="00D4FF">
              <a:alpha val="20000"/>
            </a:srgbClr>
          </a:solidFill>
          <a:ln cap="flat" cmpd="sng" w="12700">
            <a:solidFill>
              <a:srgbClr val="00D4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3172968" y="132588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2️⃣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3794760" y="1435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An allowlist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794760" y="176479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guard what it can run (verbs or prefixes)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071616" y="132588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6071616" y="1325880"/>
            <a:ext cx="548640" cy="1508760"/>
          </a:xfrm>
          <a:prstGeom prst="rect">
            <a:avLst/>
          </a:prstGeom>
          <a:solidFill>
            <a:srgbClr val="7B2FFF">
              <a:alpha val="20000"/>
            </a:srgbClr>
          </a:solidFill>
          <a:ln cap="flat" cmpd="sng" w="12700">
            <a:solidFill>
              <a:srgbClr val="7B2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6071616" y="132588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3️⃣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6693408" y="1435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A JSON response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6693408" y="176479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{ output, error, exit_code } the AI can read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274320" y="301752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274320" y="3017520"/>
            <a:ext cx="548640" cy="1508760"/>
          </a:xfrm>
          <a:prstGeom prst="rect">
            <a:avLst/>
          </a:prstGeom>
          <a:solidFill>
            <a:srgbClr val="FF6B35">
              <a:alpha val="20000"/>
            </a:srgbClr>
          </a:solidFill>
          <a:ln cap="flat" cmpd="sng" w="12700">
            <a:solidFill>
              <a:srgbClr val="FF6B35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274320" y="301752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4️⃣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896112" y="31272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A description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896112" y="345643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tells the AI when to call it — the routing logic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3172968" y="301752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3172968" y="3017520"/>
            <a:ext cx="548640" cy="1508760"/>
          </a:xfrm>
          <a:prstGeom prst="rect">
            <a:avLst/>
          </a:prstGeom>
          <a:solidFill>
            <a:srgbClr val="26A5E4">
              <a:alpha val="20000"/>
            </a:srgbClr>
          </a:solidFill>
          <a:ln cap="flat" cmpd="sng" w="12700">
            <a:solidFill>
              <a:srgbClr val="26A5E4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3172968" y="301752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5️⃣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3794760" y="31272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Wire it in n8n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3794760" y="345643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HTTP Request Tool node → the Agent  (Lab B1!)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6071616" y="3017520"/>
            <a:ext cx="2651760" cy="150876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6071616" y="3017520"/>
            <a:ext cx="548640" cy="1508760"/>
          </a:xfrm>
          <a:prstGeom prst="rect">
            <a:avLst/>
          </a:prstGeom>
          <a:solidFill>
            <a:srgbClr val="00C896">
              <a:alpha val="20000"/>
            </a:srgbClr>
          </a:solidFill>
          <a:ln cap="flat" cmpd="sng" w="12700">
            <a:solidFill>
              <a:srgbClr val="00C89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6071616" y="3017520"/>
            <a:ext cx="548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♻️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6693408" y="31272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That’s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6693408" y="3456432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every new AI power = one HTTP endpoint + a description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Next: S4 / S5 wire kubectl-write + incidents into the alert → approve → execute loop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onsolas"/>
              </a:rPr>
              <a:t>SECTION 2 — SEE IT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Trebuchet MS"/>
              </a:rPr>
              <a:t>ClawOps Live — your architecture, in motion</a:t>
            </a:r>
          </a:p>
        </p:txBody>
      </p:sp>
      <p:pic>
        <p:nvPicPr>
          <p:cNvPr id="4" name="Picture 3" descr="clawops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34440"/>
            <a:ext cx="6583680" cy="3456432"/>
          </a:xfrm>
          <a:prstGeom prst="rect">
            <a:avLst/>
          </a:prstGeom>
          <a:ln w="19050">
            <a:solidFill>
              <a:srgbClr val="00D4F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476402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92A4"/>
                </a:solidFill>
                <a:latin typeface="Consolas"/>
              </a:rPr>
              <a:t>In the dashboard, click  ◆ ARCHITECTURE  ·  click any node for its code  ·  ▶ Play for the guided walkthrough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2026-04-12T17:21:29Z</dcterms:created>
  <dc:creator>PptxGenJS</dc:creator>
</cp:coreProperties>
</file>
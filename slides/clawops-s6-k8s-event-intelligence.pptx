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8" r:id="rId17"/>
    <p:sldId id="262" r:id="rId11"/>
    <p:sldId id="263" r:id="rId12"/>
    <p:sldId id="264" r:id="rId13"/>
    <p:sldId id="265" r:id="rId14"/>
    <p:sldId id="266" r:id="rId15"/>
    <p:sldId id="267" r:id="rId16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" name="Google Shape;3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6" name="Google Shape;22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5" name="Google Shape;29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2" name="Google Shape;32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SESSION 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K8s Event Intelligence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57200" y="169164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Real-time detection · AI enrichment · Controlled remediation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457200" y="2331720"/>
            <a:ext cx="2651760" cy="1188720"/>
          </a:xfrm>
          <a:prstGeom prst="roundRect">
            <a:avLst>
              <a:gd fmla="val 615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548640" y="242316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&lt;1s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548640" y="2944368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Detection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3355848" y="2331720"/>
            <a:ext cx="2651760" cy="1188720"/>
          </a:xfrm>
          <a:prstGeom prst="roundRect">
            <a:avLst>
              <a:gd fmla="val 615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3447288" y="242316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vs 25s+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3447288" y="2944368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Prometheus scrape delay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6254496" y="2331720"/>
            <a:ext cx="2651760" cy="1188720"/>
          </a:xfrm>
          <a:prstGeom prst="roundRect">
            <a:avLst>
              <a:gd fmla="val 615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3"/>
          <p:cNvSpPr/>
          <p:nvPr/>
        </p:nvSpPr>
        <p:spPr>
          <a:xfrm>
            <a:off x="6345936" y="242316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 blind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actions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6345936" y="2944368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Human always in the loop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1E3A5F"/>
                </a:solidFill>
                <a:latin typeface="Consolas"/>
                <a:ea typeface="Consolas"/>
                <a:cs typeface="Consolas"/>
                <a:sym typeface="Consolas"/>
              </a:rPr>
              <a:t>n8n for Advanced DevOps Automation · Radware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E24B4A"/>
                </a:solidFill>
                <a:latin typeface="Consolas"/>
                <a:ea typeface="Consolas"/>
                <a:cs typeface="Consolas"/>
                <a:sym typeface="Consolas"/>
              </a:rPr>
              <a:t>THE PROBLEM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Prometheus Sees It Too Late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 pod can crash, recover, and crash again before Prometheus even fires an alert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365760" y="1920240"/>
            <a:ext cx="3931920" cy="2468880"/>
          </a:xfrm>
          <a:prstGeom prst="roundRect">
            <a:avLst>
              <a:gd fmla="val 2963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502920" y="202996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4B4A"/>
                </a:solidFill>
                <a:latin typeface="Calibri"/>
                <a:ea typeface="Calibri"/>
                <a:cs typeface="Calibri"/>
                <a:sym typeface="Calibri"/>
              </a:rPr>
              <a:t>🐌  Prometheus Path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02920" y="2423160"/>
            <a:ext cx="548640" cy="237744"/>
          </a:xfrm>
          <a:prstGeom prst="rect">
            <a:avLst/>
          </a:prstGeom>
          <a:solidFill>
            <a:srgbClr val="E24B4A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502920" y="2423160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0s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143000" y="2441448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4B4A"/>
                </a:solidFill>
                <a:latin typeface="Calibri"/>
                <a:ea typeface="Calibri"/>
                <a:cs typeface="Calibri"/>
                <a:sym typeface="Calibri"/>
              </a:rPr>
              <a:t>Pod crashes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502920" y="2779776"/>
            <a:ext cx="548640" cy="237744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502920" y="2779776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+15s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1143000" y="2798064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Prometheus scrapes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502920" y="3136392"/>
            <a:ext cx="548640" cy="237744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502920" y="3136392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+25s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1143000" y="3154680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Alert rule evaluates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502920" y="3493008"/>
            <a:ext cx="548640" cy="237744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502920" y="3493008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+35s+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1143000" y="3511296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Alertmanager fires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502920" y="3849624"/>
            <a:ext cx="548640" cy="237744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502920" y="3849624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+40s+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1143000" y="3867912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n8n receives alert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4663440" y="1920240"/>
            <a:ext cx="3931920" cy="2468880"/>
          </a:xfrm>
          <a:prstGeom prst="roundRect">
            <a:avLst>
              <a:gd fmla="val 2963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4800600" y="202996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⚡  Event-Watcher Path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4800600" y="2423160"/>
            <a:ext cx="502920" cy="237744"/>
          </a:xfrm>
          <a:prstGeom prst="rect">
            <a:avLst/>
          </a:prstGeom>
          <a:solidFill>
            <a:srgbClr val="E24B4A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4800600" y="2423160"/>
            <a:ext cx="502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0s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5394960" y="2441448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4B4A"/>
                </a:solidFill>
                <a:latin typeface="Calibri"/>
                <a:ea typeface="Calibri"/>
                <a:cs typeface="Calibri"/>
                <a:sym typeface="Calibri"/>
              </a:rPr>
              <a:t>Pod crashes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4800600" y="2779776"/>
            <a:ext cx="502920" cy="237744"/>
          </a:xfrm>
          <a:prstGeom prst="rect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4"/>
          <p:cNvSpPr/>
          <p:nvPr/>
        </p:nvSpPr>
        <p:spPr>
          <a:xfrm>
            <a:off x="4800600" y="2779776"/>
            <a:ext cx="502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080C18"/>
                </a:solidFill>
                <a:latin typeface="Consolas"/>
                <a:ea typeface="Consolas"/>
                <a:cs typeface="Consolas"/>
                <a:sym typeface="Consolas"/>
              </a:rPr>
              <a:t>&lt;1s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5394960" y="2798064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K8s API event fires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4800600" y="3136392"/>
            <a:ext cx="502920" cy="237744"/>
          </a:xfrm>
          <a:prstGeom prst="rect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4"/>
          <p:cNvSpPr/>
          <p:nvPr/>
        </p:nvSpPr>
        <p:spPr>
          <a:xfrm>
            <a:off x="4800600" y="3136392"/>
            <a:ext cx="502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080C18"/>
                </a:solidFill>
                <a:latin typeface="Consolas"/>
                <a:ea typeface="Consolas"/>
                <a:cs typeface="Consolas"/>
                <a:sym typeface="Consolas"/>
              </a:rPr>
              <a:t>10s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5394960" y="3154680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Batch window closes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4800600" y="3493008"/>
            <a:ext cx="502920" cy="237744"/>
          </a:xfrm>
          <a:prstGeom prst="rect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4"/>
          <p:cNvSpPr/>
          <p:nvPr/>
        </p:nvSpPr>
        <p:spPr>
          <a:xfrm>
            <a:off x="4800600" y="3493008"/>
            <a:ext cx="502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080C18"/>
                </a:solidFill>
                <a:latin typeface="Consolas"/>
                <a:ea typeface="Consolas"/>
                <a:cs typeface="Consolas"/>
                <a:sym typeface="Consolas"/>
              </a:rPr>
              <a:t>11s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5394960" y="3511296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n8n S6 triggered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4800600" y="3849624"/>
            <a:ext cx="502920" cy="237744"/>
          </a:xfrm>
          <a:prstGeom prst="rect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4"/>
          <p:cNvSpPr/>
          <p:nvPr/>
        </p:nvSpPr>
        <p:spPr>
          <a:xfrm>
            <a:off x="4800600" y="3849624"/>
            <a:ext cx="502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080C18"/>
                </a:solidFill>
                <a:latin typeface="Consolas"/>
                <a:ea typeface="Consolas"/>
                <a:cs typeface="Consolas"/>
                <a:sym typeface="Consolas"/>
              </a:rPr>
              <a:t>~20s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5394960" y="3867912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AI diagnosis in chat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"/>
          <p:cNvSpPr/>
          <p:nvPr/>
        </p:nvSpPr>
        <p:spPr>
          <a:xfrm>
            <a:off x="569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Event-Watcher Pipeline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 small Python service listens to the K8s API directly — no polling, no delay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304800" y="2011680"/>
            <a:ext cx="1463040" cy="1188720"/>
          </a:xfrm>
          <a:prstGeom prst="roundRect">
            <a:avLst>
              <a:gd fmla="val 615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304800" y="21031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☸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350520" y="248716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K8s API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Watch Stream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350520" y="29443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events stream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1813560" y="2587752"/>
            <a:ext cx="231648" cy="36576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1917192" y="2496312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2072640" y="2011680"/>
            <a:ext cx="1463040" cy="1188720"/>
          </a:xfrm>
          <a:prstGeom prst="roundRect">
            <a:avLst>
              <a:gd fmla="val 615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2072640" y="21031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⚡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2118360" y="248716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event-watcher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Python service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2118360" y="29443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clawops 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3581400" y="2587752"/>
            <a:ext cx="231648" cy="36576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5"/>
          <p:cNvSpPr/>
          <p:nvPr/>
        </p:nvSpPr>
        <p:spPr>
          <a:xfrm>
            <a:off x="3685032" y="2496312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3840480" y="2011680"/>
            <a:ext cx="1463040" cy="1188720"/>
          </a:xfrm>
          <a:prstGeom prst="roundRect">
            <a:avLst>
              <a:gd fmla="val 615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3840480" y="21031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📦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3886200" y="248716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Batch Buffer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10s window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3886200" y="29443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per deploy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5349240" y="2587752"/>
            <a:ext cx="231648" cy="36576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5452872" y="2496312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5608320" y="2011680"/>
            <a:ext cx="1463040" cy="1188720"/>
          </a:xfrm>
          <a:prstGeom prst="roundRect">
            <a:avLst>
              <a:gd fmla="val 615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5"/>
          <p:cNvSpPr/>
          <p:nvPr/>
        </p:nvSpPr>
        <p:spPr>
          <a:xfrm>
            <a:off x="5608320" y="21031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🤖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5654040" y="248716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n8n S6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AI Agent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5654040" y="29443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Gemini + MCP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7117080" y="2587752"/>
            <a:ext cx="231648" cy="36576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7220712" y="2496312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7376160" y="2011680"/>
            <a:ext cx="1463040" cy="1188720"/>
          </a:xfrm>
          <a:prstGeom prst="roundRect">
            <a:avLst>
              <a:gd fmla="val 615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7376160" y="21031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💬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7421880" y="248716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Chat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7421880" y="29443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incident key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457200" y="3474720"/>
            <a:ext cx="8229600" cy="594360"/>
          </a:xfrm>
          <a:prstGeom prst="roundRect">
            <a:avLst>
              <a:gd fmla="val 12308" name="adj"/>
            </a:avLst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5"/>
          <p:cNvSpPr/>
          <p:nvPr/>
        </p:nvSpPr>
        <p:spPr>
          <a:xfrm>
            <a:off x="594360" y="3547872"/>
            <a:ext cx="7955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Config: 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WATCH_NAMESPACES=workshop  BATCH_WINDOW=10s  COOLDOWN=60s  </a:t>
            </a:r>
            <a: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N8N_WEBHOOK_URL=http://n8n.clawops.svc.cluster.local:5678/webhook/k8s-event-s6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THE CODE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Listening to the K8s API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event-watcher/server.py — the core watch loop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365760" y="1554480"/>
            <a:ext cx="8412480" cy="2743200"/>
          </a:xfrm>
          <a:prstGeom prst="rect">
            <a:avLst/>
          </a:prstGeom>
          <a:solidFill>
            <a:srgbClr val="060A12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457200" y="1645920"/>
            <a:ext cx="8229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from </a:t>
            </a:r>
            <a:r>
              <a:rPr b="0" i="0" lang="en-US" sz="11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kubernetes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import client, watch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def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watch_namespace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(ns, loop):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-US" sz="1100" u="none" cap="none" strike="noStrike">
                <a:solidFill>
                  <a:srgbClr val="EF9F27"/>
                </a:solidFill>
                <a:latin typeface="Consolas"/>
                <a:ea typeface="Consolas"/>
                <a:cs typeface="Consolas"/>
                <a:sym typeface="Consolas"/>
              </a:rPr>
              <a:t>while True</a:t>
            </a:r>
            <a: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:                              # auto-reconnect forever</a:t>
            </a:r>
            <a:b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v1 = client.CoreV1Api()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w  = watch.Watch()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        for </a:t>
            </a:r>
            <a:r>
              <a:rPr b="0" i="0" lang="en-US" sz="11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raw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in w.stream(v1.list_namespaced_event, namespace=ns,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  timeout_seconds=0):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    obj    = raw["object"]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    reason = obj.reason or ""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            if reason not in WATCH_REASONS: continue    </a:t>
            </a:r>
            <a:r>
              <a:rPr b="0" i="0" lang="en-US" sz="1100" u="none" cap="none" strike="noStrike">
                <a:solidFill>
                  <a:srgbClr val="1E3A5F"/>
                </a:solidFill>
                <a:latin typeface="Consolas"/>
                <a:ea typeface="Consolas"/>
                <a:cs typeface="Consolas"/>
                <a:sym typeface="Consolas"/>
              </a:rPr>
              <a:t># filter by config</a:t>
            </a:r>
            <a:br>
              <a:rPr b="0" i="0" lang="en-US" sz="1100" u="none" cap="none" strike="noStrike">
                <a:solidFill>
                  <a:srgbClr val="1E3A5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    ev = build_event(obj)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            store_event(ev)                           </a:t>
            </a:r>
            <a:r>
              <a:rPr b="0" i="0" lang="en-US" sz="1100" u="none" cap="none" strike="noStrike">
                <a:solidFill>
                  <a:srgbClr val="1E3A5F"/>
                </a:solidFill>
                <a:latin typeface="Consolas"/>
                <a:ea typeface="Consolas"/>
                <a:cs typeface="Consolas"/>
                <a:sym typeface="Consolas"/>
              </a:rPr>
              <a:t># persist to SQLite</a:t>
            </a:r>
            <a:br>
              <a:rPr b="0" i="0" lang="en-US" sz="1100" u="none" cap="none" strike="noStrike">
                <a:solidFill>
                  <a:srgbClr val="1E3A5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            asyncio.run_coroutine_threadsafe(broadcast(ev), loop)   </a:t>
            </a:r>
            <a:r>
              <a:rPr b="0" i="0" lang="en-US" sz="1100" u="none" cap="none" strike="noStrike">
                <a:solidFill>
                  <a:srgbClr val="1E3A5F"/>
                </a:solidFill>
                <a:latin typeface="Consolas"/>
                <a:ea typeface="Consolas"/>
                <a:cs typeface="Consolas"/>
                <a:sym typeface="Consolas"/>
              </a:rPr>
              <a:t># → SSE</a:t>
            </a:r>
            <a:br>
              <a:rPr b="0" i="0" lang="en-US" sz="1100" u="none" cap="none" strike="noStrike">
                <a:solidFill>
                  <a:srgbClr val="1E3A5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            asyncio.run_coroutine_threadsafe(forward_to_n8n(ev), loop) </a:t>
            </a:r>
            <a:r>
              <a:rPr b="0" i="0" lang="en-US" sz="1100" u="none" cap="none" strike="noStrike">
                <a:solidFill>
                  <a:srgbClr val="1E3A5F"/>
                </a:solidFill>
                <a:latin typeface="Consolas"/>
                <a:ea typeface="Consolas"/>
                <a:cs typeface="Consolas"/>
                <a:sym typeface="Consolas"/>
              </a:rPr>
              <a:t># → n8n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365760" y="4434840"/>
            <a:ext cx="8412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🔁  while True — restarts the watch stream automatically if K8s disconnects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365760" y="4663440"/>
            <a:ext cx="8412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⚡  timeout_seconds=0 — never stops watching, events stream instantly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365760" y="4892040"/>
            <a:ext cx="8412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📡  broadcast(ev) — pushed to SSE clients (Monitor tab in real-time)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EF9F27"/>
                </a:solidFill>
                <a:latin typeface="Consolas"/>
                <a:ea typeface="Consolas"/>
                <a:cs typeface="Consolas"/>
                <a:sym typeface="Consolas"/>
              </a:rPr>
              <a:t>DEDUP &amp; BATCHING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 Alert, Not 30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 single pod issue fires dozens of events — we must group them intelligently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365760" y="1828800"/>
            <a:ext cx="3931920" cy="2560320"/>
          </a:xfrm>
          <a:prstGeom prst="roundRect">
            <a:avLst>
              <a:gd fmla="val 2857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"/>
          <p:cNvSpPr/>
          <p:nvPr/>
        </p:nvSpPr>
        <p:spPr>
          <a:xfrm>
            <a:off x="502920" y="193852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24B4A"/>
                </a:solidFill>
                <a:latin typeface="Calibri"/>
                <a:ea typeface="Calibri"/>
                <a:cs typeface="Calibri"/>
                <a:sym typeface="Calibri"/>
              </a:rPr>
              <a:t>❌  Without batching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548640" y="2304288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E24B4A"/>
                </a:solidFill>
                <a:latin typeface="Consolas"/>
                <a:ea typeface="Consolas"/>
                <a:cs typeface="Consolas"/>
                <a:sym typeface="Consolas"/>
              </a:rPr>
              <a:t>BackOff on target-app-abc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548640" y="260604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E24B4A"/>
                </a:solidFill>
                <a:latin typeface="Consolas"/>
                <a:ea typeface="Consolas"/>
                <a:cs typeface="Consolas"/>
                <a:sym typeface="Consolas"/>
              </a:rPr>
              <a:t>BackOff on target-app-def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548640" y="290779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E24B4A"/>
                </a:solidFill>
                <a:latin typeface="Consolas"/>
                <a:ea typeface="Consolas"/>
                <a:cs typeface="Consolas"/>
                <a:sym typeface="Consolas"/>
              </a:rPr>
              <a:t>Failed on target-app-abc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548640" y="3209544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E24B4A"/>
                </a:solidFill>
                <a:latin typeface="Consolas"/>
                <a:ea typeface="Consolas"/>
                <a:cs typeface="Consolas"/>
                <a:sym typeface="Consolas"/>
              </a:rPr>
              <a:t>BackOff on target-app-ghi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548640" y="3511296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E24B4A"/>
                </a:solidFill>
                <a:latin typeface="Consolas"/>
                <a:ea typeface="Consolas"/>
                <a:cs typeface="Consolas"/>
                <a:sym typeface="Consolas"/>
              </a:rPr>
              <a:t>Killing on target-app-abc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548640" y="3813048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... 25 more alerts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4389120" y="292608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4846320" y="1828800"/>
            <a:ext cx="3931920" cy="2560320"/>
          </a:xfrm>
          <a:prstGeom prst="roundRect">
            <a:avLst>
              <a:gd fmla="val 2857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4983480" y="193852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✅  With batching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4983480" y="2304288"/>
            <a:ext cx="3611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1. Events arrive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4983480" y="2688336"/>
            <a:ext cx="3611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2. Group by deploy key:  workshop:target-app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4983480" y="3072384"/>
            <a:ext cx="3611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3. 10s batch window → collect ALL events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4983480" y="3456432"/>
            <a:ext cx="3611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4. 1 payload → n8n  {count:8, reasons:[...]}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4983480" y="3840480"/>
            <a:ext cx="3611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5. 60s cooldown → silence repeated alerts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8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S6 WORKFLOW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n8n Workflow: Stage by Stage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Every node has a purpose — no blind actions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193330" y="1325880"/>
            <a:ext cx="1298448" cy="1371600"/>
          </a:xfrm>
          <a:prstGeom prst="roundRect">
            <a:avLst>
              <a:gd fmla="val 563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"/>
          <p:cNvSpPr/>
          <p:nvPr/>
        </p:nvSpPr>
        <p:spPr>
          <a:xfrm>
            <a:off x="239050" y="1463040"/>
            <a:ext cx="12070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Webhook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239050" y="1984248"/>
            <a:ext cx="120700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POST /webhook/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k8s-event-s6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1491778" y="1874520"/>
            <a:ext cx="2390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1685109" y="1325880"/>
            <a:ext cx="1298448" cy="1371600"/>
          </a:xfrm>
          <a:prstGeom prst="roundRect">
            <a:avLst>
              <a:gd fmla="val 563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8"/>
          <p:cNvSpPr/>
          <p:nvPr/>
        </p:nvSpPr>
        <p:spPr>
          <a:xfrm>
            <a:off x="1730829" y="1463040"/>
            <a:ext cx="12070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Filter +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Dedup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1730829" y="1984248"/>
            <a:ext cx="120700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Skip info events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Drop duplicates (5min)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2983557" y="1874520"/>
            <a:ext cx="2390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3176887" y="1325880"/>
            <a:ext cx="1298448" cy="1371600"/>
          </a:xfrm>
          <a:prstGeom prst="roundRect">
            <a:avLst>
              <a:gd fmla="val 563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/>
          <p:nvPr/>
        </p:nvSpPr>
        <p:spPr>
          <a:xfrm>
            <a:off x="3222607" y="1463040"/>
            <a:ext cx="12070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Check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Incidents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3222607" y="1984248"/>
            <a:ext cx="120700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GET /incidents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from MCP store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4475335" y="1874520"/>
            <a:ext cx="2390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4668665" y="1325880"/>
            <a:ext cx="1298448" cy="1371600"/>
          </a:xfrm>
          <a:prstGeom prst="roundRect">
            <a:avLst>
              <a:gd fmla="val 563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8"/>
          <p:cNvSpPr/>
          <p:nvPr/>
        </p:nvSpPr>
        <p:spPr>
          <a:xfrm>
            <a:off x="4714385" y="1463040"/>
            <a:ext cx="12070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Already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Open?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4714385" y="1984248"/>
            <a:ext cx="120700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Match by deploy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across S5 + S6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5967113" y="1874520"/>
            <a:ext cx="2390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6160443" y="1325880"/>
            <a:ext cx="1298448" cy="1371600"/>
          </a:xfrm>
          <a:prstGeom prst="roundRect">
            <a:avLst>
              <a:gd fmla="val 563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"/>
          <p:cNvSpPr/>
          <p:nvPr/>
        </p:nvSpPr>
        <p:spPr>
          <a:xfrm>
            <a:off x="6206163" y="1463040"/>
            <a:ext cx="12070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K8s Event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6206163" y="1984248"/>
            <a:ext cx="120700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Gemini + kubectl_read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+ promql tools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7458891" y="1874520"/>
            <a:ext cx="2390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7652222" y="1325880"/>
            <a:ext cx="1298448" cy="1371600"/>
          </a:xfrm>
          <a:prstGeom prst="roundRect">
            <a:avLst>
              <a:gd fmla="val 5634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8"/>
          <p:cNvSpPr/>
          <p:nvPr/>
        </p:nvSpPr>
        <p:spPr>
          <a:xfrm>
            <a:off x="7697942" y="1463040"/>
            <a:ext cx="12070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Store &amp;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Notify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7697942" y="1984248"/>
            <a:ext cx="120700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Action? → store key + /approve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Else → info-only chat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365760" y="3337560"/>
            <a:ext cx="8412480" cy="1143000"/>
          </a:xfrm>
          <a:prstGeom prst="roundRect">
            <a:avLst>
              <a:gd fmla="val 6400" name="adj"/>
            </a:avLst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8"/>
          <p:cNvSpPr/>
          <p:nvPr/>
        </p:nvSpPr>
        <p:spPr>
          <a:xfrm>
            <a:off x="548640" y="342900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Already Open?  branch logic: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548640" y="3685032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YES → 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"Still ongoing #key (3 events)" → post to chat → STOP. No AI re-run, no new incident.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NO  →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Full AI investigation → SRE recommendation → store new incident key → post with /approve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9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AI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K8s Event Agent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Gemini investigates before answering — not a simple alert forwarder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365760" y="1828800"/>
            <a:ext cx="3200400" cy="2743200"/>
          </a:xfrm>
          <a:prstGeom prst="roundRect">
            <a:avLst>
              <a:gd fmla="val 2667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9"/>
          <p:cNvSpPr/>
          <p:nvPr/>
        </p:nvSpPr>
        <p:spPr>
          <a:xfrm>
            <a:off x="502920" y="193852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🔧  Tools available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9"/>
          <p:cNvSpPr/>
          <p:nvPr/>
        </p:nvSpPr>
        <p:spPr>
          <a:xfrm>
            <a:off x="502920" y="2331720"/>
            <a:ext cx="2926080" cy="530352"/>
          </a:xfrm>
          <a:prstGeom prst="roundRect">
            <a:avLst>
              <a:gd fmla="val 13793" name="adj"/>
            </a:avLst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9"/>
          <p:cNvSpPr/>
          <p:nvPr/>
        </p:nvSpPr>
        <p:spPr>
          <a:xfrm>
            <a:off x="594360" y="236829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kubectl_read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594360" y="2606040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get pods, logs, events, describe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502920" y="2971800"/>
            <a:ext cx="2926080" cy="530352"/>
          </a:xfrm>
          <a:prstGeom prst="roundRect">
            <a:avLst>
              <a:gd fmla="val 13793" name="adj"/>
            </a:avLst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594360" y="300837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promql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594360" y="3246120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memory, CPU, error rate metrics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502920" y="3611880"/>
            <a:ext cx="2926080" cy="530352"/>
          </a:xfrm>
          <a:prstGeom prst="roundRect">
            <a:avLst>
              <a:gd fmla="val 13793" name="adj"/>
            </a:avLst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9"/>
          <p:cNvSpPr/>
          <p:nvPr/>
        </p:nvSpPr>
        <p:spPr>
          <a:xfrm>
            <a:off x="594360" y="364845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SRE_ACTION:  → handoff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594360" y="3886200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agent recommends, S4 executes on /approve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3840480" y="1828800"/>
            <a:ext cx="4937760" cy="2743200"/>
          </a:xfrm>
          <a:prstGeom prst="roundRect">
            <a:avLst>
              <a:gd fmla="val 2667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"/>
          <p:cNvSpPr/>
          <p:nvPr/>
        </p:nvSpPr>
        <p:spPr>
          <a:xfrm>
            <a:off x="3977640" y="193852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🔍  Investigation protocol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3977640" y="2340864"/>
            <a:ext cx="228600" cy="228600"/>
          </a:xfrm>
          <a:prstGeom prst="ellipse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3977640" y="2340864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80C1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4279392" y="2340864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kubectl get pods -n workshop → check status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3977640" y="2743200"/>
            <a:ext cx="228600" cy="228600"/>
          </a:xfrm>
          <a:prstGeom prst="ellipse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3977640" y="27432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80C1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279392" y="2743200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kubectl logs deployment/&lt;app&gt; → find errors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3977640" y="3145536"/>
            <a:ext cx="228600" cy="228600"/>
          </a:xfrm>
          <a:prstGeom prst="ellipse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"/>
          <p:cNvSpPr/>
          <p:nvPr/>
        </p:nvSpPr>
        <p:spPr>
          <a:xfrm>
            <a:off x="3977640" y="3145536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80C1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4279392" y="3145536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kubectl logs -c chaos-loader → is this a chaos test?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3977640" y="3547872"/>
            <a:ext cx="228600" cy="228600"/>
          </a:xfrm>
          <a:prstGeom prst="ellipse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3977640" y="3547872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80C1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4279392" y="3547872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kubectl get events → recent history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3977640" y="3950208"/>
            <a:ext cx="228600" cy="228600"/>
          </a:xfrm>
          <a:prstGeom prst="ellipse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9"/>
          <p:cNvSpPr/>
          <p:nvPr/>
        </p:nvSpPr>
        <p:spPr>
          <a:xfrm>
            <a:off x="3977640" y="3950208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80C1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4279392" y="3950208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promql → memory/CPU if resource issue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4B4A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E24B4A"/>
                </a:solidFill>
                <a:latin typeface="Consolas"/>
                <a:ea typeface="Consolas"/>
                <a:cs typeface="Consolas"/>
                <a:sym typeface="Consolas"/>
              </a:rPr>
              <a:t>CHAOS ENGINEERING DEMO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Simulating a Real Incident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The chaos-loader sidecar — sustained failure, not a one-shot crash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365760" y="1828800"/>
            <a:ext cx="8412480" cy="1371600"/>
          </a:xfrm>
          <a:prstGeom prst="roundRect">
            <a:avLst>
              <a:gd fmla="val 5333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548640" y="1920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target-app Pod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548640" y="2240280"/>
            <a:ext cx="3474720" cy="777240"/>
          </a:xfrm>
          <a:prstGeom prst="roundRect">
            <a:avLst>
              <a:gd fmla="val 9412" name="adj"/>
            </a:avLst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"/>
          <p:cNvSpPr/>
          <p:nvPr/>
        </p:nvSpPr>
        <p:spPr>
          <a:xfrm>
            <a:off x="640080" y="2304288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target-app container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port 8080 — FastAPI app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4572000" y="2240280"/>
            <a:ext cx="3840480" cy="777240"/>
          </a:xfrm>
          <a:prstGeom prst="roundRect">
            <a:avLst>
              <a:gd fmla="val 9412" name="adj"/>
            </a:avLst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0"/>
          <p:cNvSpPr/>
          <p:nvPr/>
        </p:nvSpPr>
        <p:spPr>
          <a:xfrm>
            <a:off x="4663440" y="2304288"/>
            <a:ext cx="3657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chaos-loader sidecar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port 8003 — ALWAYS ALIVE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4114800" y="24231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EF9F27"/>
                </a:solidFill>
                <a:latin typeface="Consolas"/>
                <a:ea typeface="Consolas"/>
                <a:cs typeface="Consolas"/>
                <a:sym typeface="Consolas"/>
              </a:rPr>
              <a:t>←  POST /chaos/error-loop every 15s  →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365760" y="3383280"/>
            <a:ext cx="8412480" cy="1554480"/>
          </a:xfrm>
          <a:prstGeom prst="roundRect">
            <a:avLst>
              <a:gd fmla="val 4706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548640" y="349300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What happens when you click  ⬡ K8s Event Demo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548640" y="3813048"/>
            <a:ext cx="82296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chaos-loader starts POSTing to /chaos/error-loop every 15s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/tmp/.unhealthy file created → ALL health checks return 500 (shared across workers)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K8s liveness probe fails ×3 (45s) → container killed → sidecar SURVIVES → cycle repeats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STOP: </a:t>
            </a: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STOP ALL button → calls chaos-loader /stop FIRST → removes flag → pod stabilises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1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onsolas"/>
                <a:ea typeface="Consolas"/>
                <a:cs typeface="Consolas"/>
                <a:sym typeface="Consolas"/>
              </a:rPr>
              <a:t>NEW DASHBOARD TAB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⬡ Monitor — Real-Time Cluster View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See events flowing in &lt;1 second as your chaos test runs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365760" y="1920240"/>
            <a:ext cx="4114800" cy="1325880"/>
          </a:xfrm>
          <a:prstGeom prst="roundRect">
            <a:avLst>
              <a:gd fmla="val 5517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1"/>
          <p:cNvSpPr/>
          <p:nvPr/>
        </p:nvSpPr>
        <p:spPr>
          <a:xfrm>
            <a:off x="502920" y="2029968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🗺️  Pod Topology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502920" y="2377440"/>
            <a:ext cx="3840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Grouped by deployment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Click to inspect containers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Color: running / pending / failed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4754880" y="1920240"/>
            <a:ext cx="4114800" cy="1325880"/>
          </a:xfrm>
          <a:prstGeom prst="roundRect">
            <a:avLst>
              <a:gd fmla="val 5517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1"/>
          <p:cNvSpPr/>
          <p:nvPr/>
        </p:nvSpPr>
        <p:spPr>
          <a:xfrm>
            <a:off x="4892040" y="2029968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⚡  Live K8s Events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4892040" y="2377440"/>
            <a:ext cx="3840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SSE stream from event-watcher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Historical events pre-loaded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Filters by deployment chip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365760" y="3383280"/>
            <a:ext cx="4114800" cy="1325880"/>
          </a:xfrm>
          <a:prstGeom prst="roundRect">
            <a:avLst>
              <a:gd fmla="val 5517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502920" y="3493008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F9F27"/>
                </a:solidFill>
                <a:latin typeface="Calibri"/>
                <a:ea typeface="Calibri"/>
                <a:cs typeface="Calibri"/>
                <a:sym typeface="Calibri"/>
              </a:rPr>
              <a:t>📊  Lifecycle Timeline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502920" y="3840480"/>
            <a:ext cx="3840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Scheduled → Pulled → Started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Synthesised from pod metadata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Shows OOMKill / Killing in 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4754880" y="3383280"/>
            <a:ext cx="4114800" cy="1325880"/>
          </a:xfrm>
          <a:prstGeom prst="roundRect">
            <a:avLst>
              <a:gd fmla="val 5517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1"/>
          <p:cNvSpPr/>
          <p:nvPr/>
        </p:nvSpPr>
        <p:spPr>
          <a:xfrm>
            <a:off x="4892040" y="3493008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📈  Stats Bar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4892040" y="3840480"/>
            <a:ext cx="3840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Running pods / total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Events caught / errors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&lt;1s detect time vs Prometheus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2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LIVE DEMO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2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Walkthrough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What you should see — step by step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365760" y="1874520"/>
            <a:ext cx="320040" cy="320040"/>
          </a:xfrm>
          <a:prstGeom prst="ellipse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2"/>
          <p:cNvSpPr/>
          <p:nvPr/>
        </p:nvSpPr>
        <p:spPr>
          <a:xfrm>
            <a:off x="365760" y="18745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0C1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822960" y="1865376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Click  ⬡ K8s Event Demo  on the Dashboard tab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822960" y="2139696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Shows in LAST API RESPONSE: {"status":"started","mode":"error"}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365760" y="2532888"/>
            <a:ext cx="320040" cy="320040"/>
          </a:xfrm>
          <a:prstGeom prst="ellipse">
            <a:avLst/>
          </a:prstGeom>
          <a:solidFill>
            <a:srgbClr val="00D4FF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2"/>
          <p:cNvSpPr/>
          <p:nvPr/>
        </p:nvSpPr>
        <p:spPr>
          <a:xfrm>
            <a:off x="365760" y="2532888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0C1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2"/>
          <p:cNvSpPr/>
          <p:nvPr/>
        </p:nvSpPr>
        <p:spPr>
          <a:xfrm>
            <a:off x="822960" y="2523744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Switch to  ⬡ MONITOR  tab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822960" y="2798064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Watch the Live K8s Events panel — Unhealthy and Killing events appear in &lt;1s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2"/>
          <p:cNvSpPr/>
          <p:nvPr/>
        </p:nvSpPr>
        <p:spPr>
          <a:xfrm>
            <a:off x="365760" y="3191256"/>
            <a:ext cx="320040" cy="320040"/>
          </a:xfrm>
          <a:prstGeom prst="ellipse">
            <a:avLst/>
          </a:prstGeom>
          <a:solidFill>
            <a:srgbClr val="00C896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2"/>
          <p:cNvSpPr/>
          <p:nvPr/>
        </p:nvSpPr>
        <p:spPr>
          <a:xfrm>
            <a:off x="365760" y="319125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0C1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2"/>
          <p:cNvSpPr/>
          <p:nvPr/>
        </p:nvSpPr>
        <p:spPr>
          <a:xfrm>
            <a:off x="822960" y="3182112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Switch to  💬 CHAT  tab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2"/>
          <p:cNvSpPr/>
          <p:nvPr/>
        </p:nvSpPr>
        <p:spPr>
          <a:xfrm>
            <a:off x="822960" y="345643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After ~20s: AI message appears with pod logs analysis and SRE recommendation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2"/>
          <p:cNvSpPr/>
          <p:nvPr/>
        </p:nvSpPr>
        <p:spPr>
          <a:xfrm>
            <a:off x="365760" y="3849624"/>
            <a:ext cx="320040" cy="320040"/>
          </a:xfrm>
          <a:prstGeom prst="ellipse">
            <a:avLst/>
          </a:prstGeom>
          <a:solidFill>
            <a:srgbClr val="EF9F27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2"/>
          <p:cNvSpPr/>
          <p:nvPr/>
        </p:nvSpPr>
        <p:spPr>
          <a:xfrm>
            <a:off x="365760" y="384962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0C1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2"/>
          <p:cNvSpPr/>
          <p:nvPr/>
        </p:nvSpPr>
        <p:spPr>
          <a:xfrm>
            <a:off x="822960" y="384048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Read the AI diagnosis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2"/>
          <p:cNvSpPr/>
          <p:nvPr/>
        </p:nvSpPr>
        <p:spPr>
          <a:xfrm>
            <a:off x="822960" y="4114800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It identifies: chaos test vs real outage — cites chaos-loader sidecar logs as evidence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2"/>
          <p:cNvSpPr/>
          <p:nvPr/>
        </p:nvSpPr>
        <p:spPr>
          <a:xfrm>
            <a:off x="365760" y="4507992"/>
            <a:ext cx="320040" cy="320040"/>
          </a:xfrm>
          <a:prstGeom prst="ellipse">
            <a:avLst/>
          </a:prstGeom>
          <a:solidFill>
            <a:srgbClr val="00D4FF"/>
          </a:solidFill>
          <a:ln cap="flat" cmpd="sng" w="12700">
            <a:solidFill>
              <a:srgbClr val="080C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2"/>
          <p:cNvSpPr/>
          <p:nvPr/>
        </p:nvSpPr>
        <p:spPr>
          <a:xfrm>
            <a:off x="365760" y="4507992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0C1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0C1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2"/>
          <p:cNvSpPr/>
          <p:nvPr/>
        </p:nvSpPr>
        <p:spPr>
          <a:xfrm>
            <a:off x="822960" y="449884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Approve or Stop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2"/>
          <p:cNvSpPr/>
          <p:nvPr/>
        </p:nvSpPr>
        <p:spPr>
          <a:xfrm>
            <a:off x="822960" y="4773168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Type /approve &lt;totp&gt; &lt;key&gt;  OR  click STOP ALL to end the chaos scenario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3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Consolas"/>
                <a:ea typeface="Consolas"/>
                <a:cs typeface="Consolas"/>
                <a:sym typeface="Consolas"/>
              </a:rPr>
              <a:t>KEY PRINCIPLES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S6 Teaches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Engineering concepts behind every decision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365760" y="1874520"/>
            <a:ext cx="2621280" cy="1234440"/>
          </a:xfrm>
          <a:prstGeom prst="roundRect">
            <a:avLst>
              <a:gd fmla="val 5926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3"/>
          <p:cNvSpPr/>
          <p:nvPr/>
        </p:nvSpPr>
        <p:spPr>
          <a:xfrm>
            <a:off x="475488" y="198424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⚡ React to signals, not schedules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475488" y="2313432"/>
            <a:ext cx="2438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K8s Watch API is push-based — no polling, no cron, no delay. The event stream is the source of truth.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3"/>
          <p:cNvSpPr/>
          <p:nvPr/>
        </p:nvSpPr>
        <p:spPr>
          <a:xfrm>
            <a:off x="3169920" y="1874520"/>
            <a:ext cx="2621280" cy="1234440"/>
          </a:xfrm>
          <a:prstGeom prst="roundRect">
            <a:avLst>
              <a:gd fmla="val 5926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3"/>
          <p:cNvSpPr/>
          <p:nvPr/>
        </p:nvSpPr>
        <p:spPr>
          <a:xfrm>
            <a:off x="3279648" y="198424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🧹 Deduplicate at the right layer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3279648" y="2313432"/>
            <a:ext cx="2438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30 pod events → 1 batch per deployment. Cooldown prevents alert storms. Deploy-keyed, not pod-keyed (pods change, deployments don't).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5974080" y="1874520"/>
            <a:ext cx="2621280" cy="1234440"/>
          </a:xfrm>
          <a:prstGeom prst="roundRect">
            <a:avLst>
              <a:gd fmla="val 5926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3"/>
          <p:cNvSpPr/>
          <p:nvPr/>
        </p:nvSpPr>
        <p:spPr>
          <a:xfrm>
            <a:off x="6083808" y="198424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🔗 Correlate across sources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6083808" y="2313432"/>
            <a:ext cx="2438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S5 (Prometheus) and S6 (K8s events) share the same incident store. Same deployment → same incident key, not two separate pages.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365760" y="3291840"/>
            <a:ext cx="2621280" cy="1234440"/>
          </a:xfrm>
          <a:prstGeom prst="roundRect">
            <a:avLst>
              <a:gd fmla="val 5926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3"/>
          <p:cNvSpPr/>
          <p:nvPr/>
        </p:nvSpPr>
        <p:spPr>
          <a:xfrm>
            <a:off x="475488" y="34015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🔍 Investigate before acting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475488" y="3730752"/>
            <a:ext cx="2438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AI always pulls pod logs + sidecar logs first. Distinguishes chaos tests from real outages before recommending action.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"/>
          <p:cNvSpPr/>
          <p:nvPr/>
        </p:nvSpPr>
        <p:spPr>
          <a:xfrm>
            <a:off x="3169920" y="3291840"/>
            <a:ext cx="2621280" cy="1234440"/>
          </a:xfrm>
          <a:prstGeom prst="roundRect">
            <a:avLst>
              <a:gd fmla="val 5926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3"/>
          <p:cNvSpPr/>
          <p:nvPr/>
        </p:nvSpPr>
        <p:spPr>
          <a:xfrm>
            <a:off x="3279648" y="34015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🔐 Human always in the loop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3"/>
          <p:cNvSpPr/>
          <p:nvPr/>
        </p:nvSpPr>
        <p:spPr>
          <a:xfrm>
            <a:off x="3279648" y="3730752"/>
            <a:ext cx="2438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SRE_ACTION generates an incident key. Nothing executes until someone types /approve &lt;totp&gt; &lt;key&gt;. Automation with accountability.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5974080" y="3291840"/>
            <a:ext cx="2621280" cy="1234440"/>
          </a:xfrm>
          <a:prstGeom prst="roundRect">
            <a:avLst>
              <a:gd fmla="val 5926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3"/>
          <p:cNvSpPr/>
          <p:nvPr/>
        </p:nvSpPr>
        <p:spPr>
          <a:xfrm>
            <a:off x="6083808" y="34015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🏗️ Resilient by design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6083808" y="3730752"/>
            <a:ext cx="2438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Sidecar survives pod restarts. Watch thread auto-reconnects. Stop always works even when the app is crashing.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4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4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8892A4"/>
                </a:solidFill>
                <a:latin typeface="Consolas"/>
                <a:ea typeface="Consolas"/>
                <a:cs typeface="Consolas"/>
                <a:sym typeface="Consolas"/>
              </a:rPr>
              <a:t>WHAT'S NEXT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4"/>
          <p:cNvSpPr/>
          <p:nvPr/>
        </p:nvSpPr>
        <p:spPr>
          <a:xfrm>
            <a:off x="457200" y="658368"/>
            <a:ext cx="5486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Session </a:t>
            </a:r>
            <a:r>
              <a:rPr b="1" lang="en-US" sz="3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— S8 JWT Security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457200" y="1810512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2A4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8892A4"/>
                </a:solidFill>
                <a:latin typeface="Calibri"/>
                <a:ea typeface="Calibri"/>
                <a:cs typeface="Calibri"/>
                <a:sym typeface="Calibri"/>
              </a:rPr>
              <a:t>Securing n8n webhooks · JWT tokens · Event-watcher signs every request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365760" y="2331720"/>
            <a:ext cx="8412480" cy="2560320"/>
          </a:xfrm>
          <a:prstGeom prst="roundRect">
            <a:avLst>
              <a:gd fmla="val 2857" name="adj"/>
            </a:avLst>
          </a:prstGeom>
          <a:solidFill>
            <a:srgbClr val="0D1F3C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4"/>
          <p:cNvSpPr/>
          <p:nvPr/>
        </p:nvSpPr>
        <p:spPr>
          <a:xfrm>
            <a:off x="548640" y="2423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Session 6 Recap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48640" y="2761488"/>
            <a:ext cx="8229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⚡  K8s Watch API — real-time, &lt;1s detection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📦  Batch + cooldown — 30 events → 1 alert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🔗  Cross-source incident correlation (S5 + S6)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🤖  AI that reads logs before it speaks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🔐  Approval gate — automation with accountability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⬡  Monitor tab — live topology + event stream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2" name="Google Shape;132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9F27"/>
              </a:buClr>
              <a:buSzPts val="1000"/>
              <a:buFont typeface="Consolas"/>
              <a:buNone/>
            </a:pPr>
            <a:r>
              <a:rPr b="1" i="0" lang="en-US" sz="1000" u="none" cap="none" strike="noStrike">
                <a:solidFill>
                  <a:srgbClr val="EF9F27"/>
                </a:solidFill>
                <a:latin typeface="Consolas"/>
                <a:ea typeface="Consolas"/>
                <a:cs typeface="Consolas"/>
                <a:sym typeface="Consolas"/>
              </a:rPr>
              <a:t>K8S EVENT INTELLIGENCE — CODE ANATOMY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Two Code Nodes That Make S6 Smart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8C9AB0"/>
                </a:solidFill>
                <a:latin typeface="Consolas"/>
              </a:rPr>
              <a:t>Filter + Dedup gates the flow · Already Open? correlates with open incidents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65760" y="1828800"/>
            <a:ext cx="4160520" cy="260604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1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30352" y="1938528"/>
            <a:ext cx="3831335" cy="2386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onsolas"/>
              </a:rPr>
              <a:t>① Filter + Dedup  (gates the flow)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8C9AB0"/>
                </a:solidFill>
                <a:latin typeface="Consolas"/>
              </a:rPr>
              <a:t>// only serious severities pass</a:t>
            </a:r>
          </a:p>
          <a:p>
            <a:pPr>
              <a:spcAft>
                <a:spcPts val="100"/>
              </a:spcAft>
            </a:pPr>
            <a:r>
              <a:rPr sz="850" b="1">
                <a:solidFill>
                  <a:srgbClr val="00D4FF"/>
                </a:solidFill>
                <a:latin typeface="Consolas"/>
              </a:rPr>
              <a:t>if (!['error','warn']</a:t>
            </a:r>
          </a:p>
          <a:p>
            <a:pPr>
              <a:spcAft>
                <a:spcPts val="100"/>
              </a:spcAft>
            </a:pPr>
            <a:r>
              <a:rPr sz="850" b="1">
                <a:solidFill>
                  <a:srgbClr val="00D4FF"/>
                </a:solidFill>
                <a:latin typeface="Consolas"/>
              </a:rPr>
              <a:t>    .includes(ev.severity)) return [];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8C9AB0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8C9AB0"/>
                </a:solidFill>
                <a:latin typeface="Consolas"/>
              </a:rPr>
              <a:t>// dedup by DEPLOY, not pod name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CBD6E6"/>
                </a:solidFill>
                <a:latin typeface="Consolas"/>
              </a:rPr>
              <a:t>key = `${reason}:${deploy}:${ns}`;</a:t>
            </a:r>
          </a:p>
          <a:p>
            <a:pPr>
              <a:spcAft>
                <a:spcPts val="100"/>
              </a:spcAft>
            </a:pPr>
            <a:r>
              <a:rPr sz="850" b="1">
                <a:solidFill>
                  <a:srgbClr val="00D4FF"/>
                </a:solidFill>
                <a:latin typeface="Consolas"/>
              </a:rPr>
              <a:t>if (dedup[key] &amp;&amp; now-dedup[key]</a:t>
            </a:r>
          </a:p>
          <a:p>
            <a:pPr>
              <a:spcAft>
                <a:spcPts val="100"/>
              </a:spcAft>
            </a:pPr>
            <a:r>
              <a:rPr sz="850" b="1">
                <a:solidFill>
                  <a:srgbClr val="00D4FF"/>
                </a:solidFill>
                <a:latin typeface="Consolas"/>
              </a:rPr>
              <a:t>      &lt; 300000) return [];   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8C9AB0"/>
                </a:solidFill>
                <a:latin typeface="Consolas"/>
              </a:rPr>
              <a:t>// 5min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CBD6E6"/>
                </a:solidFill>
                <a:latin typeface="Consolas"/>
              </a:rPr>
              <a:t>dedup[key] = now;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8C9AB0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FFC44D"/>
                </a:solidFill>
                <a:latin typeface="Consolas"/>
              </a:rPr>
              <a:t>⚡ pod names change on restart —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FFC44D"/>
                </a:solidFill>
                <a:latin typeface="Consolas"/>
              </a:rPr>
              <a:t>   so we key on the deployment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617720" y="1828800"/>
            <a:ext cx="4160520" cy="2606040"/>
          </a:xfrm>
          <a:prstGeom prst="roundRect">
            <a:avLst/>
          </a:prstGeom>
          <a:solidFill>
            <a:srgbClr val="101B2E"/>
          </a:solidFill>
          <a:ln w="12700">
            <a:solidFill>
              <a:srgbClr val="21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782312" y="1938528"/>
            <a:ext cx="3831335" cy="2386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FC44D"/>
                </a:solidFill>
                <a:latin typeface="Consolas"/>
              </a:rPr>
              <a:t>② Already Open?  (correlate)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8C9AB0"/>
                </a:solidFill>
                <a:latin typeface="Consolas"/>
              </a:rPr>
              <a:t>// GET /incidents?limit=20 from MCP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CBD6E6"/>
                </a:solidFill>
                <a:latin typeface="Consolas"/>
              </a:rPr>
              <a:t>open = list.find(i =&gt;</a:t>
            </a:r>
          </a:p>
          <a:p>
            <a:pPr>
              <a:spcAft>
                <a:spcPts val="100"/>
              </a:spcAft>
            </a:pPr>
            <a:r>
              <a:rPr sz="850" b="1">
                <a:solidFill>
                  <a:srgbClr val="00D4FF"/>
                </a:solidFill>
                <a:latin typeface="Consolas"/>
              </a:rPr>
              <a:t>  i.status === 'pending' &amp;&amp;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CBD6E6"/>
                </a:solidFill>
                <a:latin typeface="Consolas"/>
              </a:rPr>
              <a:t>  fresh(i.created_at, 2h) &amp;&amp;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CBD6E6"/>
                </a:solidFill>
                <a:latin typeface="Consolas"/>
              </a:rPr>
              <a:t>  matchesDeploy(i, ev.deploy));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8C9AB0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 b="1">
                <a:solidFill>
                  <a:srgbClr val="00D4FF"/>
                </a:solidFill>
                <a:latin typeface="Consolas"/>
              </a:rPr>
              <a:t>if (open) → Route on Open? = YES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CBD6E6"/>
                </a:solidFill>
                <a:latin typeface="Consolas"/>
              </a:rPr>
              <a:t>   → Send Ongoing Notice (#key)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CBD6E6"/>
                </a:solidFill>
                <a:latin typeface="Consolas"/>
              </a:rPr>
              <a:t>   → STOP. no AI, no new incident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8C9AB0"/>
                </a:solidFill>
                <a:latin typeface="Consolas"/>
              </a:rPr>
              <a:t>else → K8s Event Agent investigates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8C9AB0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FFC44D"/>
                </a:solidFill>
                <a:latin typeface="Consolas"/>
              </a:rPr>
              <a:t>⚡ matches S5 OR S6 incidents — one</a:t>
            </a:r>
          </a:p>
          <a:p>
            <a:pPr>
              <a:spcAft>
                <a:spcPts val="100"/>
              </a:spcAft>
            </a:pPr>
            <a:r>
              <a:rPr sz="850" b="0">
                <a:solidFill>
                  <a:srgbClr val="FFC44D"/>
                </a:solidFill>
                <a:latin typeface="Consolas"/>
              </a:rPr>
              <a:t>   key per deployment, no duplicates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65760" y="4626864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35E09A"/>
                </a:solidFill>
                <a:latin typeface="Consolas"/>
              </a:rPr>
              <a:t>Code nodes only shape data — they decide WHETHER to invoke the AI. The agent runs kubectl/promql itself.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
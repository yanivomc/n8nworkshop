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3" r:id="rId13"/>
    <p:sldId id="260" r:id="rId9"/>
    <p:sldId id="261" r:id="rId10"/>
    <p:sldId id="262" r:id="rId11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i35hG3pgcSYzbAX+jwR30ByctW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customschemas.google.com/relationships/presentationmetadata" Target="metadata"/><Relationship Id="rId13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444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4 — HUMAN-IN-THE-LOOP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Why Humans Must Stay In The Loop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1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1"/>
          <p:cNvSpPr/>
          <p:nvPr/>
        </p:nvSpPr>
        <p:spPr>
          <a:xfrm>
            <a:off x="274320" y="1298448"/>
            <a:ext cx="4114800" cy="361188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274320" y="1298448"/>
            <a:ext cx="4114800" cy="384048"/>
          </a:xfrm>
          <a:prstGeom prst="rect">
            <a:avLst/>
          </a:prstGeom>
          <a:solidFill>
            <a:srgbClr val="1A0808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274320" y="1298448"/>
            <a:ext cx="41148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4444"/>
                </a:solidFill>
                <a:latin typeface="Trebuchet MS"/>
                <a:ea typeface="Trebuchet MS"/>
                <a:cs typeface="Trebuchet MS"/>
                <a:sym typeface="Trebuchet MS"/>
              </a:rPr>
              <a:t>⚠️  WHAT GOES WRONG WITHOUT 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11480" y="1865376"/>
            <a:ext cx="365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41248" y="1865376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4444"/>
                </a:solidFill>
                <a:latin typeface="Trebuchet MS"/>
                <a:ea typeface="Trebuchet MS"/>
                <a:cs typeface="Trebuchet MS"/>
                <a:sym typeface="Trebuchet MS"/>
              </a:rPr>
              <a:t>Restart Loop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841248" y="210312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Alert fires → auto-restart pod → same crash → alert fires again → infinite loop. 3AM escalation.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11480" y="2615184"/>
            <a:ext cx="365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📉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841248" y="2615184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4444"/>
                </a:solidFill>
                <a:latin typeface="Trebuchet MS"/>
                <a:ea typeface="Trebuchet MS"/>
                <a:cs typeface="Trebuchet MS"/>
                <a:sym typeface="Trebuchet MS"/>
              </a:rPr>
              <a:t>Wrong Fix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841248" y="2852928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AI sees high CPU → restarts pod. Real cause: memory leak. Pod restarts, leak resumes in 60 seconds.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11480" y="3364992"/>
            <a:ext cx="365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🗑️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841248" y="3364992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4444"/>
                </a:solidFill>
                <a:latin typeface="Trebuchet MS"/>
                <a:ea typeface="Trebuchet MS"/>
                <a:cs typeface="Trebuchet MS"/>
                <a:sym typeface="Trebuchet MS"/>
              </a:rPr>
              <a:t>Wrong Target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841248" y="3602736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Regex matches wrong deployment name. Automation restarts the PROD service, not the staging target.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411480" y="4114800"/>
            <a:ext cx="365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💸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841248" y="411480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4444"/>
                </a:solidFill>
                <a:latin typeface="Trebuchet MS"/>
                <a:ea typeface="Trebuchet MS"/>
                <a:cs typeface="Trebuchet MS"/>
                <a:sym typeface="Trebuchet MS"/>
              </a:rPr>
              <a:t>Cost Explosion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841248" y="4352544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Auto-scale trigger fires during a metric anomaly. 200 new pods spin up. $4,000 AWS bill by morning.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4663440" y="1298448"/>
            <a:ext cx="4206240" cy="361188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"/>
          <p:cNvSpPr/>
          <p:nvPr/>
        </p:nvSpPr>
        <p:spPr>
          <a:xfrm>
            <a:off x="4663440" y="1298448"/>
            <a:ext cx="4206240" cy="384048"/>
          </a:xfrm>
          <a:prstGeom prst="rect">
            <a:avLst/>
          </a:prstGeom>
          <a:solidFill>
            <a:srgbClr val="081A10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1"/>
          <p:cNvSpPr/>
          <p:nvPr/>
        </p:nvSpPr>
        <p:spPr>
          <a:xfrm>
            <a:off x="4663440" y="1298448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✅  THE CLAWOPS 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4800600" y="1828800"/>
            <a:ext cx="685800" cy="347472"/>
          </a:xfrm>
          <a:prstGeom prst="rect">
            <a:avLst/>
          </a:prstGeom>
          <a:solidFill>
            <a:srgbClr val="7B2FFF">
              <a:alpha val="21960"/>
            </a:srgbClr>
          </a:solidFill>
          <a:ln cap="flat" cmpd="sng" w="12700">
            <a:solidFill>
              <a:srgbClr val="7B2F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4800600" y="1828800"/>
            <a:ext cx="685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5577840" y="1865376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Investigates — collects facts, forms hypothesis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4800600" y="2331720"/>
            <a:ext cx="685800" cy="347472"/>
          </a:xfrm>
          <a:prstGeom prst="rect">
            <a:avLst/>
          </a:pr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4800600" y="2331720"/>
            <a:ext cx="685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AI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1"/>
          <p:cNvSpPr/>
          <p:nvPr/>
        </p:nvSpPr>
        <p:spPr>
          <a:xfrm>
            <a:off x="5577840" y="2368296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Recommends — specific kubectl command with rationale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4800600" y="2834640"/>
            <a:ext cx="685800" cy="347472"/>
          </a:xfrm>
          <a:prstGeom prst="rect">
            <a:avLst/>
          </a:prstGeom>
          <a:solidFill>
            <a:srgbClr val="FFD700">
              <a:alpha val="21960"/>
            </a:srgbClr>
          </a:solidFill>
          <a:ln cap="flat" cmpd="sng" w="12700">
            <a:solidFill>
              <a:srgbClr val="FFD700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1"/>
          <p:cNvSpPr/>
          <p:nvPr/>
        </p:nvSpPr>
        <p:spPr>
          <a:xfrm>
            <a:off x="4800600" y="2834640"/>
            <a:ext cx="685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D700"/>
                </a:solidFill>
                <a:latin typeface="Trebuchet MS"/>
                <a:ea typeface="Trebuchet MS"/>
                <a:cs typeface="Trebuchet MS"/>
                <a:sym typeface="Trebuchet MS"/>
              </a:rPr>
              <a:t>Human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1"/>
          <p:cNvSpPr/>
          <p:nvPr/>
        </p:nvSpPr>
        <p:spPr>
          <a:xfrm>
            <a:off x="5577840" y="2871216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Reviews — reads the hypothesis trail and confidence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1"/>
          <p:cNvSpPr/>
          <p:nvPr/>
        </p:nvSpPr>
        <p:spPr>
          <a:xfrm>
            <a:off x="4800600" y="3337560"/>
            <a:ext cx="685800" cy="347472"/>
          </a:xfrm>
          <a:prstGeom prst="rect">
            <a:avLst/>
          </a:prstGeom>
          <a:solidFill>
            <a:srgbClr val="FF6B35">
              <a:alpha val="21960"/>
            </a:srgbClr>
          </a:solidFill>
          <a:ln cap="flat" cmpd="sng" w="12700">
            <a:solidFill>
              <a:srgbClr val="FF6B3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"/>
          <p:cNvSpPr/>
          <p:nvPr/>
        </p:nvSpPr>
        <p:spPr>
          <a:xfrm>
            <a:off x="4800600" y="3337560"/>
            <a:ext cx="685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Human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"/>
          <p:cNvSpPr/>
          <p:nvPr/>
        </p:nvSpPr>
        <p:spPr>
          <a:xfrm>
            <a:off x="5577840" y="3374136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Decides — approves or denies with TOTP code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4800600" y="3840480"/>
            <a:ext cx="685800" cy="347472"/>
          </a:xfrm>
          <a:prstGeom prst="rect">
            <a:avLst/>
          </a:prstGeom>
          <a:solidFill>
            <a:srgbClr val="00C896">
              <a:alpha val="21960"/>
            </a:srgbClr>
          </a:solidFill>
          <a:ln cap="flat" cmpd="sng" w="12700">
            <a:solidFill>
              <a:srgbClr val="00C89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"/>
          <p:cNvSpPr/>
          <p:nvPr/>
        </p:nvSpPr>
        <p:spPr>
          <a:xfrm>
            <a:off x="4800600" y="3840480"/>
            <a:ext cx="685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System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"/>
          <p:cNvSpPr/>
          <p:nvPr/>
        </p:nvSpPr>
        <p:spPr>
          <a:xfrm>
            <a:off x="5577840" y="3877056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Executes — MCP runs the approved command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4800600" y="4343400"/>
            <a:ext cx="685800" cy="347472"/>
          </a:xfrm>
          <a:prstGeom prst="rect">
            <a:avLst/>
          </a:prstGeom>
          <a:solidFill>
            <a:srgbClr val="8892A4">
              <a:alpha val="21960"/>
            </a:srgbClr>
          </a:solidFill>
          <a:ln cap="flat" cmpd="sng" w="12700">
            <a:solidFill>
              <a:srgbClr val="8892A4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"/>
          <p:cNvSpPr/>
          <p:nvPr/>
        </p:nvSpPr>
        <p:spPr>
          <a:xfrm>
            <a:off x="4800600" y="4343400"/>
            <a:ext cx="685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8892A4"/>
                </a:solidFill>
                <a:latin typeface="Trebuchet MS"/>
                <a:ea typeface="Trebuchet MS"/>
                <a:cs typeface="Trebuchet MS"/>
                <a:sym typeface="Trebuchet MS"/>
              </a:rPr>
              <a:t>Audit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"/>
          <p:cNvSpPr/>
          <p:nvPr/>
        </p:nvSpPr>
        <p:spPr>
          <a:xfrm>
            <a:off x="5577840" y="4379976"/>
            <a:ext cx="3154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Logs — SQLite records who approved what and when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274320" y="5047488"/>
            <a:ext cx="8595360" cy="274320"/>
          </a:xfrm>
          <a:prstGeom prst="rect">
            <a:avLst/>
          </a:prstGeom>
          <a:solidFill>
            <a:srgbClr val="00D4FF">
              <a:alpha val="12156"/>
            </a:srgbClr>
          </a:solidFill>
          <a:ln cap="flat" cmpd="sng" w="12700">
            <a:solidFill>
              <a:srgbClr val="00D4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"/>
          <p:cNvSpPr/>
          <p:nvPr/>
        </p:nvSpPr>
        <p:spPr>
          <a:xfrm>
            <a:off x="274320" y="5047488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"The AI thinks. The human decides. The system acts." — This is the ClawOps way.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6A5E4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2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4 — HUMAN-IN-THE-LOOP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Architecture — The Human Approval Loop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2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" name="Google Shape;67;p2"/>
          <p:cNvSpPr/>
          <p:nvPr/>
        </p:nvSpPr>
        <p:spPr>
          <a:xfrm>
            <a:off x="274320" y="1298448"/>
            <a:ext cx="1417320" cy="141732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274320" y="1298448"/>
            <a:ext cx="1417320" cy="64008"/>
          </a:xfrm>
          <a:prstGeom prst="rect">
            <a:avLst/>
          </a:prstGeom>
          <a:solidFill>
            <a:srgbClr val="26A5E4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"/>
          <p:cNvSpPr/>
          <p:nvPr/>
        </p:nvSpPr>
        <p:spPr>
          <a:xfrm>
            <a:off x="274320" y="137160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274320" y="1901952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26A5E4"/>
                </a:solidFill>
                <a:latin typeface="Trebuchet MS"/>
                <a:ea typeface="Trebuchet MS"/>
                <a:cs typeface="Trebuchet MS"/>
                <a:sym typeface="Trebuchet MS"/>
              </a:rPr>
              <a:t>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26A5E4"/>
                </a:solidFill>
                <a:latin typeface="Trebuchet MS"/>
                <a:ea typeface="Trebuchet MS"/>
                <a:cs typeface="Trebuchet MS"/>
                <a:sym typeface="Trebuchet MS"/>
              </a:rPr>
              <a:t>Chat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1691640" y="1719072"/>
            <a:ext cx="137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6A5E4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1874520" y="1298448"/>
            <a:ext cx="1417320" cy="141732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1874520" y="1298448"/>
            <a:ext cx="1417320" cy="64008"/>
          </a:xfrm>
          <a:prstGeom prst="rect">
            <a:avLst/>
          </a:prstGeom>
          <a:solidFill>
            <a:srgbClr val="00D4FF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"/>
          <p:cNvSpPr/>
          <p:nvPr/>
        </p:nvSpPr>
        <p:spPr>
          <a:xfrm>
            <a:off x="1874520" y="137160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1874520" y="1901952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Route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Message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"/>
          <p:cNvSpPr/>
          <p:nvPr/>
        </p:nvSpPr>
        <p:spPr>
          <a:xfrm>
            <a:off x="3291840" y="1719072"/>
            <a:ext cx="137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3474720" y="1298448"/>
            <a:ext cx="1417320" cy="141732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3474720" y="1298448"/>
            <a:ext cx="1417320" cy="64008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3474720" y="137160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"/>
          <p:cNvSpPr/>
          <p:nvPr/>
        </p:nvSpPr>
        <p:spPr>
          <a:xfrm>
            <a:off x="3474720" y="1901952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K8s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Assistant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4892040" y="1719072"/>
            <a:ext cx="137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"/>
          <p:cNvSpPr/>
          <p:nvPr/>
        </p:nvSpPr>
        <p:spPr>
          <a:xfrm>
            <a:off x="5074920" y="1298448"/>
            <a:ext cx="1417320" cy="141732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2"/>
          <p:cNvSpPr/>
          <p:nvPr/>
        </p:nvSpPr>
        <p:spPr>
          <a:xfrm>
            <a:off x="5074920" y="1298448"/>
            <a:ext cx="1417320" cy="64008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"/>
          <p:cNvSpPr/>
          <p:nvPr/>
        </p:nvSpPr>
        <p:spPr>
          <a:xfrm>
            <a:off x="5074920" y="137160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🔐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5074920" y="1901952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Validate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Approval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/>
          <p:nvPr/>
        </p:nvSpPr>
        <p:spPr>
          <a:xfrm>
            <a:off x="6492240" y="1719072"/>
            <a:ext cx="137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6675120" y="1298448"/>
            <a:ext cx="1417320" cy="141732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"/>
          <p:cNvSpPr/>
          <p:nvPr/>
        </p:nvSpPr>
        <p:spPr>
          <a:xfrm>
            <a:off x="6675120" y="1298448"/>
            <a:ext cx="1417320" cy="64008"/>
          </a:xfrm>
          <a:prstGeom prst="rect">
            <a:avLst/>
          </a:prstGeom>
          <a:solidFill>
            <a:srgbClr val="7B2FFF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"/>
          <p:cNvSpPr/>
          <p:nvPr/>
        </p:nvSpPr>
        <p:spPr>
          <a:xfrm>
            <a:off x="6675120" y="137160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🗄️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2"/>
          <p:cNvSpPr/>
          <p:nvPr/>
        </p:nvSpPr>
        <p:spPr>
          <a:xfrm>
            <a:off x="6675120" y="1901952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Fetch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Incident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8092440" y="1719072"/>
            <a:ext cx="137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7B2FFF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8275320" y="1298448"/>
            <a:ext cx="1417320" cy="141732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8275320" y="1298448"/>
            <a:ext cx="1417320" cy="64008"/>
          </a:xfrm>
          <a:prstGeom prst="rect">
            <a:avLst/>
          </a:prstGeom>
          <a:solidFill>
            <a:srgbClr val="FF4444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"/>
          <p:cNvSpPr/>
          <p:nvPr/>
        </p:nvSpPr>
        <p:spPr>
          <a:xfrm>
            <a:off x="8275320" y="1371600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8275320" y="1901952"/>
            <a:ext cx="1417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4444"/>
                </a:solidFill>
                <a:latin typeface="Trebuchet MS"/>
                <a:ea typeface="Trebuchet MS"/>
                <a:cs typeface="Trebuchet MS"/>
                <a:sym typeface="Trebuchet MS"/>
              </a:rPr>
              <a:t>Execute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4444"/>
                </a:solidFill>
                <a:latin typeface="Trebuchet MS"/>
                <a:ea typeface="Trebuchet MS"/>
                <a:cs typeface="Trebuchet MS"/>
                <a:sym typeface="Trebuchet MS"/>
              </a:rPr>
              <a:t>Write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2"/>
          <p:cNvCxnSpPr/>
          <p:nvPr/>
        </p:nvCxnSpPr>
        <p:spPr>
          <a:xfrm>
            <a:off x="1874520" y="278892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8892A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7" name="Google Shape;97;p2"/>
          <p:cNvSpPr/>
          <p:nvPr/>
        </p:nvSpPr>
        <p:spPr>
          <a:xfrm>
            <a:off x="1097280" y="324612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query / chat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8" name="Google Shape;98;p2"/>
          <p:cNvCxnSpPr/>
          <p:nvPr/>
        </p:nvCxnSpPr>
        <p:spPr>
          <a:xfrm>
            <a:off x="5074920" y="2788920"/>
            <a:ext cx="0" cy="548640"/>
          </a:xfrm>
          <a:prstGeom prst="straightConnector1">
            <a:avLst/>
          </a:prstGeom>
          <a:noFill/>
          <a:ln cap="flat" cmpd="sng" w="12700">
            <a:solidFill>
              <a:srgbClr val="8892A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99" name="Google Shape;99;p2"/>
          <p:cNvSpPr/>
          <p:nvPr/>
        </p:nvSpPr>
        <p:spPr>
          <a:xfrm>
            <a:off x="4114800" y="324612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/approve &lt;totp&gt; &lt;key&gt;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274320" y="3401568"/>
            <a:ext cx="448056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"/>
          <p:cNvSpPr/>
          <p:nvPr/>
        </p:nvSpPr>
        <p:spPr>
          <a:xfrm>
            <a:off x="274320" y="3401568"/>
            <a:ext cx="4480560" cy="292608"/>
          </a:xfrm>
          <a:prstGeom prst="rect">
            <a:avLst/>
          </a:prstGeom>
          <a:solidFill>
            <a:srgbClr val="00C896">
              <a:alpha val="18039"/>
            </a:srgbClr>
          </a:solidFill>
          <a:ln cap="flat" cmpd="sng" w="12700">
            <a:solidFill>
              <a:srgbClr val="00C896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274320" y="3401568"/>
            <a:ext cx="4480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PATH A — Normal Chat Query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411480" y="3730752"/>
            <a:ext cx="42062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User: "What pods are running?" → K8s Assistant uses kubectl_read + promql → answers in the dashboard chat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If the AI suggests an SRE_ACTION → it sends an /approve prompt instead of executing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4937760" y="3401568"/>
            <a:ext cx="3931920" cy="111556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4937760" y="3401568"/>
            <a:ext cx="3931920" cy="292608"/>
          </a:xfrm>
          <a:prstGeom prst="rect">
            <a:avLst/>
          </a:prstGeom>
          <a:solidFill>
            <a:srgbClr val="FF6B35">
              <a:alpha val="18039"/>
            </a:srgbClr>
          </a:solidFill>
          <a:ln cap="flat" cmpd="sng" w="12700">
            <a:solidFill>
              <a:srgbClr val="FF6B35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4937760" y="3401568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PATH B — S5 Incident Approval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5074920" y="3730752"/>
            <a:ext cx="36576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User: "/approve 123456 k42a" → parse key → GET /incidents/k42a → MCP validates TOTP → execute write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Mark incident resolved in SQLite → post confirmation to the dashboard chat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274320" y="4663440"/>
            <a:ext cx="8595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Both paths share the same dashboard-chat trigger — the route is decided by message content (/approve vs anything else)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FF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4 — HUMAN-IN-THE-LOOP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Incident Key System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3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3"/>
          <p:cNvSpPr/>
          <p:nvPr/>
        </p:nvSpPr>
        <p:spPr>
          <a:xfrm>
            <a:off x="274320" y="1298448"/>
            <a:ext cx="8595360" cy="566928"/>
          </a:xfrm>
          <a:prstGeom prst="rect">
            <a:avLst/>
          </a:prstGeom>
          <a:solidFill>
            <a:srgbClr val="1A0A0A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411480" y="1298448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❓ PROBLEM: Multiple alerts fire → 3 chat messages → engineer types /approve 123456 → S4 has NO IDEA which command to run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274320" y="1993392"/>
            <a:ext cx="8595360" cy="365760"/>
          </a:xfrm>
          <a:prstGeom prst="rect">
            <a:avLst/>
          </a:prstGeom>
          <a:solidFill>
            <a:srgbClr val="00C896">
              <a:alpha val="12156"/>
            </a:srgbClr>
          </a:solidFill>
          <a:ln cap="flat" cmpd="sng" w="12700">
            <a:solidFill>
              <a:srgbClr val="00C89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3"/>
          <p:cNvSpPr/>
          <p:nvPr/>
        </p:nvSpPr>
        <p:spPr>
          <a:xfrm>
            <a:off x="411480" y="1993392"/>
            <a:ext cx="8321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✅ SOLUTION: Each incident gets a unique 4-char key. Engineer replies /approve &lt;totp&gt; &lt;key&gt; — unambiguous.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274320" y="2514600"/>
            <a:ext cx="2011680" cy="237744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274320" y="2514600"/>
            <a:ext cx="2011680" cy="64008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1051560" y="2606040"/>
            <a:ext cx="457200" cy="457200"/>
          </a:xfrm>
          <a:prstGeom prst="ellipse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1051560" y="2606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C18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80C18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365760" y="315468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S5 detects alert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365760" y="3493008"/>
            <a:ext cx="182880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Gemini runs investigation → produces SRE_ACTION: kubectl rollout restart deployment/target-app -n workshop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2304288" y="3566160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2468880" y="2514600"/>
            <a:ext cx="2011680" cy="237744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"/>
          <p:cNvSpPr/>
          <p:nvPr/>
        </p:nvSpPr>
        <p:spPr>
          <a:xfrm>
            <a:off x="2468880" y="2514600"/>
            <a:ext cx="2011680" cy="64008"/>
          </a:xfrm>
          <a:prstGeom prst="rect">
            <a:avLst/>
          </a:prstGeom>
          <a:solidFill>
            <a:srgbClr val="7B2FFF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3246120" y="2606040"/>
            <a:ext cx="457200" cy="457200"/>
          </a:xfrm>
          <a:prstGeom prst="ellipse">
            <a:avLst/>
          </a:prstGeom>
          <a:solidFill>
            <a:srgbClr val="7B2FFF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3246120" y="2606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C18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80C18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2560320" y="315468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POST /incidents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2560320" y="3493008"/>
            <a:ext cx="182880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S5 HTTP Request node → MCP server → SQLite insert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Returns: {key: "k42a", status: "pending"}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4498848" y="3566160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7B2F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4663440" y="2514600"/>
            <a:ext cx="2011680" cy="237744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"/>
          <p:cNvSpPr/>
          <p:nvPr/>
        </p:nvSpPr>
        <p:spPr>
          <a:xfrm>
            <a:off x="4663440" y="2514600"/>
            <a:ext cx="2011680" cy="64008"/>
          </a:xfrm>
          <a:prstGeom prst="rect">
            <a:avLst/>
          </a:prstGeom>
          <a:solidFill>
            <a:srgbClr val="26A5E4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3"/>
          <p:cNvSpPr/>
          <p:nvPr/>
        </p:nvSpPr>
        <p:spPr>
          <a:xfrm>
            <a:off x="5440680" y="2606040"/>
            <a:ext cx="457200" cy="457200"/>
          </a:xfrm>
          <a:prstGeom prst="ellipse">
            <a:avLst/>
          </a:prstGeom>
          <a:solidFill>
            <a:srgbClr val="26A5E4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"/>
          <p:cNvSpPr/>
          <p:nvPr/>
        </p:nvSpPr>
        <p:spPr>
          <a:xfrm>
            <a:off x="5440680" y="2606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C18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80C18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4754880" y="315468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26A5E4"/>
                </a:solidFill>
                <a:latin typeface="Trebuchet MS"/>
                <a:ea typeface="Trebuchet MS"/>
                <a:cs typeface="Trebuchet MS"/>
                <a:sym typeface="Trebuchet MS"/>
              </a:rPr>
              <a:t>Dashboard chat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4754880" y="3493008"/>
            <a:ext cx="182880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⚠️ INCIDENT DETECTED #k42a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...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💬 Reply: /approve &lt;totp&gt; k42a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6693408" y="3566160"/>
            <a:ext cx="320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26A5E4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6858000" y="2514600"/>
            <a:ext cx="2011680" cy="237744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6858000" y="2514600"/>
            <a:ext cx="2011680" cy="64008"/>
          </a:xfrm>
          <a:prstGeom prst="rect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3"/>
          <p:cNvSpPr/>
          <p:nvPr/>
        </p:nvSpPr>
        <p:spPr>
          <a:xfrm>
            <a:off x="7635240" y="2606040"/>
            <a:ext cx="457200" cy="457200"/>
          </a:xfrm>
          <a:prstGeom prst="ellipse">
            <a:avLst/>
          </a:prstGeom>
          <a:solidFill>
            <a:srgbClr val="00C896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3"/>
          <p:cNvSpPr/>
          <p:nvPr/>
        </p:nvSpPr>
        <p:spPr>
          <a:xfrm>
            <a:off x="7635240" y="2606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0C18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80C18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6949440" y="3154680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Engineer approves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/>
          <p:nvPr/>
        </p:nvSpPr>
        <p:spPr>
          <a:xfrm>
            <a:off x="6949440" y="3493008"/>
            <a:ext cx="1828800" cy="1261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Types: /approve 123456 k42a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S4 parses → validates TOTP → GET /incidents/k42a → executes command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274320" y="5010912"/>
            <a:ext cx="8595360" cy="32004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365760" y="5010912"/>
            <a:ext cx="841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SQLite schema: key TEXT, alertname TEXT, namespace TEXT, pod TEXT, command TEXT, status TEXT, created_at TEXT, resolved_at TEXT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6A5E4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4 — DEEP DIVE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Inside the Approval Loop — Every Node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4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4"/>
          <p:cNvSpPr/>
          <p:nvPr/>
        </p:nvSpPr>
        <p:spPr>
          <a:xfrm>
            <a:off x="274320" y="1298448"/>
            <a:ext cx="4160520" cy="118872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"/>
          <p:cNvSpPr/>
          <p:nvPr/>
        </p:nvSpPr>
        <p:spPr>
          <a:xfrm>
            <a:off x="274320" y="1298448"/>
            <a:ext cx="384048" cy="1188720"/>
          </a:xfrm>
          <a:prstGeom prst="rect">
            <a:avLst/>
          </a:prstGeom>
          <a:solidFill>
            <a:srgbClr val="26A5E4">
              <a:alpha val="21960"/>
            </a:srgbClr>
          </a:solidFill>
          <a:ln cap="flat" cmpd="sng" w="12700">
            <a:solidFill>
              <a:srgbClr val="26A5E4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4"/>
          <p:cNvSpPr/>
          <p:nvPr/>
        </p:nvSpPr>
        <p:spPr>
          <a:xfrm>
            <a:off x="274320" y="1298448"/>
            <a:ext cx="38404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26A5E4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731520" y="135331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26A5E4"/>
                </a:solidFill>
                <a:latin typeface="Trebuchet MS"/>
                <a:ea typeface="Trebuchet MS"/>
                <a:cs typeface="Trebuchet MS"/>
                <a:sym typeface="Trebuchet MS"/>
              </a:rPr>
              <a:t>Dashboard Chat Trigger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731520" y="1572768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Webhook Trigger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4"/>
          <p:cNvCxnSpPr/>
          <p:nvPr/>
        </p:nvCxnSpPr>
        <p:spPr>
          <a:xfrm>
            <a:off x="731520" y="1773936"/>
            <a:ext cx="3566160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6" name="Google Shape;166;p4"/>
          <p:cNvSpPr/>
          <p:nvPr/>
        </p:nvSpPr>
        <p:spPr>
          <a:xfrm>
            <a:off x="731520" y="1810512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750"/>
              <a:buFont typeface="Trebuchet MS"/>
              <a:buNone/>
            </a:pPr>
            <a:r>
              <a:rPr b="1" i="0" lang="en-US" sz="75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WHY: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1143000" y="1810512"/>
            <a:ext cx="3154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The dashboard CHAT tab POSTs every message to this webhook → the workflow fires instantly. No polling.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731520" y="2011680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750"/>
              <a:buFont typeface="Trebuchet MS"/>
              <a:buNone/>
            </a:pPr>
            <a:r>
              <a:rPr b="1" i="0" lang="en-US" sz="75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HOW: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1143000" y="2011680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Webhook path: /webhook/dashboard-chat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Receives: { text, from, chatId }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731520" y="2286000"/>
            <a:ext cx="3566160" cy="155448"/>
          </a:xfrm>
          <a:prstGeom prst="rect">
            <a:avLst/>
          </a:prstGeom>
          <a:solidFill>
            <a:srgbClr val="26A5E4">
              <a:alpha val="10196"/>
            </a:srgbClr>
          </a:solidFill>
          <a:ln cap="flat" cmpd="sng" w="12700">
            <a:solidFill>
              <a:srgbClr val="26A5E4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"/>
          <p:cNvSpPr/>
          <p:nvPr/>
        </p:nvSpPr>
        <p:spPr>
          <a:xfrm>
            <a:off x="777240" y="2286000"/>
            <a:ext cx="349300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26A5E4"/>
                </a:solidFill>
                <a:latin typeface="Calibri"/>
                <a:ea typeface="Calibri"/>
                <a:cs typeface="Calibri"/>
                <a:sym typeface="Calibri"/>
              </a:rPr>
              <a:t>⚡ chatId extracted here — used in ALL subsequent reply nodes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4709160" y="1298448"/>
            <a:ext cx="4160520" cy="118872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4709160" y="1298448"/>
            <a:ext cx="384048" cy="1188720"/>
          </a:xfrm>
          <a:prstGeom prst="rect">
            <a:avLst/>
          </a:prstGeom>
          <a:solidFill>
            <a:srgbClr val="00D4FF">
              <a:alpha val="21960"/>
            </a:srgbClr>
          </a:solidFill>
          <a:ln cap="flat" cmpd="sng" w="12700">
            <a:solidFill>
              <a:srgbClr val="00D4FF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4709160" y="1298448"/>
            <a:ext cx="38404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5166360" y="135331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Route Message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5166360" y="1572768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Code Node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7" name="Google Shape;177;p4"/>
          <p:cNvCxnSpPr/>
          <p:nvPr/>
        </p:nvCxnSpPr>
        <p:spPr>
          <a:xfrm>
            <a:off x="5166360" y="1773936"/>
            <a:ext cx="3566160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4"/>
          <p:cNvSpPr/>
          <p:nvPr/>
        </p:nvSpPr>
        <p:spPr>
          <a:xfrm>
            <a:off x="5166360" y="1810512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750"/>
              <a:buFont typeface="Trebuchet MS"/>
              <a:buNone/>
            </a:pPr>
            <a:r>
              <a:rPr b="1" i="0" lang="en-US" sz="75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WHY: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4"/>
          <p:cNvSpPr/>
          <p:nvPr/>
        </p:nvSpPr>
        <p:spPr>
          <a:xfrm>
            <a:off x="5577840" y="1810512"/>
            <a:ext cx="3154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Same workflow handles both chat queries AND approval commands. Need to split the flow.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5166360" y="2011680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750"/>
              <a:buFont typeface="Trebuchet MS"/>
              <a:buNone/>
            </a:pPr>
            <a:r>
              <a:rPr b="1" i="0" lang="en-US" sz="75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HOW: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5577840" y="2011680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if text.startsWith("/approve") → route = "approval"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else → route = "query"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Outputs: {route, text, chatId, from}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5166360" y="2286000"/>
            <a:ext cx="3566160" cy="155448"/>
          </a:xfrm>
          <a:prstGeom prst="rect">
            <a:avLst/>
          </a:prstGeom>
          <a:solidFill>
            <a:srgbClr val="00D4FF">
              <a:alpha val="10196"/>
            </a:srgbClr>
          </a:solidFill>
          <a:ln cap="flat" cmpd="sng" w="12700">
            <a:solidFill>
              <a:srgbClr val="00D4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5212080" y="2286000"/>
            <a:ext cx="349300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⚡ "approval" not "approve" — Approval Valid? node checks exact string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/>
          <p:nvPr/>
        </p:nvSpPr>
        <p:spPr>
          <a:xfrm>
            <a:off x="274320" y="2624328"/>
            <a:ext cx="4160520" cy="118872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4"/>
          <p:cNvSpPr/>
          <p:nvPr/>
        </p:nvSpPr>
        <p:spPr>
          <a:xfrm>
            <a:off x="274320" y="2624328"/>
            <a:ext cx="384048" cy="1188720"/>
          </a:xfrm>
          <a:prstGeom prst="rect">
            <a:avLst/>
          </a:prstGeom>
          <a:solidFill>
            <a:srgbClr val="00C896">
              <a:alpha val="21960"/>
            </a:srgbClr>
          </a:solidFill>
          <a:ln cap="flat" cmpd="sng" w="12700">
            <a:solidFill>
              <a:srgbClr val="00C896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4"/>
          <p:cNvSpPr/>
          <p:nvPr/>
        </p:nvSpPr>
        <p:spPr>
          <a:xfrm>
            <a:off x="274320" y="2624328"/>
            <a:ext cx="38404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731520" y="267919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K8s Assistant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/>
          <p:nvPr/>
        </p:nvSpPr>
        <p:spPr>
          <a:xfrm>
            <a:off x="731520" y="2898648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AI Agent + Tools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9" name="Google Shape;189;p4"/>
          <p:cNvCxnSpPr/>
          <p:nvPr/>
        </p:nvCxnSpPr>
        <p:spPr>
          <a:xfrm>
            <a:off x="731520" y="3099816"/>
            <a:ext cx="3566160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0" name="Google Shape;190;p4"/>
          <p:cNvSpPr/>
          <p:nvPr/>
        </p:nvSpPr>
        <p:spPr>
          <a:xfrm>
            <a:off x="731520" y="3136392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750"/>
              <a:buFont typeface="Trebuchet MS"/>
              <a:buNone/>
            </a:pPr>
            <a:r>
              <a:rPr b="1" i="0" lang="en-US" sz="75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WHY: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1143000" y="3136392"/>
            <a:ext cx="3154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Engineers can chat naturally: "What's wrong with target-app?" — Gemini investigates and responds.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731520" y="3337560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750"/>
              <a:buFont typeface="Trebuchet MS"/>
              <a:buNone/>
            </a:pPr>
            <a:r>
              <a:rPr b="1" i="0" lang="en-US" sz="75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HOW: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1143000" y="3337560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Tools: kubectl_read + promql + lookup_incident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System prompt: SRE context, workshop namespace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Outputs: investigation + optional SRE_ACTION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731520" y="3611880"/>
            <a:ext cx="3566160" cy="155448"/>
          </a:xfrm>
          <a:prstGeom prst="rect">
            <a:avLst/>
          </a:prstGeom>
          <a:solidFill>
            <a:srgbClr val="00C896">
              <a:alpha val="10196"/>
            </a:srgbClr>
          </a:solidFill>
          <a:ln cap="flat" cmpd="sng" w="12700">
            <a:solidFill>
              <a:srgbClr val="00C896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4"/>
          <p:cNvSpPr/>
          <p:nvPr/>
        </p:nvSpPr>
        <p:spPr>
          <a:xfrm>
            <a:off x="777240" y="3611880"/>
            <a:ext cx="349300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⚡ Also handles approval confirmation once execute is done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4709160" y="2624328"/>
            <a:ext cx="4160520" cy="118872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4"/>
          <p:cNvSpPr/>
          <p:nvPr/>
        </p:nvSpPr>
        <p:spPr>
          <a:xfrm>
            <a:off x="4709160" y="2624328"/>
            <a:ext cx="384048" cy="1188720"/>
          </a:xfrm>
          <a:prstGeom prst="rect">
            <a:avLst/>
          </a:prstGeom>
          <a:solidFill>
            <a:srgbClr val="FF6B35">
              <a:alpha val="21960"/>
            </a:srgbClr>
          </a:solidFill>
          <a:ln cap="flat" cmpd="sng" w="12700">
            <a:solidFill>
              <a:srgbClr val="FF6B35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4"/>
          <p:cNvSpPr/>
          <p:nvPr/>
        </p:nvSpPr>
        <p:spPr>
          <a:xfrm>
            <a:off x="4709160" y="2624328"/>
            <a:ext cx="38404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5166360" y="267919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Validate Approval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5166360" y="2898648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Code Node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1" name="Google Shape;201;p4"/>
          <p:cNvCxnSpPr/>
          <p:nvPr/>
        </p:nvCxnSpPr>
        <p:spPr>
          <a:xfrm>
            <a:off x="5166360" y="3099816"/>
            <a:ext cx="3566160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2" name="Google Shape;202;p4"/>
          <p:cNvSpPr/>
          <p:nvPr/>
        </p:nvSpPr>
        <p:spPr>
          <a:xfrm>
            <a:off x="5166360" y="3136392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750"/>
              <a:buFont typeface="Trebuchet MS"/>
              <a:buNone/>
            </a:pPr>
            <a:r>
              <a:rPr b="1" i="0" lang="en-US" sz="75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WHY: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5577840" y="3136392"/>
            <a:ext cx="3154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Parse /approve command. Handle TWO paths: key-based (S5 incident) or static data (chat-initiated).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"/>
          <p:cNvSpPr/>
          <p:nvPr/>
        </p:nvSpPr>
        <p:spPr>
          <a:xfrm>
            <a:off x="5166360" y="3337560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750"/>
              <a:buFont typeface="Trebuchet MS"/>
              <a:buNone/>
            </a:pPr>
            <a:r>
              <a:rPr b="1" i="0" lang="en-US" sz="75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HOW: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"/>
          <p:cNvSpPr/>
          <p:nvPr/>
        </p:nvSpPr>
        <p:spPr>
          <a:xfrm>
            <a:off x="5577840" y="3337560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key present → {route:"approval", incidentKey, token, useKey:true}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no key → reads $getWorkflowStaticData pending command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5166360" y="3611880"/>
            <a:ext cx="3566160" cy="155448"/>
          </a:xfrm>
          <a:prstGeom prst="rect">
            <a:avLst/>
          </a:prstGeom>
          <a:solidFill>
            <a:srgbClr val="FF6B35">
              <a:alpha val="10196"/>
            </a:srgbClr>
          </a:solidFill>
          <a:ln cap="flat" cmpd="sng" w="12700">
            <a:solidFill>
              <a:srgbClr val="FF6B35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4"/>
          <p:cNvSpPr/>
          <p:nvPr/>
        </p:nvSpPr>
        <p:spPr>
          <a:xfrm>
            <a:off x="5212080" y="3611880"/>
            <a:ext cx="349300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⚡ TOTP validation happens in MCP kubectl-write, not here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"/>
          <p:cNvSpPr/>
          <p:nvPr/>
        </p:nvSpPr>
        <p:spPr>
          <a:xfrm>
            <a:off x="274320" y="3950208"/>
            <a:ext cx="4160520" cy="118872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4"/>
          <p:cNvSpPr/>
          <p:nvPr/>
        </p:nvSpPr>
        <p:spPr>
          <a:xfrm>
            <a:off x="274320" y="3950208"/>
            <a:ext cx="384048" cy="1188720"/>
          </a:xfrm>
          <a:prstGeom prst="rect">
            <a:avLst/>
          </a:prstGeom>
          <a:solidFill>
            <a:srgbClr val="FF4444">
              <a:alpha val="21960"/>
            </a:srgbClr>
          </a:solidFill>
          <a:ln cap="flat" cmpd="sng" w="12700">
            <a:solidFill>
              <a:srgbClr val="FF4444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4"/>
          <p:cNvSpPr/>
          <p:nvPr/>
        </p:nvSpPr>
        <p:spPr>
          <a:xfrm>
            <a:off x="274320" y="3950208"/>
            <a:ext cx="38404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4444"/>
                </a:solidFill>
                <a:latin typeface="Consolas"/>
                <a:ea typeface="Consolas"/>
                <a:cs typeface="Consolas"/>
                <a:sym typeface="Consolas"/>
              </a:rPr>
              <a:t>05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731520" y="400507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FF4444"/>
                </a:solidFill>
                <a:latin typeface="Trebuchet MS"/>
                <a:ea typeface="Trebuchet MS"/>
                <a:cs typeface="Trebuchet MS"/>
                <a:sym typeface="Trebuchet MS"/>
              </a:rPr>
              <a:t>Fetch + Check + Execute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731520" y="4224528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HTTP Request nodes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4"/>
          <p:cNvCxnSpPr/>
          <p:nvPr/>
        </p:nvCxnSpPr>
        <p:spPr>
          <a:xfrm>
            <a:off x="731520" y="4425696"/>
            <a:ext cx="3566160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4"/>
          <p:cNvSpPr/>
          <p:nvPr/>
        </p:nvSpPr>
        <p:spPr>
          <a:xfrm>
            <a:off x="731520" y="4462272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750"/>
              <a:buFont typeface="Trebuchet MS"/>
              <a:buNone/>
            </a:pPr>
            <a:r>
              <a:rPr b="1" i="0" lang="en-US" sz="75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WHY: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1143000" y="4462272"/>
            <a:ext cx="3154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GET /incidents/k42a → verify status=pending (not already resolved) → POST /tools/kubectl-write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731520" y="4663440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750"/>
              <a:buFont typeface="Trebuchet MS"/>
              <a:buNone/>
            </a:pPr>
            <a:r>
              <a:rPr b="1" i="0" lang="en-US" sz="75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HOW: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1143000" y="4663440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Fetch: GET mcp-server:8000/incidents/{key}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Check Pending: blocks re-execution of resolved incidents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Execute: POST with {command, approval_token, approved_by}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731520" y="4937760"/>
            <a:ext cx="3566160" cy="155448"/>
          </a:xfrm>
          <a:prstGeom prst="rect">
            <a:avLst/>
          </a:prstGeom>
          <a:solidFill>
            <a:srgbClr val="FF4444">
              <a:alpha val="10196"/>
            </a:srgbClr>
          </a:solidFill>
          <a:ln cap="flat" cmpd="sng" w="12700">
            <a:solidFill>
              <a:srgbClr val="FF4444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4"/>
          <p:cNvSpPr/>
          <p:nvPr/>
        </p:nvSpPr>
        <p:spPr>
          <a:xfrm>
            <a:off x="777240" y="4937760"/>
            <a:ext cx="349300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FF4444"/>
                </a:solidFill>
                <a:latin typeface="Calibri"/>
                <a:ea typeface="Calibri"/>
                <a:cs typeface="Calibri"/>
                <a:sym typeface="Calibri"/>
              </a:rPr>
              <a:t>⚡ approval_token field name (not "token") — matches MCP WriteRequest schema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4709160" y="3950208"/>
            <a:ext cx="4160520" cy="118872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4"/>
          <p:cNvSpPr/>
          <p:nvPr/>
        </p:nvSpPr>
        <p:spPr>
          <a:xfrm>
            <a:off x="4709160" y="3950208"/>
            <a:ext cx="384048" cy="1188720"/>
          </a:xfrm>
          <a:prstGeom prst="rect">
            <a:avLst/>
          </a:prstGeom>
          <a:solidFill>
            <a:srgbClr val="7B2FFF">
              <a:alpha val="21960"/>
            </a:srgbClr>
          </a:solidFill>
          <a:ln cap="flat" cmpd="sng" w="12700">
            <a:solidFill>
              <a:srgbClr val="7B2FFF">
                <a:alpha val="38039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4"/>
          <p:cNvSpPr/>
          <p:nvPr/>
        </p:nvSpPr>
        <p:spPr>
          <a:xfrm>
            <a:off x="4709160" y="3950208"/>
            <a:ext cx="384048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7B2FFF"/>
                </a:solidFill>
                <a:latin typeface="Consolas"/>
                <a:ea typeface="Consolas"/>
                <a:cs typeface="Consolas"/>
                <a:sym typeface="Consolas"/>
              </a:rPr>
              <a:t>06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5166360" y="400507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Mark Resolved + Notify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4"/>
          <p:cNvSpPr/>
          <p:nvPr/>
        </p:nvSpPr>
        <p:spPr>
          <a:xfrm>
            <a:off x="5166360" y="4224528"/>
            <a:ext cx="3566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onsolas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HTTP Request nodes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" name="Google Shape;225;p4"/>
          <p:cNvCxnSpPr/>
          <p:nvPr/>
        </p:nvCxnSpPr>
        <p:spPr>
          <a:xfrm>
            <a:off x="5166360" y="4425696"/>
            <a:ext cx="3566160" cy="0"/>
          </a:xfrm>
          <a:prstGeom prst="straightConnector1">
            <a:avLst/>
          </a:prstGeom>
          <a:noFill/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6" name="Google Shape;226;p4"/>
          <p:cNvSpPr/>
          <p:nvPr/>
        </p:nvSpPr>
        <p:spPr>
          <a:xfrm>
            <a:off x="5166360" y="4462272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750"/>
              <a:buFont typeface="Trebuchet MS"/>
              <a:buNone/>
            </a:pPr>
            <a:r>
              <a:rPr b="1" i="0" lang="en-US" sz="75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WHY: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5577840" y="4462272"/>
            <a:ext cx="3154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Update incident status so it can't be approved twice. Send confirmation to engineer.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5166360" y="4663440"/>
            <a:ext cx="38404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750"/>
              <a:buFont typeface="Trebuchet MS"/>
              <a:buNone/>
            </a:pPr>
            <a:r>
              <a:rPr b="1" i="0" lang="en-US" sz="75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HOW: 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5577840" y="4663440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PATCH /incidents/{key} {status: "resolved"}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Chat: "✅ Executed by {name}: kubectl {command}"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4"/>
          <p:cNvSpPr/>
          <p:nvPr/>
        </p:nvSpPr>
        <p:spPr>
          <a:xfrm>
            <a:off x="5166360" y="4937760"/>
            <a:ext cx="3566160" cy="155448"/>
          </a:xfrm>
          <a:prstGeom prst="rect">
            <a:avLst/>
          </a:prstGeom>
          <a:solidFill>
            <a:srgbClr val="7B2FFF">
              <a:alpha val="10196"/>
            </a:srgbClr>
          </a:solidFill>
          <a:ln cap="flat" cmpd="sng" w="12700">
            <a:solidFill>
              <a:srgbClr val="7B2F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"/>
          <p:cNvSpPr/>
          <p:nvPr/>
        </p:nvSpPr>
        <p:spPr>
          <a:xfrm>
            <a:off x="5212080" y="4937760"/>
            <a:ext cx="3493008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700"/>
              <a:buFont typeface="Calibri"/>
              <a:buNone/>
            </a:pPr>
            <a:r>
              <a:rPr b="0" i="1" lang="en-US" sz="700" u="none" cap="none" strike="noStrike">
                <a:solidFill>
                  <a:srgbClr val="7B2FFF"/>
                </a:solidFill>
                <a:latin typeface="Calibri"/>
                <a:ea typeface="Calibri"/>
                <a:cs typeface="Calibri"/>
                <a:sym typeface="Calibri"/>
              </a:rPr>
              <a:t>⚡ Incident audit panel in dashboard auto-refreshes every 30s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FF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5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4 — HUMAN-IN-THE-LOOP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TOTP: Why 6-Digit Codes, Not Passwords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0" name="Google Shape;240;p5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5"/>
          <p:cNvSpPr/>
          <p:nvPr/>
        </p:nvSpPr>
        <p:spPr>
          <a:xfrm>
            <a:off x="274320" y="1298448"/>
            <a:ext cx="4206240" cy="3611880"/>
          </a:xfrm>
          <a:prstGeom prst="rect">
            <a:avLst/>
          </a:prstGeom>
          <a:solidFill>
            <a:srgbClr val="0F1729"/>
          </a:solidFill>
          <a:ln cap="flat" cmpd="sng" w="1905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5"/>
          <p:cNvSpPr/>
          <p:nvPr/>
        </p:nvSpPr>
        <p:spPr>
          <a:xfrm>
            <a:off x="274320" y="1298448"/>
            <a:ext cx="4206240" cy="384048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5"/>
          <p:cNvSpPr/>
          <p:nvPr/>
        </p:nvSpPr>
        <p:spPr>
          <a:xfrm>
            <a:off x="274320" y="1298448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⚙️  HOW TOTP WORKS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411480" y="1847088"/>
            <a:ext cx="3931920" cy="566928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5"/>
          <p:cNvSpPr/>
          <p:nvPr/>
        </p:nvSpPr>
        <p:spPr>
          <a:xfrm>
            <a:off x="548640" y="1883664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Shared Secret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548640" y="212140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TOTP_SECRET = base32 key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Stored as a k8s Secret + your Authenticator app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1828800" y="2414016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411480" y="2532888"/>
            <a:ext cx="3931920" cy="566928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5"/>
          <p:cNvSpPr/>
          <p:nvPr/>
        </p:nvSpPr>
        <p:spPr>
          <a:xfrm>
            <a:off x="548640" y="2569464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Current 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5"/>
          <p:cNvSpPr/>
          <p:nvPr/>
        </p:nvSpPr>
        <p:spPr>
          <a:xfrm>
            <a:off x="548640" y="280720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Unix timestamp ÷ 30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Changes every 30 seconds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1828800" y="3099816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5"/>
          <p:cNvSpPr/>
          <p:nvPr/>
        </p:nvSpPr>
        <p:spPr>
          <a:xfrm>
            <a:off x="411480" y="3218688"/>
            <a:ext cx="3931920" cy="566928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5"/>
          <p:cNvSpPr/>
          <p:nvPr/>
        </p:nvSpPr>
        <p:spPr>
          <a:xfrm>
            <a:off x="548640" y="3255264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HMAC-SHA1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548640" y="349300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secret + timestamp → hash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Same calculation on both sides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1828800" y="3785616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5"/>
          <p:cNvSpPr/>
          <p:nvPr/>
        </p:nvSpPr>
        <p:spPr>
          <a:xfrm>
            <a:off x="411480" y="3904488"/>
            <a:ext cx="3931920" cy="566928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5"/>
          <p:cNvSpPr/>
          <p:nvPr/>
        </p:nvSpPr>
        <p:spPr>
          <a:xfrm>
            <a:off x="548640" y="3941064"/>
            <a:ext cx="13716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D700"/>
                </a:solidFill>
                <a:latin typeface="Trebuchet MS"/>
                <a:ea typeface="Trebuchet MS"/>
                <a:cs typeface="Trebuchet MS"/>
                <a:sym typeface="Trebuchet MS"/>
              </a:rPr>
              <a:t>6-digit code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5"/>
          <p:cNvSpPr/>
          <p:nvPr/>
        </p:nvSpPr>
        <p:spPr>
          <a:xfrm>
            <a:off x="548640" y="417880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Last 6 digits of hash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Valid for ~30 seconds only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411480" y="461772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= Same code on your phone AND on MCP server — no transmission needed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4663440" y="1298448"/>
            <a:ext cx="4206240" cy="361188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5"/>
          <p:cNvSpPr/>
          <p:nvPr/>
        </p:nvSpPr>
        <p:spPr>
          <a:xfrm>
            <a:off x="4663440" y="1298448"/>
            <a:ext cx="4206240" cy="384048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5"/>
          <p:cNvSpPr/>
          <p:nvPr/>
        </p:nvSpPr>
        <p:spPr>
          <a:xfrm>
            <a:off x="4663440" y="1298448"/>
            <a:ext cx="4206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🔐  WHY NOT PASSWORDS?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5"/>
          <p:cNvSpPr/>
          <p:nvPr/>
        </p:nvSpPr>
        <p:spPr>
          <a:xfrm>
            <a:off x="4800600" y="1847088"/>
            <a:ext cx="3931920" cy="621792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5"/>
          <p:cNvSpPr/>
          <p:nvPr/>
        </p:nvSpPr>
        <p:spPr>
          <a:xfrm>
            <a:off x="4846320" y="1847088"/>
            <a:ext cx="365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5"/>
          <p:cNvSpPr/>
          <p:nvPr/>
        </p:nvSpPr>
        <p:spPr>
          <a:xfrm>
            <a:off x="5285232" y="1883664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4444"/>
                </a:solidFill>
                <a:latin typeface="Trebuchet MS"/>
                <a:ea typeface="Trebuchet MS"/>
                <a:cs typeface="Trebuchet MS"/>
                <a:sym typeface="Trebuchet MS"/>
              </a:rPr>
              <a:t>Static Password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5285232" y="2139696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Can be sniffed from chat or logs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Replay attack — works forever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5"/>
          <p:cNvSpPr/>
          <p:nvPr/>
        </p:nvSpPr>
        <p:spPr>
          <a:xfrm>
            <a:off x="4800600" y="2596896"/>
            <a:ext cx="3931920" cy="621792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5"/>
          <p:cNvSpPr/>
          <p:nvPr/>
        </p:nvSpPr>
        <p:spPr>
          <a:xfrm>
            <a:off x="4846320" y="2596896"/>
            <a:ext cx="365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5"/>
          <p:cNvSpPr/>
          <p:nvPr/>
        </p:nvSpPr>
        <p:spPr>
          <a:xfrm>
            <a:off x="5285232" y="2633472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4444"/>
                </a:solidFill>
                <a:latin typeface="Trebuchet MS"/>
                <a:ea typeface="Trebuchet MS"/>
                <a:cs typeface="Trebuchet MS"/>
                <a:sym typeface="Trebuchet MS"/>
              </a:rPr>
              <a:t>API Key in message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5"/>
          <p:cNvSpPr/>
          <p:nvPr/>
        </p:nvSpPr>
        <p:spPr>
          <a:xfrm>
            <a:off x="5285232" y="2889504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Stored in chat history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Anyone with chat access can reuse it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5"/>
          <p:cNvSpPr/>
          <p:nvPr/>
        </p:nvSpPr>
        <p:spPr>
          <a:xfrm>
            <a:off x="4800600" y="3346704"/>
            <a:ext cx="3931920" cy="621792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5"/>
          <p:cNvSpPr/>
          <p:nvPr/>
        </p:nvSpPr>
        <p:spPr>
          <a:xfrm>
            <a:off x="4846320" y="3346704"/>
            <a:ext cx="365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5"/>
          <p:cNvSpPr/>
          <p:nvPr/>
        </p:nvSpPr>
        <p:spPr>
          <a:xfrm>
            <a:off x="5285232" y="3383280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IP Whitelist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5"/>
          <p:cNvSpPr/>
          <p:nvPr/>
        </p:nvSpPr>
        <p:spPr>
          <a:xfrm>
            <a:off x="5285232" y="3639312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Mobile engineers travel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VPN + IP changes break this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5"/>
          <p:cNvSpPr/>
          <p:nvPr/>
        </p:nvSpPr>
        <p:spPr>
          <a:xfrm>
            <a:off x="4800600" y="4096512"/>
            <a:ext cx="3931920" cy="621792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5"/>
          <p:cNvSpPr/>
          <p:nvPr/>
        </p:nvSpPr>
        <p:spPr>
          <a:xfrm>
            <a:off x="4846320" y="4096512"/>
            <a:ext cx="365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5"/>
          <p:cNvSpPr/>
          <p:nvPr/>
        </p:nvSpPr>
        <p:spPr>
          <a:xfrm>
            <a:off x="5285232" y="4133088"/>
            <a:ext cx="32918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TOTP (our approach)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5"/>
          <p:cNvSpPr/>
          <p:nvPr/>
        </p:nvSpPr>
        <p:spPr>
          <a:xfrm>
            <a:off x="5285232" y="4389120"/>
            <a:ext cx="32918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Expires in 30 seconds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Even if intercepted — already useless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6A5E4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6"/>
          <p:cNvSpPr/>
          <p:nvPr/>
        </p:nvSpPr>
        <p:spPr>
          <a:xfrm>
            <a:off x="457200" y="1828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4 — LIVE DEMO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6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Trebuchet MS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Full End-to-End: Alert → Approve → Execute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7" name="Google Shape;287;p6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8" name="Google Shape;288;p6"/>
          <p:cNvCxnSpPr/>
          <p:nvPr/>
        </p:nvCxnSpPr>
        <p:spPr>
          <a:xfrm>
            <a:off x="960120" y="1298448"/>
            <a:ext cx="0" cy="3657600"/>
          </a:xfrm>
          <a:prstGeom prst="straightConnector1">
            <a:avLst/>
          </a:prstGeom>
          <a:noFill/>
          <a:ln cap="flat" cmpd="sng" w="254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9" name="Google Shape;289;p6"/>
          <p:cNvSpPr/>
          <p:nvPr/>
        </p:nvSpPr>
        <p:spPr>
          <a:xfrm>
            <a:off x="804672" y="1380744"/>
            <a:ext cx="310896" cy="310896"/>
          </a:xfrm>
          <a:prstGeom prst="ellipse">
            <a:avLst/>
          </a:prstGeom>
          <a:solidFill>
            <a:srgbClr val="FF6B35">
              <a:alpha val="30196"/>
            </a:srgbClr>
          </a:solidFill>
          <a:ln cap="flat" cmpd="sng" w="12700">
            <a:solidFill>
              <a:srgbClr val="FF6B35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6"/>
          <p:cNvSpPr/>
          <p:nvPr/>
        </p:nvSpPr>
        <p:spPr>
          <a:xfrm>
            <a:off x="91440" y="1325880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T+0s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6"/>
          <p:cNvSpPr/>
          <p:nvPr/>
        </p:nvSpPr>
        <p:spPr>
          <a:xfrm>
            <a:off x="1188720" y="1325880"/>
            <a:ext cx="5303520" cy="38404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6"/>
          <p:cNvSpPr/>
          <p:nvPr/>
        </p:nvSpPr>
        <p:spPr>
          <a:xfrm>
            <a:off x="1298448" y="132588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6B35"/>
                </a:solidFill>
                <a:latin typeface="Trebuchet MS"/>
                <a:ea typeface="Trebuchet MS"/>
                <a:cs typeface="Trebuchet MS"/>
                <a:sym typeface="Trebuchet MS"/>
              </a:rPr>
              <a:t>⚡ Click CPU Sustained on 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6"/>
          <p:cNvSpPr/>
          <p:nvPr/>
        </p:nvSpPr>
        <p:spPr>
          <a:xfrm>
            <a:off x="4480560" y="132588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2 cores, 300 seconds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6"/>
          <p:cNvSpPr/>
          <p:nvPr/>
        </p:nvSpPr>
        <p:spPr>
          <a:xfrm>
            <a:off x="804672" y="1837944"/>
            <a:ext cx="310896" cy="310896"/>
          </a:xfrm>
          <a:prstGeom prst="ellipse">
            <a:avLst/>
          </a:prstGeom>
          <a:solidFill>
            <a:srgbClr val="00D4FF">
              <a:alpha val="30196"/>
            </a:srgbClr>
          </a:solidFill>
          <a:ln cap="flat" cmpd="sng" w="12700">
            <a:solidFill>
              <a:srgbClr val="00D4FF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6"/>
          <p:cNvSpPr/>
          <p:nvPr/>
        </p:nvSpPr>
        <p:spPr>
          <a:xfrm>
            <a:off x="91440" y="1783080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T+15s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6"/>
          <p:cNvSpPr/>
          <p:nvPr/>
        </p:nvSpPr>
        <p:spPr>
          <a:xfrm>
            <a:off x="1188720" y="1783080"/>
            <a:ext cx="5303520" cy="38404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6"/>
          <p:cNvSpPr/>
          <p:nvPr/>
        </p:nvSpPr>
        <p:spPr>
          <a:xfrm>
            <a:off x="1298448" y="178308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📊 Prometheus scrapes metrics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6"/>
          <p:cNvSpPr/>
          <p:nvPr/>
        </p:nvSpPr>
        <p:spPr>
          <a:xfrm>
            <a:off x="4480560" y="178308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target_chaos_cpu_active =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804672" y="2295144"/>
            <a:ext cx="310896" cy="310896"/>
          </a:xfrm>
          <a:prstGeom prst="ellipse">
            <a:avLst/>
          </a:prstGeom>
          <a:solidFill>
            <a:srgbClr val="FF4444">
              <a:alpha val="30196"/>
            </a:srgbClr>
          </a:solidFill>
          <a:ln cap="flat" cmpd="sng" w="12700">
            <a:solidFill>
              <a:srgbClr val="FF4444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6"/>
          <p:cNvSpPr/>
          <p:nvPr/>
        </p:nvSpPr>
        <p:spPr>
          <a:xfrm>
            <a:off x="91440" y="2240280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FF4444"/>
                </a:solidFill>
                <a:latin typeface="Consolas"/>
                <a:ea typeface="Consolas"/>
                <a:cs typeface="Consolas"/>
                <a:sym typeface="Consolas"/>
              </a:rPr>
              <a:t>T+25s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6"/>
          <p:cNvSpPr/>
          <p:nvPr/>
        </p:nvSpPr>
        <p:spPr>
          <a:xfrm>
            <a:off x="1188720" y="2240280"/>
            <a:ext cx="5303520" cy="38404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444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6"/>
          <p:cNvSpPr/>
          <p:nvPr/>
        </p:nvSpPr>
        <p:spPr>
          <a:xfrm>
            <a:off x="1298448" y="224028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444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4444"/>
                </a:solidFill>
                <a:latin typeface="Trebuchet MS"/>
                <a:ea typeface="Trebuchet MS"/>
                <a:cs typeface="Trebuchet MS"/>
                <a:sym typeface="Trebuchet MS"/>
              </a:rPr>
              <a:t>🔔 Alert fires → Alertmanager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6"/>
          <p:cNvSpPr/>
          <p:nvPr/>
        </p:nvSpPr>
        <p:spPr>
          <a:xfrm>
            <a:off x="4480560" y="224028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TargetAppCPUStress FIRING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6"/>
          <p:cNvSpPr/>
          <p:nvPr/>
        </p:nvSpPr>
        <p:spPr>
          <a:xfrm>
            <a:off x="804672" y="2752344"/>
            <a:ext cx="310896" cy="310896"/>
          </a:xfrm>
          <a:prstGeom prst="ellipse">
            <a:avLst/>
          </a:prstGeom>
          <a:solidFill>
            <a:srgbClr val="FFD700">
              <a:alpha val="30196"/>
            </a:srgbClr>
          </a:solidFill>
          <a:ln cap="flat" cmpd="sng" w="12700">
            <a:solidFill>
              <a:srgbClr val="FFD70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6"/>
          <p:cNvSpPr/>
          <p:nvPr/>
        </p:nvSpPr>
        <p:spPr>
          <a:xfrm>
            <a:off x="91440" y="2697480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FFD700"/>
                </a:solidFill>
                <a:latin typeface="Consolas"/>
                <a:ea typeface="Consolas"/>
                <a:cs typeface="Consolas"/>
                <a:sym typeface="Consolas"/>
              </a:rPr>
              <a:t>T+26s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6"/>
          <p:cNvSpPr/>
          <p:nvPr/>
        </p:nvSpPr>
        <p:spPr>
          <a:xfrm>
            <a:off x="1188720" y="2697480"/>
            <a:ext cx="5303520" cy="38404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6"/>
          <p:cNvSpPr/>
          <p:nvPr/>
        </p:nvSpPr>
        <p:spPr>
          <a:xfrm>
            <a:off x="1298448" y="269748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D700"/>
                </a:solidFill>
                <a:latin typeface="Trebuchet MS"/>
                <a:ea typeface="Trebuchet MS"/>
                <a:cs typeface="Trebuchet MS"/>
                <a:sym typeface="Trebuchet MS"/>
              </a:rPr>
              <a:t>🔀 S5 webhook receives payload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4480560" y="269748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Dedup check → passes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6"/>
          <p:cNvSpPr/>
          <p:nvPr/>
        </p:nvSpPr>
        <p:spPr>
          <a:xfrm>
            <a:off x="804672" y="3209544"/>
            <a:ext cx="310896" cy="310896"/>
          </a:xfrm>
          <a:prstGeom prst="ellipse">
            <a:avLst/>
          </a:prstGeom>
          <a:solidFill>
            <a:srgbClr val="7B2FFF">
              <a:alpha val="30196"/>
            </a:srgbClr>
          </a:solidFill>
          <a:ln cap="flat" cmpd="sng" w="12700">
            <a:solidFill>
              <a:srgbClr val="7B2FFF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6"/>
          <p:cNvSpPr/>
          <p:nvPr/>
        </p:nvSpPr>
        <p:spPr>
          <a:xfrm>
            <a:off x="91440" y="3154680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7B2FFF"/>
                </a:solidFill>
                <a:latin typeface="Consolas"/>
                <a:ea typeface="Consolas"/>
                <a:cs typeface="Consolas"/>
                <a:sym typeface="Consolas"/>
              </a:rPr>
              <a:t>T+35s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6"/>
          <p:cNvSpPr/>
          <p:nvPr/>
        </p:nvSpPr>
        <p:spPr>
          <a:xfrm>
            <a:off x="1188720" y="3154680"/>
            <a:ext cx="5303520" cy="38404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6"/>
          <p:cNvSpPr/>
          <p:nvPr/>
        </p:nvSpPr>
        <p:spPr>
          <a:xfrm>
            <a:off x="1298448" y="315468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🤖 Gemini investigates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4480560" y="315468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kubectl + promql → hypothesis trail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6"/>
          <p:cNvSpPr/>
          <p:nvPr/>
        </p:nvSpPr>
        <p:spPr>
          <a:xfrm>
            <a:off x="804672" y="3666744"/>
            <a:ext cx="310896" cy="310896"/>
          </a:xfrm>
          <a:prstGeom prst="ellipse">
            <a:avLst/>
          </a:prstGeom>
          <a:solidFill>
            <a:srgbClr val="26A5E4">
              <a:alpha val="30196"/>
            </a:srgbClr>
          </a:solidFill>
          <a:ln cap="flat" cmpd="sng" w="12700">
            <a:solidFill>
              <a:srgbClr val="26A5E4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6"/>
          <p:cNvSpPr/>
          <p:nvPr/>
        </p:nvSpPr>
        <p:spPr>
          <a:xfrm>
            <a:off x="91440" y="3611880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26A5E4"/>
                </a:solidFill>
                <a:latin typeface="Consolas"/>
                <a:ea typeface="Consolas"/>
                <a:cs typeface="Consolas"/>
                <a:sym typeface="Consolas"/>
              </a:rPr>
              <a:t>T+40s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6"/>
          <p:cNvSpPr/>
          <p:nvPr/>
        </p:nvSpPr>
        <p:spPr>
          <a:xfrm>
            <a:off x="1188720" y="3611880"/>
            <a:ext cx="5303520" cy="38404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6"/>
          <p:cNvSpPr/>
          <p:nvPr/>
        </p:nvSpPr>
        <p:spPr>
          <a:xfrm>
            <a:off x="1298448" y="361188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A5E4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26A5E4"/>
                </a:solidFill>
                <a:latin typeface="Trebuchet MS"/>
                <a:ea typeface="Trebuchet MS"/>
                <a:cs typeface="Trebuchet MS"/>
                <a:sym typeface="Trebuchet MS"/>
              </a:rPr>
              <a:t>💬 Dashboard chat message + key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6"/>
          <p:cNvSpPr/>
          <p:nvPr/>
        </p:nvSpPr>
        <p:spPr>
          <a:xfrm>
            <a:off x="4480560" y="361188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⚠️ INCIDENT #k42a — SRE_ACTION included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6"/>
          <p:cNvSpPr/>
          <p:nvPr/>
        </p:nvSpPr>
        <p:spPr>
          <a:xfrm>
            <a:off x="804672" y="4123944"/>
            <a:ext cx="310896" cy="310896"/>
          </a:xfrm>
          <a:prstGeom prst="ellipse">
            <a:avLst/>
          </a:prstGeom>
          <a:solidFill>
            <a:srgbClr val="00C896">
              <a:alpha val="30196"/>
            </a:srgbClr>
          </a:solidFill>
          <a:ln cap="flat" cmpd="sng" w="12700">
            <a:solidFill>
              <a:srgbClr val="00C89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6"/>
          <p:cNvSpPr/>
          <p:nvPr/>
        </p:nvSpPr>
        <p:spPr>
          <a:xfrm>
            <a:off x="91440" y="4069080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T+45s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6"/>
          <p:cNvSpPr/>
          <p:nvPr/>
        </p:nvSpPr>
        <p:spPr>
          <a:xfrm>
            <a:off x="1188720" y="4069080"/>
            <a:ext cx="5303520" cy="38404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6"/>
          <p:cNvSpPr/>
          <p:nvPr/>
        </p:nvSpPr>
        <p:spPr>
          <a:xfrm>
            <a:off x="1298448" y="406908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👤 Engineer types /approve 123456 k42a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6"/>
          <p:cNvSpPr/>
          <p:nvPr/>
        </p:nvSpPr>
        <p:spPr>
          <a:xfrm>
            <a:off x="4480560" y="406908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S4 receives → validates → executes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6"/>
          <p:cNvSpPr/>
          <p:nvPr/>
        </p:nvSpPr>
        <p:spPr>
          <a:xfrm>
            <a:off x="804672" y="4581144"/>
            <a:ext cx="310896" cy="310896"/>
          </a:xfrm>
          <a:prstGeom prst="ellipse">
            <a:avLst/>
          </a:prstGeom>
          <a:solidFill>
            <a:srgbClr val="00C896">
              <a:alpha val="30196"/>
            </a:srgbClr>
          </a:solidFill>
          <a:ln cap="flat" cmpd="sng" w="12700">
            <a:solidFill>
              <a:srgbClr val="00C896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6"/>
          <p:cNvSpPr/>
          <p:nvPr/>
        </p:nvSpPr>
        <p:spPr>
          <a:xfrm>
            <a:off x="91440" y="4526280"/>
            <a:ext cx="65836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T+46s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6"/>
          <p:cNvSpPr/>
          <p:nvPr/>
        </p:nvSpPr>
        <p:spPr>
          <a:xfrm>
            <a:off x="1188720" y="4526280"/>
            <a:ext cx="5303520" cy="384048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00C89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6"/>
          <p:cNvSpPr/>
          <p:nvPr/>
        </p:nvSpPr>
        <p:spPr>
          <a:xfrm>
            <a:off x="1298448" y="4526280"/>
            <a:ext cx="32004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00C896"/>
                </a:solidFill>
                <a:latin typeface="Trebuchet MS"/>
                <a:ea typeface="Trebuchet MS"/>
                <a:cs typeface="Trebuchet MS"/>
                <a:sym typeface="Trebuchet MS"/>
              </a:rPr>
              <a:t>✅ kubectl rollout restart executed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6"/>
          <p:cNvSpPr/>
          <p:nvPr/>
        </p:nvSpPr>
        <p:spPr>
          <a:xfrm>
            <a:off x="4480560" y="4526280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deployment.apps/target-app restarted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6"/>
          <p:cNvSpPr/>
          <p:nvPr/>
        </p:nvSpPr>
        <p:spPr>
          <a:xfrm>
            <a:off x="6675120" y="1298448"/>
            <a:ext cx="2194560" cy="365760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6"/>
          <p:cNvSpPr/>
          <p:nvPr/>
        </p:nvSpPr>
        <p:spPr>
          <a:xfrm>
            <a:off x="6675120" y="1298448"/>
            <a:ext cx="2194560" cy="320040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6"/>
          <p:cNvSpPr/>
          <p:nvPr/>
        </p:nvSpPr>
        <p:spPr>
          <a:xfrm>
            <a:off x="6675120" y="1298448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👁️ SHOW STUDENTS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6"/>
          <p:cNvSpPr/>
          <p:nvPr/>
        </p:nvSpPr>
        <p:spPr>
          <a:xfrm>
            <a:off x="6784848" y="1691640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→ n8n execution trace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6784848" y="2103120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→ S5 nodes lighting up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6"/>
          <p:cNvSpPr/>
          <p:nvPr/>
        </p:nvSpPr>
        <p:spPr>
          <a:xfrm>
            <a:off x="6784848" y="2514600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→ Gemini tool calls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6784848" y="2926080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→ SQLite incident created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6"/>
          <p:cNvSpPr/>
          <p:nvPr/>
        </p:nvSpPr>
        <p:spPr>
          <a:xfrm>
            <a:off x="6784848" y="3337560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→ Dashboard chat message arrives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6"/>
          <p:cNvSpPr/>
          <p:nvPr/>
        </p:nvSpPr>
        <p:spPr>
          <a:xfrm>
            <a:off x="6784848" y="3749040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→ S4 approval flow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6"/>
          <p:cNvSpPr/>
          <p:nvPr/>
        </p:nvSpPr>
        <p:spPr>
          <a:xfrm>
            <a:off x="6784848" y="4160520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→ Mark resolved in DB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6"/>
          <p:cNvSpPr/>
          <p:nvPr/>
        </p:nvSpPr>
        <p:spPr>
          <a:xfrm>
            <a:off x="6784848" y="4572000"/>
            <a:ext cx="1965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→ Dashboard audit panel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TextBox 339"/>
          <p:cNvSpPr txBox="1"/>
          <p:nvPr/>
        </p:nvSpPr>
        <p:spPr>
          <a:xfrm>
            <a:off x="365760" y="4718304"/>
            <a:ext cx="841248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00D4FF"/>
                </a:solidFill>
                <a:latin typeface="Consolas"/>
              </a:rPr>
              <a:t>▶  Replay live — open ◆ ARCHITECTURE → the Incident Lifecycle tab to watch alert → approve → execute animated.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80C18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B2FFF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7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4 — HUMAN-IN-THE-LOOP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7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Incident Audit Dashboard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8" name="Google Shape;348;p7"/>
          <p:cNvCxnSpPr/>
          <p:nvPr/>
        </p:nvCxnSpPr>
        <p:spPr>
          <a:xfrm>
            <a:off x="457200" y="1143000"/>
            <a:ext cx="8229600" cy="0"/>
          </a:xfrm>
          <a:prstGeom prst="straightConnector1">
            <a:avLst/>
          </a:prstGeom>
          <a:noFill/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9" name="Google Shape;349;p7"/>
          <p:cNvSpPr/>
          <p:nvPr/>
        </p:nvSpPr>
        <p:spPr>
          <a:xfrm>
            <a:off x="274320" y="1298448"/>
            <a:ext cx="5029200" cy="3611880"/>
          </a:xfrm>
          <a:prstGeom prst="rect">
            <a:avLst/>
          </a:prstGeom>
          <a:solidFill>
            <a:srgbClr val="0A0E1A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254000" rotWithShape="0" algn="bl" dir="8100000" dist="50800">
              <a:srgbClr val="000000">
                <a:alpha val="5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7"/>
          <p:cNvSpPr/>
          <p:nvPr/>
        </p:nvSpPr>
        <p:spPr>
          <a:xfrm>
            <a:off x="274320" y="1298448"/>
            <a:ext cx="5029200" cy="347472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7"/>
          <p:cNvSpPr/>
          <p:nvPr/>
        </p:nvSpPr>
        <p:spPr>
          <a:xfrm>
            <a:off x="384048" y="1298448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🔐 INCIDENT AUDIT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7"/>
          <p:cNvSpPr/>
          <p:nvPr/>
        </p:nvSpPr>
        <p:spPr>
          <a:xfrm>
            <a:off x="4114800" y="1298448"/>
            <a:ext cx="1097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REFRESH    CLEAR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7"/>
          <p:cNvSpPr/>
          <p:nvPr/>
        </p:nvSpPr>
        <p:spPr>
          <a:xfrm>
            <a:off x="274320" y="1645920"/>
            <a:ext cx="5029200" cy="237744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7"/>
          <p:cNvSpPr/>
          <p:nvPr/>
        </p:nvSpPr>
        <p:spPr>
          <a:xfrm>
            <a:off x="347472" y="1645920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#key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7"/>
          <p:cNvSpPr/>
          <p:nvPr/>
        </p:nvSpPr>
        <p:spPr>
          <a:xfrm>
            <a:off x="932688" y="164592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alertname — pod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7"/>
          <p:cNvSpPr/>
          <p:nvPr/>
        </p:nvSpPr>
        <p:spPr>
          <a:xfrm>
            <a:off x="3383280" y="1645920"/>
            <a:ext cx="7315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status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7"/>
          <p:cNvSpPr/>
          <p:nvPr/>
        </p:nvSpPr>
        <p:spPr>
          <a:xfrm>
            <a:off x="4297680" y="1645920"/>
            <a:ext cx="822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1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time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7"/>
          <p:cNvSpPr/>
          <p:nvPr/>
        </p:nvSpPr>
        <p:spPr>
          <a:xfrm>
            <a:off x="347472" y="193852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7B2FFF"/>
                </a:solidFill>
                <a:latin typeface="Consolas"/>
                <a:ea typeface="Consolas"/>
                <a:cs typeface="Consolas"/>
                <a:sym typeface="Consolas"/>
              </a:rPr>
              <a:t>#bgy4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7"/>
          <p:cNvSpPr/>
          <p:nvPr/>
        </p:nvSpPr>
        <p:spPr>
          <a:xfrm>
            <a:off x="932688" y="193852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TargetAppCPUStress — xyz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7"/>
          <p:cNvSpPr/>
          <p:nvPr/>
        </p:nvSpPr>
        <p:spPr>
          <a:xfrm>
            <a:off x="3383280" y="1938528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00C896"/>
                </a:solidFill>
                <a:latin typeface="Calibri"/>
                <a:ea typeface="Calibri"/>
                <a:cs typeface="Calibri"/>
                <a:sym typeface="Calibri"/>
              </a:rPr>
              <a:t>resolved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7"/>
          <p:cNvSpPr/>
          <p:nvPr/>
        </p:nvSpPr>
        <p:spPr>
          <a:xfrm>
            <a:off x="4297680" y="1938528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16:36z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7"/>
          <p:cNvSpPr/>
          <p:nvPr/>
        </p:nvSpPr>
        <p:spPr>
          <a:xfrm>
            <a:off x="274320" y="2350008"/>
            <a:ext cx="5029200" cy="365760"/>
          </a:xfrm>
          <a:prstGeom prst="rect">
            <a:avLst/>
          </a:prstGeom>
          <a:solidFill>
            <a:srgbClr val="0D1F3C"/>
          </a:solidFill>
          <a:ln cap="flat" cmpd="sng" w="9525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7"/>
          <p:cNvSpPr/>
          <p:nvPr/>
        </p:nvSpPr>
        <p:spPr>
          <a:xfrm>
            <a:off x="347472" y="235000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7B2FFF"/>
                </a:solidFill>
                <a:latin typeface="Consolas"/>
                <a:ea typeface="Consolas"/>
                <a:cs typeface="Consolas"/>
                <a:sym typeface="Consolas"/>
              </a:rPr>
              <a:t>#k42a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7"/>
          <p:cNvSpPr/>
          <p:nvPr/>
        </p:nvSpPr>
        <p:spPr>
          <a:xfrm>
            <a:off x="932688" y="235000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TargetAppMemoryLeak — abc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7"/>
          <p:cNvSpPr/>
          <p:nvPr/>
        </p:nvSpPr>
        <p:spPr>
          <a:xfrm>
            <a:off x="3383280" y="2350008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pending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7"/>
          <p:cNvSpPr/>
          <p:nvPr/>
        </p:nvSpPr>
        <p:spPr>
          <a:xfrm>
            <a:off x="4297680" y="2350008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16:45z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"/>
          <p:cNvSpPr/>
          <p:nvPr/>
        </p:nvSpPr>
        <p:spPr>
          <a:xfrm>
            <a:off x="347472" y="276148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7B2FFF"/>
                </a:solidFill>
                <a:latin typeface="Consolas"/>
                <a:ea typeface="Consolas"/>
                <a:cs typeface="Consolas"/>
                <a:sym typeface="Consolas"/>
              </a:rPr>
              <a:t>#7u2s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7"/>
          <p:cNvSpPr/>
          <p:nvPr/>
        </p:nvSpPr>
        <p:spPr>
          <a:xfrm>
            <a:off x="932688" y="276148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TargetAppHighErrorRate — xyz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7"/>
          <p:cNvSpPr/>
          <p:nvPr/>
        </p:nvSpPr>
        <p:spPr>
          <a:xfrm>
            <a:off x="3383280" y="2761488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pending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7"/>
          <p:cNvSpPr/>
          <p:nvPr/>
        </p:nvSpPr>
        <p:spPr>
          <a:xfrm>
            <a:off x="4297680" y="2761488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16:52z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7"/>
          <p:cNvSpPr/>
          <p:nvPr/>
        </p:nvSpPr>
        <p:spPr>
          <a:xfrm>
            <a:off x="347472" y="317296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7B2FFF"/>
                </a:solidFill>
                <a:latin typeface="Consolas"/>
                <a:ea typeface="Consolas"/>
                <a:cs typeface="Consolas"/>
                <a:sym typeface="Consolas"/>
              </a:rPr>
              <a:t>#cwbz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7"/>
          <p:cNvSpPr/>
          <p:nvPr/>
        </p:nvSpPr>
        <p:spPr>
          <a:xfrm>
            <a:off x="932688" y="317296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TargetAppCPUStress — abc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7"/>
          <p:cNvSpPr/>
          <p:nvPr/>
        </p:nvSpPr>
        <p:spPr>
          <a:xfrm>
            <a:off x="3383280" y="3172968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dismissed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7"/>
          <p:cNvSpPr/>
          <p:nvPr/>
        </p:nvSpPr>
        <p:spPr>
          <a:xfrm>
            <a:off x="4297680" y="3172968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15:30z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7"/>
          <p:cNvSpPr/>
          <p:nvPr/>
        </p:nvSpPr>
        <p:spPr>
          <a:xfrm>
            <a:off x="347472" y="3584448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900"/>
              <a:buFont typeface="Consolas"/>
              <a:buNone/>
            </a:pPr>
            <a:r>
              <a:rPr b="1" i="0" lang="en-US" sz="900" u="none" cap="none" strike="noStrike">
                <a:solidFill>
                  <a:srgbClr val="7B2FFF"/>
                </a:solidFill>
                <a:latin typeface="Consolas"/>
                <a:ea typeface="Consolas"/>
                <a:cs typeface="Consolas"/>
                <a:sym typeface="Consolas"/>
              </a:rPr>
              <a:t>#45np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7"/>
          <p:cNvSpPr/>
          <p:nvPr/>
        </p:nvSpPr>
        <p:spPr>
          <a:xfrm>
            <a:off x="932688" y="3584448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TargetAppCrashLooping — xyz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7"/>
          <p:cNvSpPr/>
          <p:nvPr/>
        </p:nvSpPr>
        <p:spPr>
          <a:xfrm>
            <a:off x="3383280" y="3584448"/>
            <a:ext cx="731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pending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7"/>
          <p:cNvSpPr/>
          <p:nvPr/>
        </p:nvSpPr>
        <p:spPr>
          <a:xfrm>
            <a:off x="4297680" y="3584448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15:34z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7"/>
          <p:cNvSpPr/>
          <p:nvPr/>
        </p:nvSpPr>
        <p:spPr>
          <a:xfrm>
            <a:off x="320040" y="3977640"/>
            <a:ext cx="4937760" cy="804672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7B2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7"/>
          <p:cNvSpPr/>
          <p:nvPr/>
        </p:nvSpPr>
        <p:spPr>
          <a:xfrm>
            <a:off x="438912" y="4005072"/>
            <a:ext cx="4663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2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7B2FFF"/>
                </a:solidFill>
                <a:latin typeface="Trebuchet MS"/>
                <a:ea typeface="Trebuchet MS"/>
                <a:cs typeface="Trebuchet MS"/>
                <a:sym typeface="Trebuchet MS"/>
              </a:rPr>
              <a:t>#k42a — TargetAppMemoryLeak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7"/>
          <p:cNvSpPr/>
          <p:nvPr/>
        </p:nvSpPr>
        <p:spPr>
          <a:xfrm>
            <a:off x="438912" y="4224528"/>
            <a:ext cx="4663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📍 target-app-abc / workshop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7"/>
          <p:cNvSpPr/>
          <p:nvPr/>
        </p:nvSpPr>
        <p:spPr>
          <a:xfrm>
            <a:off x="438912" y="4407408"/>
            <a:ext cx="4663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896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00C896"/>
                </a:solidFill>
                <a:latin typeface="Consolas"/>
                <a:ea typeface="Consolas"/>
                <a:cs typeface="Consolas"/>
                <a:sym typeface="Consolas"/>
              </a:rPr>
              <a:t>CMD:  rollout restart deployment/target-app -n workshop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7"/>
          <p:cNvSpPr/>
          <p:nvPr/>
        </p:nvSpPr>
        <p:spPr>
          <a:xfrm>
            <a:off x="4754880" y="4590288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700"/>
              <a:buFont typeface="Consolas"/>
              <a:buNone/>
            </a:pPr>
            <a:r>
              <a:rPr b="0" i="0" lang="en-US" sz="7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[CLOSE]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7"/>
          <p:cNvSpPr/>
          <p:nvPr/>
        </p:nvSpPr>
        <p:spPr>
          <a:xfrm>
            <a:off x="5577840" y="1298448"/>
            <a:ext cx="3291840" cy="3611880"/>
          </a:xfrm>
          <a:prstGeom prst="rect">
            <a:avLst/>
          </a:prstGeom>
          <a:solidFill>
            <a:srgbClr val="0F1729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7"/>
          <p:cNvSpPr/>
          <p:nvPr/>
        </p:nvSpPr>
        <p:spPr>
          <a:xfrm>
            <a:off x="5577840" y="1298448"/>
            <a:ext cx="3291840" cy="384048"/>
          </a:xfrm>
          <a:prstGeom prst="rect">
            <a:avLst/>
          </a:prstGeom>
          <a:solidFill>
            <a:srgbClr val="0D1F3C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7"/>
          <p:cNvSpPr/>
          <p:nvPr/>
        </p:nvSpPr>
        <p:spPr>
          <a:xfrm>
            <a:off x="5577840" y="1298448"/>
            <a:ext cx="3291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Trebuchet MS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📋  WHAT THIS TEACHES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7"/>
          <p:cNvSpPr/>
          <p:nvPr/>
        </p:nvSpPr>
        <p:spPr>
          <a:xfrm>
            <a:off x="5669280" y="1783080"/>
            <a:ext cx="3474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👁️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7"/>
          <p:cNvSpPr/>
          <p:nvPr/>
        </p:nvSpPr>
        <p:spPr>
          <a:xfrm>
            <a:off x="6080760" y="1801368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Observability: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7"/>
          <p:cNvSpPr/>
          <p:nvPr/>
        </p:nvSpPr>
        <p:spPr>
          <a:xfrm>
            <a:off x="6080760" y="2002536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Every incident is visible. Nothing is a black box.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7"/>
          <p:cNvSpPr/>
          <p:nvPr/>
        </p:nvSpPr>
        <p:spPr>
          <a:xfrm>
            <a:off x="5669280" y="2286000"/>
            <a:ext cx="3474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7"/>
          <p:cNvSpPr/>
          <p:nvPr/>
        </p:nvSpPr>
        <p:spPr>
          <a:xfrm>
            <a:off x="6080760" y="2304288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Status lifecycle: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7"/>
          <p:cNvSpPr/>
          <p:nvPr/>
        </p:nvSpPr>
        <p:spPr>
          <a:xfrm>
            <a:off x="6080760" y="2505456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pending → approved → resolved (or dismissed)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7"/>
          <p:cNvSpPr/>
          <p:nvPr/>
        </p:nvSpPr>
        <p:spPr>
          <a:xfrm>
            <a:off x="5669280" y="2788920"/>
            <a:ext cx="3474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7"/>
          <p:cNvSpPr/>
          <p:nvPr/>
        </p:nvSpPr>
        <p:spPr>
          <a:xfrm>
            <a:off x="6080760" y="2807208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Idempotency: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7"/>
          <p:cNvSpPr/>
          <p:nvPr/>
        </p:nvSpPr>
        <p:spPr>
          <a:xfrm>
            <a:off x="6080760" y="3008376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Resolved incidents CANNOT be re-executed — system prevents it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7"/>
          <p:cNvSpPr/>
          <p:nvPr/>
        </p:nvSpPr>
        <p:spPr>
          <a:xfrm>
            <a:off x="5669280" y="3291840"/>
            <a:ext cx="3474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7"/>
          <p:cNvSpPr/>
          <p:nvPr/>
        </p:nvSpPr>
        <p:spPr>
          <a:xfrm>
            <a:off x="6080760" y="3310128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Accountability: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7"/>
          <p:cNvSpPr/>
          <p:nvPr/>
        </p:nvSpPr>
        <p:spPr>
          <a:xfrm>
            <a:off x="6080760" y="3511296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approvedBy + timestamp logged for every execution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7"/>
          <p:cNvSpPr/>
          <p:nvPr/>
        </p:nvSpPr>
        <p:spPr>
          <a:xfrm>
            <a:off x="5669280" y="3794760"/>
            <a:ext cx="3474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🗄️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7"/>
          <p:cNvSpPr/>
          <p:nvPr/>
        </p:nvSpPr>
        <p:spPr>
          <a:xfrm>
            <a:off x="6080760" y="3813048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Persistence: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7"/>
          <p:cNvSpPr/>
          <p:nvPr/>
        </p:nvSpPr>
        <p:spPr>
          <a:xfrm>
            <a:off x="6080760" y="4014216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PVC (persistent volume) — survives pod restarts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7"/>
          <p:cNvSpPr/>
          <p:nvPr/>
        </p:nvSpPr>
        <p:spPr>
          <a:xfrm>
            <a:off x="5669280" y="4297680"/>
            <a:ext cx="34747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7"/>
          <p:cNvSpPr/>
          <p:nvPr/>
        </p:nvSpPr>
        <p:spPr>
          <a:xfrm>
            <a:off x="6080760" y="4315968"/>
            <a:ext cx="11887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00D4FF"/>
                </a:solidFill>
                <a:latin typeface="Trebuchet MS"/>
                <a:ea typeface="Trebuchet MS"/>
                <a:cs typeface="Trebuchet MS"/>
                <a:sym typeface="Trebuchet MS"/>
              </a:rPr>
              <a:t>Auto-refresh: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7"/>
          <p:cNvSpPr/>
          <p:nvPr/>
        </p:nvSpPr>
        <p:spPr>
          <a:xfrm>
            <a:off x="6080760" y="4517136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Dashboard polls every 30s — students see live updates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8"/>
        </a:solidFill>
      </p:bgPr>
    </p:bg>
    <p:spTree>
      <p:nvGrpSpPr>
        <p:cNvPr id="1" name=""/>
        <p:cNvGrpSpPr/>
        <p:nvPr/>
      </p:nvGrpSpPr>
      <p:grpSpPr/>
      <p:sp>
        <p:nvSpPr>
          <p:cNvPr id="156" name="Google Shape;156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6A5E4"/>
          </a:solidFill>
          <a:ln cap="flat" cmpd="sng" w="12700">
            <a:solidFill>
              <a:srgbClr val="26A5E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457200" y="1828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D4FF"/>
                </a:solidFill>
                <a:latin typeface="Consolas"/>
                <a:ea typeface="Consolas"/>
                <a:cs typeface="Consolas"/>
                <a:sym typeface="Consolas"/>
              </a:rPr>
              <a:t>SECTION 4 — DEEP DIVE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Trebuchet M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The Approval Gate — the code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Rounded Rectangle 158"/>
          <p:cNvSpPr/>
          <p:nvPr/>
        </p:nvSpPr>
        <p:spPr>
          <a:xfrm>
            <a:off x="365760" y="1170432"/>
            <a:ext cx="4160520" cy="324612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1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30352" y="1280160"/>
            <a:ext cx="3831335" cy="3026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00D4FF"/>
                </a:solidFill>
                <a:latin typeface="Consolas"/>
              </a:rPr>
              <a:t>Route → Validate (split &amp; parse)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// Route Message — query vs approval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route = text.startsWith('/approve ')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        ? 'approval' : 'query';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// Validate Approval — /approve &lt;totp&gt; &lt;key&gt;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const p = text.split(' ');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return { token: p[1], incidentKey: p[2],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       approvedBy: from, useKey: true };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⚡ TOTP is NOT checked here — only parsed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4617720" y="1170432"/>
            <a:ext cx="4160520" cy="3246120"/>
          </a:xfrm>
          <a:prstGeom prst="roundRect">
            <a:avLst/>
          </a:prstGeom>
          <a:solidFill>
            <a:srgbClr val="101B2E"/>
          </a:solidFill>
          <a:ln w="12700">
            <a:solidFill>
              <a:srgbClr val="21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4782312" y="1280160"/>
            <a:ext cx="3831335" cy="3026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35E09A"/>
                </a:solidFill>
                <a:latin typeface="Consolas"/>
              </a:rPr>
              <a:t>Execute Write — the gated call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// command comes from the incident (by key)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command = FetchIncident.command;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/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POST mcp-server…:8000/tools/kubectl-write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body = {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command,            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8C9AB0"/>
                </a:solidFill>
                <a:latin typeface="Consolas"/>
              </a:rPr>
              <a:t>// bare, no "kubectl"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  approval_token: token,   </a:t>
            </a:r>
          </a:p>
          <a:p>
            <a:pPr>
              <a:spcAft>
                <a:spcPts val="100"/>
              </a:spcAft>
            </a:pPr>
            <a:r>
              <a:rPr sz="850" b="1">
                <a:solidFill>
                  <a:srgbClr val="00D4FF"/>
                </a:solidFill>
                <a:latin typeface="Consolas"/>
              </a:rPr>
              <a:t>// ← TOTP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  approved_by: approvedBy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CBD6E6"/>
                </a:solidFill>
                <a:latin typeface="Consolas"/>
              </a:rPr>
              <a:t>}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MCP: pyotp.TOTP(SECRET).verify(token,±30s)</a:t>
            </a:r>
          </a:p>
          <a:p>
            <a:pPr>
              <a:spcAft>
                <a:spcPts val="100"/>
              </a:spcAft>
            </a:pPr>
            <a:r>
              <a:rPr sz="850" b="0">
                <a:solidFill>
                  <a:srgbClr val="FFC44D"/>
                </a:solidFill>
                <a:latin typeface="Consolas"/>
              </a:rPr>
              <a:t>invalid → 403, no write ever runs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365760" y="4626864"/>
            <a:ext cx="8412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35E09A"/>
                </a:solidFill>
                <a:latin typeface="Consolas"/>
              </a:rPr>
              <a:t>Two guards before any write: ① pending-only (a resolved incident can't re-run) · ② TOTP verified at MCP, not in n8n.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2026-04-12T18:52:25Z</dcterms:created>
  <dc:creator>PptxGenJS</dc:creator>
</cp:coreProperties>
</file>
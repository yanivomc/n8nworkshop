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77" r:id="rId27"/>
    <p:sldId id="261" r:id="rId10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1" roundtripDataSignature="AMtx7mikoRUiwz0ULN85vpRU8McKsgXz1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customschemas.google.com/relationships/presentationmetadata" Target="metadata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" name="Google Shape;4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C18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00D4FF">
              <a:alpha val="10196"/>
            </a:srgbClr>
          </a:solidFill>
          <a:ln cap="flat" cmpd="sng" w="12700">
            <a:solidFill>
              <a:srgbClr val="00D4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6583680" y="-731520"/>
            <a:ext cx="3200400" cy="3200400"/>
          </a:xfrm>
          <a:prstGeom prst="ellipse">
            <a:avLst/>
          </a:prstGeom>
          <a:solidFill>
            <a:srgbClr val="7B2FFF">
              <a:alpha val="7843"/>
            </a:srgbClr>
          </a:solidFill>
          <a:ln cap="flat" cmpd="sng" w="12700">
            <a:solidFill>
              <a:srgbClr val="7B2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320040" y="41148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onsolas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CLAW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1581912" y="411480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3600"/>
              <a:buFont typeface="Consolas"/>
              <a:buNone/>
            </a:pPr>
            <a:r>
              <a:rPr b="1" i="0" lang="en-US" sz="36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OPS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" name="Google Shape;21;p1"/>
          <p:cNvCxnSpPr/>
          <p:nvPr/>
        </p:nvCxnSpPr>
        <p:spPr>
          <a:xfrm>
            <a:off x="320040" y="1005840"/>
            <a:ext cx="4114800" cy="0"/>
          </a:xfrm>
          <a:prstGeom prst="straightConnector1">
            <a:avLst/>
          </a:prstGeom>
          <a:noFill/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1"/>
          <p:cNvSpPr/>
          <p:nvPr/>
        </p:nvSpPr>
        <p:spPr>
          <a:xfrm>
            <a:off x="320040" y="114300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Trebuchet MS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n8n for Advanced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320040" y="173736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4200"/>
              <a:buFont typeface="Trebuchet MS"/>
              <a:buNone/>
            </a:pPr>
            <a:r>
              <a:rPr b="1" i="0" lang="en-US" sz="42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DevOps Automation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320040" y="2560320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Event-Driven Reactions · Alert Intelligence · Controlled Remediation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320040" y="3108960"/>
            <a:ext cx="2011680" cy="411480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  <a:effectLst>
            <a:outerShdw blurRad="254000" rotWithShape="0" algn="bl" dir="8100000" dist="5080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320040" y="310896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0C18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080C18"/>
                </a:solidFill>
                <a:latin typeface="Trebuchet MS"/>
                <a:ea typeface="Trebuchet MS"/>
                <a:cs typeface="Trebuchet MS"/>
                <a:sym typeface="Trebuchet MS"/>
              </a:rPr>
              <a:t>8-HOUR WORKSHOP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2423160" y="3108960"/>
            <a:ext cx="1645920" cy="411480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2423160" y="3108960"/>
            <a:ext cx="1645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8892A4"/>
                </a:solidFill>
                <a:latin typeface="Trebuchet MS"/>
                <a:ea typeface="Trebuchet MS"/>
                <a:cs typeface="Trebuchet MS"/>
                <a:sym typeface="Trebuchet MS"/>
              </a:rPr>
              <a:t>RADWARE × N8N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320040" y="43891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Building AI-assisted incident command for Kubernetes environments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7406640" y="1188720"/>
            <a:ext cx="1463040" cy="457200"/>
          </a:xfrm>
          <a:prstGeom prst="rect">
            <a:avLst/>
          </a:prstGeom>
          <a:solidFill>
            <a:srgbClr val="0F1729"/>
          </a:solidFill>
          <a:ln cap="flat" cmpd="sng" w="1905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1"/>
          <p:cNvSpPr/>
          <p:nvPr/>
        </p:nvSpPr>
        <p:spPr>
          <a:xfrm>
            <a:off x="7406640" y="1188720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n8n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7406640" y="1874520"/>
            <a:ext cx="1463040" cy="457200"/>
          </a:xfrm>
          <a:prstGeom prst="rect">
            <a:avLst/>
          </a:prstGeom>
          <a:solidFill>
            <a:srgbClr val="0F1729"/>
          </a:solidFill>
          <a:ln cap="flat" cmpd="sng" w="19050">
            <a:solidFill>
              <a:srgbClr val="7B2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1"/>
          <p:cNvSpPr/>
          <p:nvPr/>
        </p:nvSpPr>
        <p:spPr>
          <a:xfrm>
            <a:off x="7406640" y="1874520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FFF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7B2FFF"/>
                </a:solidFill>
                <a:latin typeface="Consolas"/>
                <a:ea typeface="Consolas"/>
                <a:cs typeface="Consolas"/>
                <a:sym typeface="Consolas"/>
              </a:rPr>
              <a:t>Gemini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7406640" y="2560320"/>
            <a:ext cx="1463040" cy="457200"/>
          </a:xfrm>
          <a:prstGeom prst="rect">
            <a:avLst/>
          </a:prstGeom>
          <a:solidFill>
            <a:srgbClr val="0F1729"/>
          </a:solidFill>
          <a:ln cap="flat" cmpd="sng" w="1905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1"/>
          <p:cNvSpPr/>
          <p:nvPr/>
        </p:nvSpPr>
        <p:spPr>
          <a:xfrm>
            <a:off x="7406640" y="2560320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00C896"/>
                </a:solidFill>
                <a:latin typeface="Consolas"/>
                <a:ea typeface="Consolas"/>
                <a:cs typeface="Consolas"/>
                <a:sym typeface="Consolas"/>
              </a:rPr>
              <a:t>Kubernetes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1"/>
          <p:cNvSpPr/>
          <p:nvPr/>
        </p:nvSpPr>
        <p:spPr>
          <a:xfrm>
            <a:off x="7406640" y="3246120"/>
            <a:ext cx="1463040" cy="457200"/>
          </a:xfrm>
          <a:prstGeom prst="rect">
            <a:avLst/>
          </a:prstGeom>
          <a:solidFill>
            <a:srgbClr val="0F1729"/>
          </a:solidFill>
          <a:ln cap="flat" cmpd="sng" w="1905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1"/>
          <p:cNvSpPr/>
          <p:nvPr/>
        </p:nvSpPr>
        <p:spPr>
          <a:xfrm>
            <a:off x="7406640" y="3246120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FF6B35"/>
                </a:solidFill>
                <a:latin typeface="Consolas"/>
                <a:ea typeface="Consolas"/>
                <a:cs typeface="Consolas"/>
                <a:sym typeface="Consolas"/>
              </a:rPr>
              <a:t>Prometheus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1"/>
          <p:cNvSpPr/>
          <p:nvPr/>
        </p:nvSpPr>
        <p:spPr>
          <a:xfrm>
            <a:off x="7406640" y="3931920"/>
            <a:ext cx="1463040" cy="457200"/>
          </a:xfrm>
          <a:prstGeom prst="rect">
            <a:avLst/>
          </a:prstGeom>
          <a:solidFill>
            <a:srgbClr val="0F1729"/>
          </a:solidFill>
          <a:ln cap="flat" cmpd="sng" w="19050">
            <a:solidFill>
              <a:srgbClr val="26A5E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1"/>
          <p:cNvSpPr/>
          <p:nvPr/>
        </p:nvSpPr>
        <p:spPr>
          <a:xfrm>
            <a:off x="7406640" y="3931920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A5E4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26A5E4"/>
                </a:solidFill>
                <a:latin typeface="Consolas"/>
                <a:ea typeface="Consolas"/>
                <a:cs typeface="Consolas"/>
                <a:sym typeface="Consolas"/>
              </a:rPr>
              <a:t>Dashboard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C18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457200" y="1828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SECTION 1 — OPENING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Who Is This For?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" name="Google Shape;48;p2"/>
          <p:cNvCxnSpPr/>
          <p:nvPr/>
        </p:nvCxnSpPr>
        <p:spPr>
          <a:xfrm>
            <a:off x="457200" y="1143000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" name="Google Shape;49;p2"/>
          <p:cNvSpPr/>
          <p:nvPr/>
        </p:nvSpPr>
        <p:spPr>
          <a:xfrm>
            <a:off x="457200" y="1325880"/>
            <a:ext cx="3931920" cy="3291840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457200" y="1325880"/>
            <a:ext cx="3931920" cy="411480"/>
          </a:xfrm>
          <a:prstGeom prst="rect">
            <a:avLst/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457200" y="1325880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🎯  TARGET AUDIENCE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685800" y="1920240"/>
            <a:ext cx="228600" cy="228600"/>
          </a:xfrm>
          <a:prstGeom prst="ellipse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1005840" y="190195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Senior DevOps Engineers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685800" y="2542032"/>
            <a:ext cx="228600" cy="228600"/>
          </a:xfrm>
          <a:prstGeom prst="ellipse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"/>
          <p:cNvSpPr/>
          <p:nvPr/>
        </p:nvSpPr>
        <p:spPr>
          <a:xfrm>
            <a:off x="1005840" y="2523744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Platform / SRE Engineers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685800" y="3163824"/>
            <a:ext cx="228600" cy="228600"/>
          </a:xfrm>
          <a:prstGeom prst="ellipse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1005840" y="3145536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Cloud Infrastructure Engineers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685800" y="3785616"/>
            <a:ext cx="228600" cy="228600"/>
          </a:xfrm>
          <a:prstGeom prst="ellipse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2"/>
          <p:cNvSpPr/>
          <p:nvPr/>
        </p:nvSpPr>
        <p:spPr>
          <a:xfrm>
            <a:off x="1005840" y="3767328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DevOps Tech Leads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4754880" y="1325880"/>
            <a:ext cx="3931920" cy="3291840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2"/>
          <p:cNvSpPr/>
          <p:nvPr/>
        </p:nvSpPr>
        <p:spPr>
          <a:xfrm>
            <a:off x="4754880" y="1325880"/>
            <a:ext cx="3931920" cy="411480"/>
          </a:xfrm>
          <a:prstGeom prst="rect">
            <a:avLst/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"/>
          <p:cNvSpPr/>
          <p:nvPr/>
        </p:nvSpPr>
        <p:spPr>
          <a:xfrm>
            <a:off x="4754880" y="1325880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00C896"/>
                </a:solidFill>
                <a:latin typeface="Trebuchet MS"/>
                <a:ea typeface="Trebuchet MS"/>
                <a:cs typeface="Trebuchet MS"/>
                <a:sym typeface="Trebuchet MS"/>
              </a:rPr>
              <a:t>✅  PREREQUISITES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4983480" y="1901952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Kubernetes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4983480" y="2130552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Pods, deployments, namespaces, kubectl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4983480" y="2560320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Docker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4983480" y="2788920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Images, containers, compose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4983480" y="3218688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Prometheus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4983480" y="3447288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Metrics, PromQL, alert rules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4983480" y="3877056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n8n basics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4983480" y="4105656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Nodes, workflows, triggers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solidFill>
            <a:srgbClr val="FF6B35">
              <a:alpha val="14901"/>
            </a:srgbClr>
          </a:solidFill>
          <a:ln cap="flat" cmpd="sng" w="12700">
            <a:solidFill>
              <a:srgbClr val="FF6B35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2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⚠️  This is intentionally advanced. Basic automation is NOT the goal — guarded, auditable automation is.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C18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457200" y="1828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SECTION 1 — OPENING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The Problem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1" name="Google Shape;81;p3"/>
          <p:cNvCxnSpPr/>
          <p:nvPr/>
        </p:nvCxnSpPr>
        <p:spPr>
          <a:xfrm>
            <a:off x="457200" y="1143000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" name="Google Shape;82;p3"/>
          <p:cNvSpPr/>
          <p:nvPr/>
        </p:nvSpPr>
        <p:spPr>
          <a:xfrm>
            <a:off x="457200" y="1325880"/>
            <a:ext cx="2651760" cy="3383280"/>
          </a:xfrm>
          <a:prstGeom prst="rect">
            <a:avLst/>
          </a:prstGeom>
          <a:solidFill>
            <a:srgbClr val="0F1729"/>
          </a:solidFill>
          <a:ln cap="flat" cmpd="sng" w="1905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457200" y="1325880"/>
            <a:ext cx="2651760" cy="73152"/>
          </a:xfrm>
          <a:prstGeom prst="rect">
            <a:avLst/>
          </a:prstGeom>
          <a:solidFill>
            <a:srgbClr val="FF6B35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3"/>
          <p:cNvSpPr/>
          <p:nvPr/>
        </p:nvSpPr>
        <p:spPr>
          <a:xfrm>
            <a:off x="457200" y="1508760"/>
            <a:ext cx="2651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🔔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457200" y="224028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FF6B35"/>
                </a:solidFill>
                <a:latin typeface="Trebuchet MS"/>
                <a:ea typeface="Trebuchet MS"/>
                <a:cs typeface="Trebuchet MS"/>
                <a:sym typeface="Trebuchet MS"/>
              </a:rPr>
              <a:t>Alert Fatigue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594360" y="2697480"/>
            <a:ext cx="237744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Prometheus fires 200 alerts a night. Engineers stop looking. Critical issues are buried in noise.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3355848" y="1325880"/>
            <a:ext cx="2651760" cy="3383280"/>
          </a:xfrm>
          <a:prstGeom prst="rect">
            <a:avLst/>
          </a:prstGeom>
          <a:solidFill>
            <a:srgbClr val="0F1729"/>
          </a:solidFill>
          <a:ln cap="flat" cmpd="sng" w="19050">
            <a:solidFill>
              <a:srgbClr val="7B2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3"/>
          <p:cNvSpPr/>
          <p:nvPr/>
        </p:nvSpPr>
        <p:spPr>
          <a:xfrm>
            <a:off x="3355848" y="1325880"/>
            <a:ext cx="2651760" cy="73152"/>
          </a:xfrm>
          <a:prstGeom prst="rect">
            <a:avLst/>
          </a:prstGeom>
          <a:solidFill>
            <a:srgbClr val="7B2FFF"/>
          </a:solidFill>
          <a:ln cap="flat" cmpd="sng" w="12700">
            <a:solidFill>
              <a:srgbClr val="7B2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"/>
          <p:cNvSpPr/>
          <p:nvPr/>
        </p:nvSpPr>
        <p:spPr>
          <a:xfrm>
            <a:off x="3355848" y="1508760"/>
            <a:ext cx="2651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🤖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3355848" y="224028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FFF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7B2FFF"/>
                </a:solidFill>
                <a:latin typeface="Trebuchet MS"/>
                <a:ea typeface="Trebuchet MS"/>
                <a:cs typeface="Trebuchet MS"/>
                <a:sym typeface="Trebuchet MS"/>
              </a:rPr>
              <a:t>Blind Auto-Healing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3493008" y="2697480"/>
            <a:ext cx="237744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Scripts restart pods without checking why. Same crash repeats. Automation causes more damage than it fixes.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6254496" y="1325880"/>
            <a:ext cx="2651760" cy="3383280"/>
          </a:xfrm>
          <a:prstGeom prst="rect">
            <a:avLst/>
          </a:prstGeom>
          <a:solidFill>
            <a:srgbClr val="0F1729"/>
          </a:solidFill>
          <a:ln cap="flat" cmpd="sng" w="1905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"/>
          <p:cNvSpPr/>
          <p:nvPr/>
        </p:nvSpPr>
        <p:spPr>
          <a:xfrm>
            <a:off x="6254496" y="1325880"/>
            <a:ext cx="2651760" cy="73152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"/>
          <p:cNvSpPr/>
          <p:nvPr/>
        </p:nvSpPr>
        <p:spPr>
          <a:xfrm>
            <a:off x="6254496" y="1508760"/>
            <a:ext cx="2651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⏳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6254496" y="224028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Human Bottlenecks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6391656" y="2697480"/>
            <a:ext cx="237744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On-call engineer wakes up at 3AM. Spends 45 minutes gathering context that a machine could collect in 5 seconds.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457200" y="4617720"/>
            <a:ext cx="2651760" cy="384048"/>
          </a:xfrm>
          <a:prstGeom prst="rect">
            <a:avLst/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"/>
          <p:cNvSpPr/>
          <p:nvPr/>
        </p:nvSpPr>
        <p:spPr>
          <a:xfrm>
            <a:off x="457200" y="4617720"/>
            <a:ext cx="2651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73% </a:t>
            </a: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of DevOps teams report alert fatigue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3355848" y="4617720"/>
            <a:ext cx="2651760" cy="384048"/>
          </a:xfrm>
          <a:prstGeom prst="rect">
            <a:avLst/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"/>
          <p:cNvSpPr/>
          <p:nvPr/>
        </p:nvSpPr>
        <p:spPr>
          <a:xfrm>
            <a:off x="3355848" y="4617720"/>
            <a:ext cx="2651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4.2hrs </a:t>
            </a: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avg. time to identify root cause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6254496" y="4617720"/>
            <a:ext cx="2651760" cy="384048"/>
          </a:xfrm>
          <a:prstGeom prst="rect">
            <a:avLst/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"/>
          <p:cNvSpPr/>
          <p:nvPr/>
        </p:nvSpPr>
        <p:spPr>
          <a:xfrm>
            <a:off x="6254496" y="4617720"/>
            <a:ext cx="2651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31% </a:t>
            </a: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of incidents are caused by automation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C18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"/>
          <p:cNvSpPr/>
          <p:nvPr/>
        </p:nvSpPr>
        <p:spPr>
          <a:xfrm>
            <a:off x="457200" y="1828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SECTION 1 — OPENING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n8n as a Decision Layer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1" name="Google Shape;111;p4"/>
          <p:cNvCxnSpPr/>
          <p:nvPr/>
        </p:nvCxnSpPr>
        <p:spPr>
          <a:xfrm>
            <a:off x="457200" y="1143000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" name="Google Shape;112;p4"/>
          <p:cNvSpPr/>
          <p:nvPr/>
        </p:nvSpPr>
        <p:spPr>
          <a:xfrm>
            <a:off x="457200" y="1325880"/>
            <a:ext cx="3474720" cy="3474720"/>
          </a:xfrm>
          <a:prstGeom prst="rect">
            <a:avLst/>
          </a:prstGeom>
          <a:solidFill>
            <a:srgbClr val="0F1729"/>
          </a:solidFill>
          <a:ln cap="flat" cmpd="sng" w="19050">
            <a:solidFill>
              <a:srgbClr val="CC333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"/>
          <p:cNvSpPr/>
          <p:nvPr/>
        </p:nvSpPr>
        <p:spPr>
          <a:xfrm>
            <a:off x="457200" y="1325880"/>
            <a:ext cx="3474720" cy="411480"/>
          </a:xfrm>
          <a:prstGeom prst="rect">
            <a:avLst/>
          </a:prstGeom>
          <a:solidFill>
            <a:srgbClr val="1A0808"/>
          </a:solidFill>
          <a:ln cap="flat" cmpd="sng" w="12700">
            <a:solidFill>
              <a:srgbClr val="CC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457200" y="1325880"/>
            <a:ext cx="3474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4444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4444"/>
                </a:solidFill>
                <a:latin typeface="Trebuchet MS"/>
                <a:ea typeface="Trebuchet MS"/>
                <a:cs typeface="Trebuchet MS"/>
                <a:sym typeface="Trebuchet MS"/>
              </a:rPr>
              <a:t>❌  NOT THIS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640080" y="192024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66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6666"/>
                </a:solidFill>
                <a:latin typeface="Calibri"/>
                <a:ea typeface="Calibri"/>
                <a:cs typeface="Calibri"/>
                <a:sym typeface="Calibri"/>
              </a:rPr>
              <a:t>✗  Alert fires → auto-restart pod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640080" y="2450592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66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6666"/>
                </a:solidFill>
                <a:latin typeface="Calibri"/>
                <a:ea typeface="Calibri"/>
                <a:cs typeface="Calibri"/>
                <a:sym typeface="Calibri"/>
              </a:rPr>
              <a:t>✗  Cron job polls cluster every 30s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640080" y="2980944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66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6666"/>
                </a:solidFill>
                <a:latin typeface="Calibri"/>
                <a:ea typeface="Calibri"/>
                <a:cs typeface="Calibri"/>
                <a:sym typeface="Calibri"/>
              </a:rPr>
              <a:t>✗  Script emails on-call blindly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640080" y="3511296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66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6666"/>
                </a:solidFill>
                <a:latin typeface="Calibri"/>
                <a:ea typeface="Calibri"/>
                <a:cs typeface="Calibri"/>
                <a:sym typeface="Calibri"/>
              </a:rPr>
              <a:t>✗  One-size-fits-all remediation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640080" y="4041648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66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6666"/>
                </a:solidFill>
                <a:latin typeface="Calibri"/>
                <a:ea typeface="Calibri"/>
                <a:cs typeface="Calibri"/>
                <a:sym typeface="Calibri"/>
              </a:rPr>
              <a:t>✗  No audit trail, no human oversight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4336146" y="2880350"/>
            <a:ext cx="387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5212080" y="1325880"/>
            <a:ext cx="3474720" cy="3474720"/>
          </a:xfrm>
          <a:prstGeom prst="rect">
            <a:avLst/>
          </a:prstGeom>
          <a:solidFill>
            <a:srgbClr val="0F1729"/>
          </a:solidFill>
          <a:ln cap="flat" cmpd="sng" w="1905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"/>
          <p:cNvSpPr/>
          <p:nvPr/>
        </p:nvSpPr>
        <p:spPr>
          <a:xfrm>
            <a:off x="5212080" y="1325880"/>
            <a:ext cx="3474720" cy="411480"/>
          </a:xfrm>
          <a:prstGeom prst="rect">
            <a:avLst/>
          </a:prstGeom>
          <a:solidFill>
            <a:srgbClr val="081A10"/>
          </a:solidFill>
          <a:ln cap="flat" cmpd="sng" w="1270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"/>
          <p:cNvSpPr/>
          <p:nvPr/>
        </p:nvSpPr>
        <p:spPr>
          <a:xfrm>
            <a:off x="5212080" y="1325880"/>
            <a:ext cx="3474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0C896"/>
                </a:solidFill>
                <a:latin typeface="Trebuchet MS"/>
                <a:ea typeface="Trebuchet MS"/>
                <a:cs typeface="Trebuchet MS"/>
                <a:sym typeface="Trebuchet MS"/>
              </a:rPr>
              <a:t>✅  THIS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5394960" y="192024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0C896"/>
                </a:solidFill>
                <a:latin typeface="Calibri"/>
                <a:ea typeface="Calibri"/>
                <a:cs typeface="Calibri"/>
                <a:sym typeface="Calibri"/>
              </a:rPr>
              <a:t>✓  Alert fires → enrich → correlate → decide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5394960" y="2450592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0C896"/>
                </a:solidFill>
                <a:latin typeface="Calibri"/>
                <a:ea typeface="Calibri"/>
                <a:cs typeface="Calibri"/>
                <a:sym typeface="Calibri"/>
              </a:rPr>
              <a:t>✓  Webhook-driven, zero polling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5394960" y="2980944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0C896"/>
                </a:solidFill>
                <a:latin typeface="Calibri"/>
                <a:ea typeface="Calibri"/>
                <a:cs typeface="Calibri"/>
                <a:sym typeface="Calibri"/>
              </a:rPr>
              <a:t>✓  AI investigates, human approves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5394960" y="3511296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0C896"/>
                </a:solidFill>
                <a:latin typeface="Calibri"/>
                <a:ea typeface="Calibri"/>
                <a:cs typeface="Calibri"/>
                <a:sym typeface="Calibri"/>
              </a:rPr>
              <a:t>✓  Context-aware: namespace, type, history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5394960" y="4041648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0C896"/>
                </a:solidFill>
                <a:latin typeface="Calibri"/>
                <a:ea typeface="Calibri"/>
                <a:cs typeface="Calibri"/>
                <a:sym typeface="Calibri"/>
              </a:rPr>
              <a:t>✓  Full audit trail in SQLite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solidFill>
            <a:srgbClr val="00D4FF">
              <a:alpha val="12156"/>
            </a:srgbClr>
          </a:solidFill>
          <a:ln cap="flat" cmpd="sng" w="12700">
            <a:solidFill>
              <a:srgbClr val="00D4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457200" y="4743096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"n8n is the intelligence layer between your infrastructure and your engineers"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C18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B2FFF"/>
          </a:solidFill>
          <a:ln cap="flat" cmpd="sng" w="12700">
            <a:solidFill>
              <a:srgbClr val="7B2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"/>
          <p:cNvSpPr/>
          <p:nvPr/>
        </p:nvSpPr>
        <p:spPr>
          <a:xfrm>
            <a:off x="457200" y="1828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SECTION 1 — OPENING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What We're Building Today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9" name="Google Shape;139;p5"/>
          <p:cNvCxnSpPr/>
          <p:nvPr/>
        </p:nvCxnSpPr>
        <p:spPr>
          <a:xfrm>
            <a:off x="457200" y="1143000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0" name="Google Shape;140;p5"/>
          <p:cNvSpPr/>
          <p:nvPr/>
        </p:nvSpPr>
        <p:spPr>
          <a:xfrm>
            <a:off x="274320" y="1828800"/>
            <a:ext cx="1508760" cy="1645920"/>
          </a:xfrm>
          <a:prstGeom prst="rect">
            <a:avLst/>
          </a:prstGeom>
          <a:solidFill>
            <a:srgbClr val="0F1729"/>
          </a:solidFill>
          <a:ln cap="flat" cmpd="sng" w="1905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"/>
          <p:cNvSpPr/>
          <p:nvPr/>
        </p:nvSpPr>
        <p:spPr>
          <a:xfrm>
            <a:off x="274320" y="1828800"/>
            <a:ext cx="1508760" cy="73152"/>
          </a:xfrm>
          <a:prstGeom prst="rect">
            <a:avLst/>
          </a:prstGeom>
          <a:solidFill>
            <a:srgbClr val="00C896"/>
          </a:solidFill>
          <a:ln cap="flat" cmpd="sng" w="1270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"/>
          <p:cNvSpPr/>
          <p:nvPr/>
        </p:nvSpPr>
        <p:spPr>
          <a:xfrm>
            <a:off x="274320" y="1920240"/>
            <a:ext cx="1508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⎈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274320" y="2423160"/>
            <a:ext cx="1508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00C896"/>
                </a:solidFill>
                <a:latin typeface="Trebuchet MS"/>
                <a:ea typeface="Trebuchet MS"/>
                <a:cs typeface="Trebuchet MS"/>
                <a:sym typeface="Trebuchet MS"/>
              </a:rPr>
              <a:t>K8s Cluster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274320" y="2971800"/>
            <a:ext cx="1508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kops · 2 nodes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5" name="Google Shape;145;p5"/>
          <p:cNvCxnSpPr/>
          <p:nvPr/>
        </p:nvCxnSpPr>
        <p:spPr>
          <a:xfrm>
            <a:off x="1783080" y="2834640"/>
            <a:ext cx="457200" cy="0"/>
          </a:xfrm>
          <a:prstGeom prst="straightConnector1">
            <a:avLst/>
          </a:prstGeom>
          <a:noFill/>
          <a:ln cap="flat" cmpd="sng" w="1905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6" name="Google Shape;146;p5"/>
          <p:cNvSpPr/>
          <p:nvPr/>
        </p:nvSpPr>
        <p:spPr>
          <a:xfrm>
            <a:off x="2011680" y="2670048"/>
            <a:ext cx="228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C896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1965960" y="1828800"/>
            <a:ext cx="1508760" cy="1645920"/>
          </a:xfrm>
          <a:prstGeom prst="rect">
            <a:avLst/>
          </a:prstGeom>
          <a:solidFill>
            <a:srgbClr val="0F1729"/>
          </a:solidFill>
          <a:ln cap="flat" cmpd="sng" w="1905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"/>
          <p:cNvSpPr/>
          <p:nvPr/>
        </p:nvSpPr>
        <p:spPr>
          <a:xfrm>
            <a:off x="1965960" y="1828800"/>
            <a:ext cx="1508760" cy="73152"/>
          </a:xfrm>
          <a:prstGeom prst="rect">
            <a:avLst/>
          </a:prstGeom>
          <a:solidFill>
            <a:srgbClr val="FF6B35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5"/>
          <p:cNvSpPr/>
          <p:nvPr/>
        </p:nvSpPr>
        <p:spPr>
          <a:xfrm>
            <a:off x="1965960" y="1920240"/>
            <a:ext cx="1508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🔥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1965960" y="2423160"/>
            <a:ext cx="1508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6B35"/>
                </a:solidFill>
                <a:latin typeface="Trebuchet MS"/>
                <a:ea typeface="Trebuchet MS"/>
                <a:cs typeface="Trebuchet MS"/>
                <a:sym typeface="Trebuchet MS"/>
              </a:rPr>
              <a:t>Prometheus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6B35"/>
                </a:solidFill>
                <a:latin typeface="Trebuchet MS"/>
                <a:ea typeface="Trebuchet MS"/>
                <a:cs typeface="Trebuchet MS"/>
                <a:sym typeface="Trebuchet MS"/>
              </a:rPr>
              <a:t>+ Alertmanager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1965960" y="2971800"/>
            <a:ext cx="1508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AWS LB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2" name="Google Shape;152;p5"/>
          <p:cNvCxnSpPr/>
          <p:nvPr/>
        </p:nvCxnSpPr>
        <p:spPr>
          <a:xfrm>
            <a:off x="3474720" y="2834640"/>
            <a:ext cx="457200" cy="0"/>
          </a:xfrm>
          <a:prstGeom prst="straightConnector1">
            <a:avLst/>
          </a:prstGeom>
          <a:noFill/>
          <a:ln cap="flat" cmpd="sng" w="1905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3" name="Google Shape;153;p5"/>
          <p:cNvSpPr/>
          <p:nvPr/>
        </p:nvSpPr>
        <p:spPr>
          <a:xfrm>
            <a:off x="3703320" y="2670048"/>
            <a:ext cx="228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3657600" y="1828800"/>
            <a:ext cx="1508760" cy="1645920"/>
          </a:xfrm>
          <a:prstGeom prst="rect">
            <a:avLst/>
          </a:prstGeom>
          <a:solidFill>
            <a:srgbClr val="0F1729"/>
          </a:solidFill>
          <a:ln cap="flat" cmpd="sng" w="1905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5"/>
          <p:cNvSpPr/>
          <p:nvPr/>
        </p:nvSpPr>
        <p:spPr>
          <a:xfrm>
            <a:off x="3657600" y="1828800"/>
            <a:ext cx="1508760" cy="73152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5"/>
          <p:cNvSpPr/>
          <p:nvPr/>
        </p:nvSpPr>
        <p:spPr>
          <a:xfrm>
            <a:off x="3657600" y="1920240"/>
            <a:ext cx="1508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🤖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3657600" y="2423160"/>
            <a:ext cx="1508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n8n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AI Agent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3657600" y="2971800"/>
            <a:ext cx="1508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S4 + S5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9" name="Google Shape;159;p5"/>
          <p:cNvCxnSpPr/>
          <p:nvPr/>
        </p:nvCxnSpPr>
        <p:spPr>
          <a:xfrm>
            <a:off x="5166360" y="2834640"/>
            <a:ext cx="457200" cy="0"/>
          </a:xfrm>
          <a:prstGeom prst="straightConnector1">
            <a:avLst/>
          </a:prstGeom>
          <a:noFill/>
          <a:ln cap="flat" cmpd="sng" w="1905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0" name="Google Shape;160;p5"/>
          <p:cNvSpPr/>
          <p:nvPr/>
        </p:nvSpPr>
        <p:spPr>
          <a:xfrm>
            <a:off x="5394960" y="2670048"/>
            <a:ext cx="228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5349240" y="1828800"/>
            <a:ext cx="1508760" cy="1645920"/>
          </a:xfrm>
          <a:prstGeom prst="rect">
            <a:avLst/>
          </a:prstGeom>
          <a:solidFill>
            <a:srgbClr val="0F1729"/>
          </a:solidFill>
          <a:ln cap="flat" cmpd="sng" w="19050">
            <a:solidFill>
              <a:srgbClr val="7B2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5"/>
          <p:cNvSpPr/>
          <p:nvPr/>
        </p:nvSpPr>
        <p:spPr>
          <a:xfrm>
            <a:off x="5349240" y="1828800"/>
            <a:ext cx="1508760" cy="73152"/>
          </a:xfrm>
          <a:prstGeom prst="rect">
            <a:avLst/>
          </a:prstGeom>
          <a:solidFill>
            <a:srgbClr val="7B2FFF"/>
          </a:solidFill>
          <a:ln cap="flat" cmpd="sng" w="12700">
            <a:solidFill>
              <a:srgbClr val="7B2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5"/>
          <p:cNvSpPr/>
          <p:nvPr/>
        </p:nvSpPr>
        <p:spPr>
          <a:xfrm>
            <a:off x="5349240" y="1920240"/>
            <a:ext cx="1508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🔧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5349240" y="2423160"/>
            <a:ext cx="1508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F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7B2FFF"/>
                </a:solidFill>
                <a:latin typeface="Trebuchet MS"/>
                <a:ea typeface="Trebuchet MS"/>
                <a:cs typeface="Trebuchet MS"/>
                <a:sym typeface="Trebuchet MS"/>
              </a:rPr>
              <a:t>MCP Server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F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7B2FFF"/>
                </a:solidFill>
                <a:latin typeface="Trebuchet MS"/>
                <a:ea typeface="Trebuchet MS"/>
                <a:cs typeface="Trebuchet MS"/>
                <a:sym typeface="Trebuchet MS"/>
              </a:rPr>
              <a:t>+ SQLite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5349240" y="2971800"/>
            <a:ext cx="1508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kubectl · promql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6" name="Google Shape;166;p5"/>
          <p:cNvCxnSpPr/>
          <p:nvPr/>
        </p:nvCxnSpPr>
        <p:spPr>
          <a:xfrm>
            <a:off x="6858000" y="2834640"/>
            <a:ext cx="457200" cy="0"/>
          </a:xfrm>
          <a:prstGeom prst="straightConnector1">
            <a:avLst/>
          </a:prstGeom>
          <a:noFill/>
          <a:ln cap="flat" cmpd="sng" w="19050">
            <a:solidFill>
              <a:srgbClr val="7B2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7" name="Google Shape;167;p5"/>
          <p:cNvSpPr/>
          <p:nvPr/>
        </p:nvSpPr>
        <p:spPr>
          <a:xfrm>
            <a:off x="7086600" y="2670048"/>
            <a:ext cx="228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B2FFF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7040880" y="1828800"/>
            <a:ext cx="1508760" cy="1645920"/>
          </a:xfrm>
          <a:prstGeom prst="rect">
            <a:avLst/>
          </a:prstGeom>
          <a:solidFill>
            <a:srgbClr val="0F1729"/>
          </a:solidFill>
          <a:ln cap="flat" cmpd="sng" w="19050">
            <a:solidFill>
              <a:srgbClr val="26A5E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5"/>
          <p:cNvSpPr/>
          <p:nvPr/>
        </p:nvSpPr>
        <p:spPr>
          <a:xfrm>
            <a:off x="7040880" y="1828800"/>
            <a:ext cx="1508760" cy="73152"/>
          </a:xfrm>
          <a:prstGeom prst="rect">
            <a:avLst/>
          </a:prstGeom>
          <a:solidFill>
            <a:srgbClr val="26A5E4"/>
          </a:solidFill>
          <a:ln cap="flat" cmpd="sng" w="12700">
            <a:solidFill>
              <a:srgbClr val="26A5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5"/>
          <p:cNvSpPr/>
          <p:nvPr/>
        </p:nvSpPr>
        <p:spPr>
          <a:xfrm>
            <a:off x="7040880" y="1920240"/>
            <a:ext cx="1508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💬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7040880" y="2423160"/>
            <a:ext cx="1508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A5E4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26A5E4"/>
                </a:solidFill>
                <a:latin typeface="Trebuchet MS"/>
                <a:ea typeface="Trebuchet MS"/>
                <a:cs typeface="Trebuchet MS"/>
                <a:sym typeface="Trebuchet MS"/>
              </a:rPr>
              <a:t>Dashboard chat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7040880" y="2971800"/>
            <a:ext cx="1508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human loop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274320" y="3429000"/>
            <a:ext cx="1920240" cy="320040"/>
          </a:xfrm>
          <a:prstGeom prst="rect">
            <a:avLst/>
          </a:prstGeom>
          <a:solidFill>
            <a:srgbClr val="00C896">
              <a:alpha val="20000"/>
            </a:srgbClr>
          </a:solidFill>
          <a:ln cap="flat" cmpd="sng" w="12700">
            <a:solidFill>
              <a:srgbClr val="00C896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5"/>
          <p:cNvSpPr/>
          <p:nvPr/>
        </p:nvSpPr>
        <p:spPr>
          <a:xfrm>
            <a:off x="274320" y="342900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900"/>
              <a:buFont typeface="Consolas"/>
              <a:buNone/>
            </a:pPr>
            <a:r>
              <a:rPr b="1" i="0" lang="en-US" sz="900" u="none" cap="none" strike="noStrike">
                <a:solidFill>
                  <a:srgbClr val="00C896"/>
                </a:solidFill>
                <a:latin typeface="Consolas"/>
                <a:ea typeface="Consolas"/>
                <a:cs typeface="Consolas"/>
                <a:sym typeface="Consolas"/>
              </a:rPr>
              <a:t>S2 — Manual AI Agent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2651760" y="3429000"/>
            <a:ext cx="1920240" cy="320040"/>
          </a:xfrm>
          <a:prstGeom prst="rect">
            <a:avLst/>
          </a:prstGeom>
          <a:solidFill>
            <a:srgbClr val="FF6B35">
              <a:alpha val="20000"/>
            </a:srgbClr>
          </a:solidFill>
          <a:ln cap="flat" cmpd="sng" w="12700">
            <a:solidFill>
              <a:srgbClr val="FF6B35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5"/>
          <p:cNvSpPr/>
          <p:nvPr/>
        </p:nvSpPr>
        <p:spPr>
          <a:xfrm>
            <a:off x="2651760" y="342900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900"/>
              <a:buFont typeface="Consolas"/>
              <a:buNone/>
            </a:pPr>
            <a:r>
              <a:rPr b="1" i="0" lang="en-US" sz="900" u="none" cap="none" strike="noStrike">
                <a:solidFill>
                  <a:srgbClr val="FF6B35"/>
                </a:solidFill>
                <a:latin typeface="Consolas"/>
                <a:ea typeface="Consolas"/>
                <a:cs typeface="Consolas"/>
                <a:sym typeface="Consolas"/>
              </a:rPr>
              <a:t>S5 — Alert Intelligence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5029200" y="3429000"/>
            <a:ext cx="1920240" cy="320040"/>
          </a:xfrm>
          <a:prstGeom prst="rect">
            <a:avLst/>
          </a:prstGeom>
          <a:solidFill>
            <a:srgbClr val="00D4FF">
              <a:alpha val="20000"/>
            </a:srgbClr>
          </a:solidFill>
          <a:ln cap="flat" cmpd="sng" w="12700">
            <a:solidFill>
              <a:srgbClr val="00D4FF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5"/>
          <p:cNvSpPr/>
          <p:nvPr/>
        </p:nvSpPr>
        <p:spPr>
          <a:xfrm>
            <a:off x="5029200" y="342900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Consolas"/>
              <a:buNone/>
            </a:pPr>
            <a:r>
              <a:rPr b="1" i="0" lang="en-US" sz="9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S4 — Human Loop + TOTP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5"/>
          <p:cNvSpPr/>
          <p:nvPr/>
        </p:nvSpPr>
        <p:spPr>
          <a:xfrm>
            <a:off x="7040880" y="3429000"/>
            <a:ext cx="1920240" cy="320040"/>
          </a:xfrm>
          <a:prstGeom prst="rect">
            <a:avLst/>
          </a:prstGeom>
          <a:solidFill>
            <a:srgbClr val="7B2FFF">
              <a:alpha val="20000"/>
            </a:srgbClr>
          </a:solidFill>
          <a:ln cap="flat" cmpd="sng" w="12700">
            <a:solidFill>
              <a:srgbClr val="7B2FFF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5"/>
          <p:cNvSpPr/>
          <p:nvPr/>
        </p:nvSpPr>
        <p:spPr>
          <a:xfrm>
            <a:off x="7040880" y="342900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FFF"/>
              </a:buClr>
              <a:buSzPts val="900"/>
              <a:buFont typeface="Consolas"/>
              <a:buNone/>
            </a:pPr>
            <a:r>
              <a:rPr b="1" i="0" lang="en-US" sz="900" u="none" cap="none" strike="noStrike">
                <a:solidFill>
                  <a:srgbClr val="7B2FFF"/>
                </a:solidFill>
                <a:latin typeface="Consolas"/>
                <a:ea typeface="Consolas"/>
                <a:cs typeface="Consolas"/>
                <a:sym typeface="Consolas"/>
              </a:rPr>
              <a:t>S6+ — K8s Events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274320" y="3931920"/>
            <a:ext cx="8595360" cy="640080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5"/>
          <p:cNvSpPr/>
          <p:nvPr/>
        </p:nvSpPr>
        <p:spPr>
          <a:xfrm>
            <a:off x="365760" y="3931920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🖥️  ClawOps Dashboard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2651760" y="3931920"/>
            <a:ext cx="6035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Incident command center — chaos triggers · active alerts · incident audit trail · real-time logs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5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All AI reasoning powered by Gemini 2.5 Flash via n8n AI Agent + MCP toolchain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C18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6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96"/>
          </a:solidFill>
          <a:ln cap="flat" cmpd="sng" w="1270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6"/>
          <p:cNvSpPr/>
          <p:nvPr/>
        </p:nvSpPr>
        <p:spPr>
          <a:xfrm>
            <a:off x="457200" y="1828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SECTION 1 — OPENING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Six Principles We Never Break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3" name="Google Shape;193;p6"/>
          <p:cNvCxnSpPr/>
          <p:nvPr/>
        </p:nvCxnSpPr>
        <p:spPr>
          <a:xfrm>
            <a:off x="457200" y="1143000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4" name="Google Shape;194;p6"/>
          <p:cNvSpPr/>
          <p:nvPr/>
        </p:nvSpPr>
        <p:spPr>
          <a:xfrm>
            <a:off x="457200" y="1325880"/>
            <a:ext cx="4114800" cy="1115568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6"/>
          <p:cNvSpPr/>
          <p:nvPr/>
        </p:nvSpPr>
        <p:spPr>
          <a:xfrm>
            <a:off x="457200" y="1325880"/>
            <a:ext cx="502920" cy="1115568"/>
          </a:xfrm>
          <a:prstGeom prst="rect">
            <a:avLst/>
          </a:prstGeom>
          <a:solidFill>
            <a:srgbClr val="00D4FF">
              <a:alpha val="25098"/>
            </a:srgbClr>
          </a:solidFill>
          <a:ln cap="flat" cmpd="sng" w="12700">
            <a:solidFill>
              <a:srgbClr val="00D4F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6"/>
          <p:cNvSpPr/>
          <p:nvPr/>
        </p:nvSpPr>
        <p:spPr>
          <a:xfrm>
            <a:off x="457200" y="1325880"/>
            <a:ext cx="50292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1051560" y="141732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Never act on a single signal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1051560" y="1737360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Always correlate — kubectl state + Prometheus metrics + event history before any action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4846320" y="1325880"/>
            <a:ext cx="4114800" cy="1115568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6"/>
          <p:cNvSpPr/>
          <p:nvPr/>
        </p:nvSpPr>
        <p:spPr>
          <a:xfrm>
            <a:off x="4846320" y="1325880"/>
            <a:ext cx="502920" cy="1115568"/>
          </a:xfrm>
          <a:prstGeom prst="rect">
            <a:avLst/>
          </a:prstGeom>
          <a:solidFill>
            <a:srgbClr val="00C896">
              <a:alpha val="25098"/>
            </a:srgbClr>
          </a:solidFill>
          <a:ln cap="flat" cmpd="sng" w="12700">
            <a:solidFill>
              <a:srgbClr val="00C896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6"/>
          <p:cNvSpPr/>
          <p:nvPr/>
        </p:nvSpPr>
        <p:spPr>
          <a:xfrm>
            <a:off x="4846320" y="1325880"/>
            <a:ext cx="50292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00C896"/>
                </a:solidFill>
                <a:latin typeface="Consolas"/>
                <a:ea typeface="Consolas"/>
                <a:cs typeface="Consolas"/>
                <a:sym typeface="Consolas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5440680" y="141732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Always verify real system state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5440680" y="1737360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Never trust the alert alone. Run kubectl. Run PromQL. Confirm before acting.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457200" y="2587752"/>
            <a:ext cx="4114800" cy="1115568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6"/>
          <p:cNvSpPr/>
          <p:nvPr/>
        </p:nvSpPr>
        <p:spPr>
          <a:xfrm>
            <a:off x="457200" y="2587752"/>
            <a:ext cx="502920" cy="1115568"/>
          </a:xfrm>
          <a:prstGeom prst="rect">
            <a:avLst/>
          </a:prstGeom>
          <a:solidFill>
            <a:srgbClr val="FF6B35">
              <a:alpha val="25098"/>
            </a:srgbClr>
          </a:solidFill>
          <a:ln cap="flat" cmpd="sng" w="12700">
            <a:solidFill>
              <a:srgbClr val="FF6B35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6"/>
          <p:cNvSpPr/>
          <p:nvPr/>
        </p:nvSpPr>
        <p:spPr>
          <a:xfrm>
            <a:off x="457200" y="2587752"/>
            <a:ext cx="50292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FF6B35"/>
                </a:solidFill>
                <a:latin typeface="Consolas"/>
                <a:ea typeface="Consolas"/>
                <a:cs typeface="Consolas"/>
                <a:sym typeface="Consolas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1051560" y="2679192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Prefer escalation over blind remediation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1051560" y="2999232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When in doubt — notify the engineer. A dashboard alert is safer than a pod restart.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4846320" y="2587752"/>
            <a:ext cx="4114800" cy="1115568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7B2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6"/>
          <p:cNvSpPr/>
          <p:nvPr/>
        </p:nvSpPr>
        <p:spPr>
          <a:xfrm>
            <a:off x="4846320" y="2587752"/>
            <a:ext cx="502920" cy="1115568"/>
          </a:xfrm>
          <a:prstGeom prst="rect">
            <a:avLst/>
          </a:prstGeom>
          <a:solidFill>
            <a:srgbClr val="7B2FFF">
              <a:alpha val="25098"/>
            </a:srgbClr>
          </a:solidFill>
          <a:ln cap="flat" cmpd="sng" w="12700">
            <a:solidFill>
              <a:srgbClr val="7B2FF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6"/>
          <p:cNvSpPr/>
          <p:nvPr/>
        </p:nvSpPr>
        <p:spPr>
          <a:xfrm>
            <a:off x="4846320" y="2587752"/>
            <a:ext cx="50292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FFF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7B2FFF"/>
                </a:solidFill>
                <a:latin typeface="Consolas"/>
                <a:ea typeface="Consolas"/>
                <a:cs typeface="Consolas"/>
                <a:sym typeface="Consolas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5440680" y="2679192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Keep workflows observable and auditable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5440680" y="2999232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Every decision, every action logged to SQLite. Full incident trail for review.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457200" y="3849624"/>
            <a:ext cx="4114800" cy="1115568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26A5E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6"/>
          <p:cNvSpPr/>
          <p:nvPr/>
        </p:nvSpPr>
        <p:spPr>
          <a:xfrm>
            <a:off x="457200" y="3849624"/>
            <a:ext cx="502920" cy="1115568"/>
          </a:xfrm>
          <a:prstGeom prst="rect">
            <a:avLst/>
          </a:prstGeom>
          <a:solidFill>
            <a:srgbClr val="26A5E4">
              <a:alpha val="25098"/>
            </a:srgbClr>
          </a:solidFill>
          <a:ln cap="flat" cmpd="sng" w="12700">
            <a:solidFill>
              <a:srgbClr val="26A5E4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6"/>
          <p:cNvSpPr/>
          <p:nvPr/>
        </p:nvSpPr>
        <p:spPr>
          <a:xfrm>
            <a:off x="457200" y="3849624"/>
            <a:ext cx="50292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A5E4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26A5E4"/>
                </a:solidFill>
                <a:latin typeface="Consolas"/>
                <a:ea typeface="Consolas"/>
                <a:cs typeface="Consolas"/>
                <a:sym typeface="Consolas"/>
              </a:rPr>
              <a:t>05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1051560" y="3941064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Small composable workflows scale better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1051560" y="4261104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S2 + S4 + S5 are separate. Each does one thing. They compose into a system.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4846320" y="3849624"/>
            <a:ext cx="4114800" cy="1115568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6"/>
          <p:cNvSpPr/>
          <p:nvPr/>
        </p:nvSpPr>
        <p:spPr>
          <a:xfrm>
            <a:off x="4846320" y="3849624"/>
            <a:ext cx="502920" cy="1115568"/>
          </a:xfrm>
          <a:prstGeom prst="rect">
            <a:avLst/>
          </a:prstGeom>
          <a:solidFill>
            <a:srgbClr val="00C896">
              <a:alpha val="25098"/>
            </a:srgbClr>
          </a:solidFill>
          <a:ln cap="flat" cmpd="sng" w="12700">
            <a:solidFill>
              <a:srgbClr val="00C896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6"/>
          <p:cNvSpPr/>
          <p:nvPr/>
        </p:nvSpPr>
        <p:spPr>
          <a:xfrm>
            <a:off x="4846320" y="3849624"/>
            <a:ext cx="50292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00C896"/>
                </a:solidFill>
                <a:latin typeface="Consolas"/>
                <a:ea typeface="Consolas"/>
                <a:cs typeface="Consolas"/>
                <a:sym typeface="Consolas"/>
              </a:rPr>
              <a:t>06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6"/>
          <p:cNvSpPr/>
          <p:nvPr/>
        </p:nvSpPr>
        <p:spPr>
          <a:xfrm>
            <a:off x="5440680" y="3941064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Human always stays in the loop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6"/>
          <p:cNvSpPr/>
          <p:nvPr/>
        </p:nvSpPr>
        <p:spPr>
          <a:xfrm>
            <a:off x="5440680" y="4261104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TOTP approval gates ensure no write operation runs without engineer sign-off.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</p:bgPr>
    </p:bg>
    <p:spTree>
      <p:nvGrpSpPr>
        <p:cNvPr id="1" name=""/>
        <p:cNvGrpSpPr/>
        <p:nvPr/>
      </p:nvGrpSpPr>
      <p:grpSpPr/>
      <p:sp>
        <p:nvSpPr>
          <p:cNvPr id="78" name="Google Shape;78;p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457200" y="1828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SECTION 1 — n8n 101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What Is n8n?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1" name="Google Shape;81;p3"/>
          <p:cNvCxnSpPr/>
          <p:nvPr/>
        </p:nvCxnSpPr>
        <p:spPr>
          <a:xfrm>
            <a:off x="457200" y="1143000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" name="Google Shape;82;p3"/>
          <p:cNvSpPr/>
          <p:nvPr/>
        </p:nvSpPr>
        <p:spPr>
          <a:xfrm>
            <a:off x="457200" y="1325880"/>
            <a:ext cx="2651760" cy="3383280"/>
          </a:xfrm>
          <a:prstGeom prst="rect">
            <a:avLst/>
          </a:prstGeom>
          <a:solidFill>
            <a:srgbClr val="0F1729"/>
          </a:solidFill>
          <a:ln cap="flat" cmpd="sng" w="1905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457200" y="1325880"/>
            <a:ext cx="2651760" cy="73152"/>
          </a:xfrm>
          <a:prstGeom prst="rect">
            <a:avLst/>
          </a:prstGeom>
          <a:solidFill>
            <a:srgbClr val="FF6B35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3"/>
          <p:cNvSpPr/>
          <p:nvPr/>
        </p:nvSpPr>
        <p:spPr>
          <a:xfrm>
            <a:off x="457200" y="1508760"/>
            <a:ext cx="2651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🔗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457200" y="224028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FF6B35"/>
                </a:solidFill>
                <a:latin typeface="Trebuchet MS"/>
                <a:ea typeface="Trebuchet MS"/>
                <a:cs typeface="Trebuchet MS"/>
                <a:sym typeface="Trebuchet MS"/>
              </a:rPr>
              <a:t>Visual automation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594360" y="2697480"/>
            <a:ext cx="237744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Drag-and-drop nodes wired into flows — no glue scripts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3355848" y="1325880"/>
            <a:ext cx="2651760" cy="3383280"/>
          </a:xfrm>
          <a:prstGeom prst="rect">
            <a:avLst/>
          </a:prstGeom>
          <a:solidFill>
            <a:srgbClr val="0F1729"/>
          </a:solidFill>
          <a:ln cap="flat" cmpd="sng" w="19050">
            <a:solidFill>
              <a:srgbClr val="7B2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3"/>
          <p:cNvSpPr/>
          <p:nvPr/>
        </p:nvSpPr>
        <p:spPr>
          <a:xfrm>
            <a:off x="3355848" y="1325880"/>
            <a:ext cx="2651760" cy="73152"/>
          </a:xfrm>
          <a:prstGeom prst="rect">
            <a:avLst/>
          </a:prstGeom>
          <a:solidFill>
            <a:srgbClr val="7B2FFF"/>
          </a:solidFill>
          <a:ln cap="flat" cmpd="sng" w="12700">
            <a:solidFill>
              <a:srgbClr val="7B2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"/>
          <p:cNvSpPr/>
          <p:nvPr/>
        </p:nvSpPr>
        <p:spPr>
          <a:xfrm>
            <a:off x="3355848" y="1508760"/>
            <a:ext cx="2651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🤖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3355848" y="224028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FFF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7B2FFF"/>
                </a:solidFill>
                <a:latin typeface="Trebuchet MS"/>
                <a:ea typeface="Trebuchet MS"/>
                <a:cs typeface="Trebuchet MS"/>
                <a:sym typeface="Trebuchet MS"/>
              </a:rPr>
              <a:t>AI-native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3493008" y="2697480"/>
            <a:ext cx="237744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First-class AI Agent + LLM + tool nodes (LangChain inside)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6254496" y="1325880"/>
            <a:ext cx="2651760" cy="3383280"/>
          </a:xfrm>
          <a:prstGeom prst="rect">
            <a:avLst/>
          </a:prstGeom>
          <a:solidFill>
            <a:srgbClr val="0F1729"/>
          </a:solidFill>
          <a:ln cap="flat" cmpd="sng" w="1905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"/>
          <p:cNvSpPr/>
          <p:nvPr/>
        </p:nvSpPr>
        <p:spPr>
          <a:xfrm>
            <a:off x="6254496" y="1325880"/>
            <a:ext cx="2651760" cy="73152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"/>
          <p:cNvSpPr/>
          <p:nvPr/>
        </p:nvSpPr>
        <p:spPr>
          <a:xfrm>
            <a:off x="6254496" y="1508760"/>
            <a:ext cx="2651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🔒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6254496" y="224028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Self-hosted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6391656" y="2697480"/>
            <a:ext cx="237744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Runs in your cluster — your data, your network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457200" y="4617720"/>
            <a:ext cx="2651760" cy="384048"/>
          </a:xfrm>
          <a:prstGeom prst="rect">
            <a:avLst/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"/>
          <p:cNvSpPr/>
          <p:nvPr/>
        </p:nvSpPr>
        <p:spPr>
          <a:xfrm>
            <a:off x="457200" y="4617720"/>
            <a:ext cx="2651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Triggers: chat · webhook · schedule · event</a:t>
            </a: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3355848" y="4617720"/>
            <a:ext cx="2651760" cy="384048"/>
          </a:xfrm>
          <a:prstGeom prst="rect">
            <a:avLst/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"/>
          <p:cNvSpPr/>
          <p:nvPr/>
        </p:nvSpPr>
        <p:spPr>
          <a:xfrm>
            <a:off x="3355848" y="4617720"/>
            <a:ext cx="2651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400+ integrations + raw HTTP</a:t>
            </a: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6254496" y="4617720"/>
            <a:ext cx="2651760" cy="384048"/>
          </a:xfrm>
          <a:prstGeom prst="rect">
            <a:avLst/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"/>
          <p:cNvSpPr/>
          <p:nvPr/>
        </p:nvSpPr>
        <p:spPr>
          <a:xfrm>
            <a:off x="6254496" y="4617720"/>
            <a:ext cx="2651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Fair-code, self-hostable</a:t>
            </a: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</p:bgPr>
    </p:bg>
    <p:spTree>
      <p:nvGrpSpPr>
        <p:cNvPr id="1" name=""/>
        <p:cNvGrpSpPr/>
        <p:nvPr/>
      </p:nvGrpSpPr>
      <p:grpSpPr/>
      <p:sp>
        <p:nvSpPr>
          <p:cNvPr id="190" name="Google Shape;190;p6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96"/>
          </a:solidFill>
          <a:ln cap="flat" cmpd="sng" w="1270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6"/>
          <p:cNvSpPr/>
          <p:nvPr/>
        </p:nvSpPr>
        <p:spPr>
          <a:xfrm>
            <a:off x="457200" y="1828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SECTION 1 — n8n 101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The Building Blocks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3" name="Google Shape;193;p6"/>
          <p:cNvCxnSpPr/>
          <p:nvPr/>
        </p:nvCxnSpPr>
        <p:spPr>
          <a:xfrm>
            <a:off x="457200" y="1143000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4" name="Google Shape;194;p6"/>
          <p:cNvSpPr/>
          <p:nvPr/>
        </p:nvSpPr>
        <p:spPr>
          <a:xfrm>
            <a:off x="457200" y="1325880"/>
            <a:ext cx="4114800" cy="1115568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6"/>
          <p:cNvSpPr/>
          <p:nvPr/>
        </p:nvSpPr>
        <p:spPr>
          <a:xfrm>
            <a:off x="457200" y="1325880"/>
            <a:ext cx="502920" cy="1115568"/>
          </a:xfrm>
          <a:prstGeom prst="rect">
            <a:avLst/>
          </a:prstGeom>
          <a:solidFill>
            <a:srgbClr val="00D4FF">
              <a:alpha val="25098"/>
            </a:srgbClr>
          </a:solidFill>
          <a:ln cap="flat" cmpd="sng" w="12700">
            <a:solidFill>
              <a:srgbClr val="00D4F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6"/>
          <p:cNvSpPr/>
          <p:nvPr/>
        </p:nvSpPr>
        <p:spPr>
          <a:xfrm>
            <a:off x="457200" y="1325880"/>
            <a:ext cx="50292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1051560" y="141732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Trigger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1051560" y="1737360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Starts a workflow: Chat, Webhook, Schedule, Event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4846320" y="1325880"/>
            <a:ext cx="4114800" cy="1115568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6"/>
          <p:cNvSpPr/>
          <p:nvPr/>
        </p:nvSpPr>
        <p:spPr>
          <a:xfrm>
            <a:off x="4846320" y="1325880"/>
            <a:ext cx="502920" cy="1115568"/>
          </a:xfrm>
          <a:prstGeom prst="rect">
            <a:avLst/>
          </a:prstGeom>
          <a:solidFill>
            <a:srgbClr val="00C896">
              <a:alpha val="25098"/>
            </a:srgbClr>
          </a:solidFill>
          <a:ln cap="flat" cmpd="sng" w="12700">
            <a:solidFill>
              <a:srgbClr val="00C896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6"/>
          <p:cNvSpPr/>
          <p:nvPr/>
        </p:nvSpPr>
        <p:spPr>
          <a:xfrm>
            <a:off x="4846320" y="1325880"/>
            <a:ext cx="50292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00C896"/>
                </a:solidFill>
                <a:latin typeface="Consolas"/>
                <a:ea typeface="Consolas"/>
                <a:cs typeface="Consolas"/>
                <a:sym typeface="Consolas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5440680" y="141732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Node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5440680" y="1737360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One step — HTTP request, code, AI agent, set values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457200" y="2587752"/>
            <a:ext cx="4114800" cy="1115568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6"/>
          <p:cNvSpPr/>
          <p:nvPr/>
        </p:nvSpPr>
        <p:spPr>
          <a:xfrm>
            <a:off x="457200" y="2587752"/>
            <a:ext cx="502920" cy="1115568"/>
          </a:xfrm>
          <a:prstGeom prst="rect">
            <a:avLst/>
          </a:prstGeom>
          <a:solidFill>
            <a:srgbClr val="FF6B35">
              <a:alpha val="25098"/>
            </a:srgbClr>
          </a:solidFill>
          <a:ln cap="flat" cmpd="sng" w="12700">
            <a:solidFill>
              <a:srgbClr val="FF6B35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6"/>
          <p:cNvSpPr/>
          <p:nvPr/>
        </p:nvSpPr>
        <p:spPr>
          <a:xfrm>
            <a:off x="457200" y="2587752"/>
            <a:ext cx="50292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FF6B35"/>
                </a:solidFill>
                <a:latin typeface="Consolas"/>
                <a:ea typeface="Consolas"/>
                <a:cs typeface="Consolas"/>
                <a:sym typeface="Consolas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1051560" y="2679192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Connection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1051560" y="2999232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The wire passing data from one node to the next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4846320" y="2587752"/>
            <a:ext cx="4114800" cy="1115568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7B2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6"/>
          <p:cNvSpPr/>
          <p:nvPr/>
        </p:nvSpPr>
        <p:spPr>
          <a:xfrm>
            <a:off x="4846320" y="2587752"/>
            <a:ext cx="502920" cy="1115568"/>
          </a:xfrm>
          <a:prstGeom prst="rect">
            <a:avLst/>
          </a:prstGeom>
          <a:solidFill>
            <a:srgbClr val="7B2FFF">
              <a:alpha val="25098"/>
            </a:srgbClr>
          </a:solidFill>
          <a:ln cap="flat" cmpd="sng" w="12700">
            <a:solidFill>
              <a:srgbClr val="7B2FF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6"/>
          <p:cNvSpPr/>
          <p:nvPr/>
        </p:nvSpPr>
        <p:spPr>
          <a:xfrm>
            <a:off x="4846320" y="2587752"/>
            <a:ext cx="50292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FFF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7B2FFF"/>
                </a:solidFill>
                <a:latin typeface="Consolas"/>
                <a:ea typeface="Consolas"/>
                <a:cs typeface="Consolas"/>
                <a:sym typeface="Consolas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5440680" y="2679192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Credential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5440680" y="2999232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Stored secret (your Gemini key) — never in the workflow JSON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457200" y="3849624"/>
            <a:ext cx="4114800" cy="1115568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26A5E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6"/>
          <p:cNvSpPr/>
          <p:nvPr/>
        </p:nvSpPr>
        <p:spPr>
          <a:xfrm>
            <a:off x="457200" y="3849624"/>
            <a:ext cx="502920" cy="1115568"/>
          </a:xfrm>
          <a:prstGeom prst="rect">
            <a:avLst/>
          </a:prstGeom>
          <a:solidFill>
            <a:srgbClr val="26A5E4">
              <a:alpha val="25098"/>
            </a:srgbClr>
          </a:solidFill>
          <a:ln cap="flat" cmpd="sng" w="12700">
            <a:solidFill>
              <a:srgbClr val="26A5E4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6"/>
          <p:cNvSpPr/>
          <p:nvPr/>
        </p:nvSpPr>
        <p:spPr>
          <a:xfrm>
            <a:off x="457200" y="3849624"/>
            <a:ext cx="50292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A5E4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26A5E4"/>
                </a:solidFill>
                <a:latin typeface="Consolas"/>
                <a:ea typeface="Consolas"/>
                <a:cs typeface="Consolas"/>
                <a:sym typeface="Consolas"/>
              </a:rPr>
              <a:t>05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1051560" y="3941064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Expression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1051560" y="4261104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={{ }} — pull data from nodes: $json, $fromAI()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4846320" y="3849624"/>
            <a:ext cx="4114800" cy="1115568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6"/>
          <p:cNvSpPr/>
          <p:nvPr/>
        </p:nvSpPr>
        <p:spPr>
          <a:xfrm>
            <a:off x="4846320" y="3849624"/>
            <a:ext cx="502920" cy="1115568"/>
          </a:xfrm>
          <a:prstGeom prst="rect">
            <a:avLst/>
          </a:prstGeom>
          <a:solidFill>
            <a:srgbClr val="00C896">
              <a:alpha val="25098"/>
            </a:srgbClr>
          </a:solidFill>
          <a:ln cap="flat" cmpd="sng" w="12700">
            <a:solidFill>
              <a:srgbClr val="00C896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6"/>
          <p:cNvSpPr/>
          <p:nvPr/>
        </p:nvSpPr>
        <p:spPr>
          <a:xfrm>
            <a:off x="4846320" y="3849624"/>
            <a:ext cx="50292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00C896"/>
                </a:solidFill>
                <a:latin typeface="Consolas"/>
                <a:ea typeface="Consolas"/>
                <a:cs typeface="Consolas"/>
                <a:sym typeface="Consolas"/>
              </a:rPr>
              <a:t>06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6"/>
          <p:cNvSpPr/>
          <p:nvPr/>
        </p:nvSpPr>
        <p:spPr>
          <a:xfrm>
            <a:off x="5440680" y="3941064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Execution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6"/>
          <p:cNvSpPr/>
          <p:nvPr/>
        </p:nvSpPr>
        <p:spPr>
          <a:xfrm>
            <a:off x="5440680" y="4261104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One run — inspect every node’s input &amp; output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</p:bgPr>
    </p:bg>
    <p:spTree>
      <p:nvGrpSpPr>
        <p:cNvPr id="1" name=""/>
        <p:cNvGrpSpPr/>
        <p:nvPr/>
      </p:nvGrpSpPr>
      <p:grpSpPr/>
      <p:sp>
        <p:nvSpPr>
          <p:cNvPr id="78" name="Google Shape;78;p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457200" y="1828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SECTION 1 — n8n 101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The n8n Canvas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1" name="Google Shape;81;p3"/>
          <p:cNvCxnSpPr/>
          <p:nvPr/>
        </p:nvCxnSpPr>
        <p:spPr>
          <a:xfrm>
            <a:off x="457200" y="1143000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" name="Google Shape;82;p3"/>
          <p:cNvSpPr/>
          <p:nvPr/>
        </p:nvSpPr>
        <p:spPr>
          <a:xfrm>
            <a:off x="457200" y="1325880"/>
            <a:ext cx="2651760" cy="3383280"/>
          </a:xfrm>
          <a:prstGeom prst="rect">
            <a:avLst/>
          </a:prstGeom>
          <a:solidFill>
            <a:srgbClr val="0F1729"/>
          </a:solidFill>
          <a:ln cap="flat" cmpd="sng" w="1905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457200" y="1325880"/>
            <a:ext cx="2651760" cy="73152"/>
          </a:xfrm>
          <a:prstGeom prst="rect">
            <a:avLst/>
          </a:prstGeom>
          <a:solidFill>
            <a:srgbClr val="FF6B35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3"/>
          <p:cNvSpPr/>
          <p:nvPr/>
        </p:nvSpPr>
        <p:spPr>
          <a:xfrm>
            <a:off x="457200" y="1508760"/>
            <a:ext cx="2651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➕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457200" y="224028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FF6B35"/>
                </a:solidFill>
                <a:latin typeface="Trebuchet MS"/>
                <a:ea typeface="Trebuchet MS"/>
                <a:cs typeface="Trebuchet MS"/>
                <a:sym typeface="Trebuchet MS"/>
              </a:rPr>
              <a:t>Add nodes (＋)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594360" y="2697480"/>
            <a:ext cx="237744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Top-right — drop in triggers, actions, AI nodes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3355848" y="1325880"/>
            <a:ext cx="2651760" cy="3383280"/>
          </a:xfrm>
          <a:prstGeom prst="rect">
            <a:avLst/>
          </a:prstGeom>
          <a:solidFill>
            <a:srgbClr val="0F1729"/>
          </a:solidFill>
          <a:ln cap="flat" cmpd="sng" w="19050">
            <a:solidFill>
              <a:srgbClr val="7B2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3"/>
          <p:cNvSpPr/>
          <p:nvPr/>
        </p:nvSpPr>
        <p:spPr>
          <a:xfrm>
            <a:off x="3355848" y="1325880"/>
            <a:ext cx="2651760" cy="73152"/>
          </a:xfrm>
          <a:prstGeom prst="rect">
            <a:avLst/>
          </a:prstGeom>
          <a:solidFill>
            <a:srgbClr val="7B2FFF"/>
          </a:solidFill>
          <a:ln cap="flat" cmpd="sng" w="12700">
            <a:solidFill>
              <a:srgbClr val="7B2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"/>
          <p:cNvSpPr/>
          <p:nvPr/>
        </p:nvSpPr>
        <p:spPr>
          <a:xfrm>
            <a:off x="3355848" y="1508760"/>
            <a:ext cx="2651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🔗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3355848" y="224028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FFF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7B2FFF"/>
                </a:solidFill>
                <a:latin typeface="Trebuchet MS"/>
                <a:ea typeface="Trebuchet MS"/>
                <a:cs typeface="Trebuchet MS"/>
                <a:sym typeface="Trebuchet MS"/>
              </a:rPr>
              <a:t>The wires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3493008" y="2697480"/>
            <a:ext cx="237744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Data flows left → right between nodes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6254496" y="1325880"/>
            <a:ext cx="2651760" cy="3383280"/>
          </a:xfrm>
          <a:prstGeom prst="rect">
            <a:avLst/>
          </a:prstGeom>
          <a:solidFill>
            <a:srgbClr val="0F1729"/>
          </a:solidFill>
          <a:ln cap="flat" cmpd="sng" w="1905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"/>
          <p:cNvSpPr/>
          <p:nvPr/>
        </p:nvSpPr>
        <p:spPr>
          <a:xfrm>
            <a:off x="6254496" y="1325880"/>
            <a:ext cx="2651760" cy="73152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"/>
          <p:cNvSpPr/>
          <p:nvPr/>
        </p:nvSpPr>
        <p:spPr>
          <a:xfrm>
            <a:off x="6254496" y="1508760"/>
            <a:ext cx="2651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▶️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6254496" y="224028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Execute / Chat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6391656" y="2697480"/>
            <a:ext cx="237744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Run the flow, or open the chat panel to talk to 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457200" y="4617720"/>
            <a:ext cx="2651760" cy="384048"/>
          </a:xfrm>
          <a:prstGeom prst="rect">
            <a:avLst/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"/>
          <p:cNvSpPr/>
          <p:nvPr/>
        </p:nvSpPr>
        <p:spPr>
          <a:xfrm>
            <a:off x="457200" y="4617720"/>
            <a:ext cx="2651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📸  Add a screenshot of your n8n canvas here</a:t>
            </a: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3355848" y="4617720"/>
            <a:ext cx="2651760" cy="384048"/>
          </a:xfrm>
          <a:prstGeom prst="rect">
            <a:avLst/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"/>
          <p:cNvSpPr/>
          <p:nvPr/>
        </p:nvSpPr>
        <p:spPr>
          <a:xfrm>
            <a:off x="3355848" y="4617720"/>
            <a:ext cx="2651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Sub-nodes hang UNDER the AI Agent</a:t>
            </a: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6254496" y="4617720"/>
            <a:ext cx="2651760" cy="384048"/>
          </a:xfrm>
          <a:prstGeom prst="rect">
            <a:avLst/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"/>
          <p:cNvSpPr/>
          <p:nvPr/>
        </p:nvSpPr>
        <p:spPr>
          <a:xfrm>
            <a:off x="6254496" y="4617720"/>
            <a:ext cx="2651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Click any node to see its settings</a:t>
            </a: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</p:bgPr>
    </p:bg>
    <p:spTree>
      <p:nvGrpSpPr>
        <p:cNvPr id="1" name=""/>
        <p:cNvGrpSpPr/>
        <p:nvPr/>
      </p:nvGrpSpPr>
      <p:grpSpPr/>
      <p:sp>
        <p:nvSpPr>
          <p:cNvPr id="190" name="Google Shape;190;p6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96"/>
          </a:solidFill>
          <a:ln cap="flat" cmpd="sng" w="1270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6"/>
          <p:cNvSpPr/>
          <p:nvPr/>
        </p:nvSpPr>
        <p:spPr>
          <a:xfrm>
            <a:off x="457200" y="1828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SECTION 1 — n8n 101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The AI-Agent Pattern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3" name="Google Shape;193;p6"/>
          <p:cNvCxnSpPr/>
          <p:nvPr/>
        </p:nvCxnSpPr>
        <p:spPr>
          <a:xfrm>
            <a:off x="457200" y="1143000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4" name="Google Shape;194;p6"/>
          <p:cNvSpPr/>
          <p:nvPr/>
        </p:nvSpPr>
        <p:spPr>
          <a:xfrm>
            <a:off x="457200" y="1325880"/>
            <a:ext cx="4114800" cy="1115568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6"/>
          <p:cNvSpPr/>
          <p:nvPr/>
        </p:nvSpPr>
        <p:spPr>
          <a:xfrm>
            <a:off x="457200" y="1325880"/>
            <a:ext cx="502920" cy="1115568"/>
          </a:xfrm>
          <a:prstGeom prst="rect">
            <a:avLst/>
          </a:prstGeom>
          <a:solidFill>
            <a:srgbClr val="00D4FF">
              <a:alpha val="25098"/>
            </a:srgbClr>
          </a:solidFill>
          <a:ln cap="flat" cmpd="sng" w="12700">
            <a:solidFill>
              <a:srgbClr val="00D4F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6"/>
          <p:cNvSpPr/>
          <p:nvPr/>
        </p:nvSpPr>
        <p:spPr>
          <a:xfrm>
            <a:off x="457200" y="1325880"/>
            <a:ext cx="50292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1051560" y="141732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AI Agent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1051560" y="1737360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The brain — reads your message, decides what to do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4846320" y="1325880"/>
            <a:ext cx="4114800" cy="1115568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6"/>
          <p:cNvSpPr/>
          <p:nvPr/>
        </p:nvSpPr>
        <p:spPr>
          <a:xfrm>
            <a:off x="4846320" y="1325880"/>
            <a:ext cx="502920" cy="1115568"/>
          </a:xfrm>
          <a:prstGeom prst="rect">
            <a:avLst/>
          </a:prstGeom>
          <a:solidFill>
            <a:srgbClr val="00C896">
              <a:alpha val="25098"/>
            </a:srgbClr>
          </a:solidFill>
          <a:ln cap="flat" cmpd="sng" w="12700">
            <a:solidFill>
              <a:srgbClr val="00C896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6"/>
          <p:cNvSpPr/>
          <p:nvPr/>
        </p:nvSpPr>
        <p:spPr>
          <a:xfrm>
            <a:off x="4846320" y="1325880"/>
            <a:ext cx="50292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00C896"/>
                </a:solidFill>
                <a:latin typeface="Consolas"/>
                <a:ea typeface="Consolas"/>
                <a:cs typeface="Consolas"/>
                <a:sym typeface="Consolas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5440680" y="141732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Chat Model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5440680" y="1737360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The LLM it thinks with (Gemini) — ai_languageModel link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457200" y="2587752"/>
            <a:ext cx="4114800" cy="1115568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6"/>
          <p:cNvSpPr/>
          <p:nvPr/>
        </p:nvSpPr>
        <p:spPr>
          <a:xfrm>
            <a:off x="457200" y="2587752"/>
            <a:ext cx="502920" cy="1115568"/>
          </a:xfrm>
          <a:prstGeom prst="rect">
            <a:avLst/>
          </a:prstGeom>
          <a:solidFill>
            <a:srgbClr val="FF6B35">
              <a:alpha val="25098"/>
            </a:srgbClr>
          </a:solidFill>
          <a:ln cap="flat" cmpd="sng" w="12700">
            <a:solidFill>
              <a:srgbClr val="FF6B35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6"/>
          <p:cNvSpPr/>
          <p:nvPr/>
        </p:nvSpPr>
        <p:spPr>
          <a:xfrm>
            <a:off x="457200" y="2587752"/>
            <a:ext cx="50292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FF6B35"/>
                </a:solidFill>
                <a:latin typeface="Consolas"/>
                <a:ea typeface="Consolas"/>
                <a:cs typeface="Consolas"/>
                <a:sym typeface="Consolas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1051560" y="2679192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Tools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1051560" y="2999232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Things it can call (HTTP → MCP) — ai_tool links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4846320" y="2587752"/>
            <a:ext cx="4114800" cy="1115568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7B2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6"/>
          <p:cNvSpPr/>
          <p:nvPr/>
        </p:nvSpPr>
        <p:spPr>
          <a:xfrm>
            <a:off x="4846320" y="2587752"/>
            <a:ext cx="502920" cy="1115568"/>
          </a:xfrm>
          <a:prstGeom prst="rect">
            <a:avLst/>
          </a:prstGeom>
          <a:solidFill>
            <a:srgbClr val="7B2FFF">
              <a:alpha val="25098"/>
            </a:srgbClr>
          </a:solidFill>
          <a:ln cap="flat" cmpd="sng" w="12700">
            <a:solidFill>
              <a:srgbClr val="7B2FF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6"/>
          <p:cNvSpPr/>
          <p:nvPr/>
        </p:nvSpPr>
        <p:spPr>
          <a:xfrm>
            <a:off x="4846320" y="2587752"/>
            <a:ext cx="50292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FFF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7B2FFF"/>
                </a:solidFill>
                <a:latin typeface="Consolas"/>
                <a:ea typeface="Consolas"/>
                <a:cs typeface="Consolas"/>
                <a:sym typeface="Consolas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5440680" y="2679192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Memory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5440680" y="2999232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Remembers the conversation — ai_memory link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457200" y="3849624"/>
            <a:ext cx="4114800" cy="1115568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26A5E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6"/>
          <p:cNvSpPr/>
          <p:nvPr/>
        </p:nvSpPr>
        <p:spPr>
          <a:xfrm>
            <a:off x="457200" y="3849624"/>
            <a:ext cx="502920" cy="1115568"/>
          </a:xfrm>
          <a:prstGeom prst="rect">
            <a:avLst/>
          </a:prstGeom>
          <a:solidFill>
            <a:srgbClr val="26A5E4">
              <a:alpha val="25098"/>
            </a:srgbClr>
          </a:solidFill>
          <a:ln cap="flat" cmpd="sng" w="12700">
            <a:solidFill>
              <a:srgbClr val="26A5E4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6"/>
          <p:cNvSpPr/>
          <p:nvPr/>
        </p:nvSpPr>
        <p:spPr>
          <a:xfrm>
            <a:off x="457200" y="3849624"/>
            <a:ext cx="50292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A5E4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26A5E4"/>
                </a:solidFill>
                <a:latin typeface="Consolas"/>
                <a:ea typeface="Consolas"/>
                <a:cs typeface="Consolas"/>
                <a:sym typeface="Consolas"/>
              </a:rPr>
              <a:t>05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1051560" y="3941064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The loop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1051560" y="4261104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think → call a tool → read result → repeat → answer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4846320" y="3849624"/>
            <a:ext cx="4114800" cy="1115568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6"/>
          <p:cNvSpPr/>
          <p:nvPr/>
        </p:nvSpPr>
        <p:spPr>
          <a:xfrm>
            <a:off x="4846320" y="3849624"/>
            <a:ext cx="502920" cy="1115568"/>
          </a:xfrm>
          <a:prstGeom prst="rect">
            <a:avLst/>
          </a:prstGeom>
          <a:solidFill>
            <a:srgbClr val="00C896">
              <a:alpha val="25098"/>
            </a:srgbClr>
          </a:solidFill>
          <a:ln cap="flat" cmpd="sng" w="12700">
            <a:solidFill>
              <a:srgbClr val="00C896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6"/>
          <p:cNvSpPr/>
          <p:nvPr/>
        </p:nvSpPr>
        <p:spPr>
          <a:xfrm>
            <a:off x="4846320" y="3849624"/>
            <a:ext cx="50292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00C896"/>
                </a:solidFill>
                <a:latin typeface="Consolas"/>
                <a:ea typeface="Consolas"/>
                <a:cs typeface="Consolas"/>
                <a:sym typeface="Consolas"/>
              </a:rPr>
              <a:t>06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6"/>
          <p:cNvSpPr/>
          <p:nvPr/>
        </p:nvSpPr>
        <p:spPr>
          <a:xfrm>
            <a:off x="5440680" y="3941064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Why it matters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6"/>
          <p:cNvSpPr/>
          <p:nvPr/>
        </p:nvSpPr>
        <p:spPr>
          <a:xfrm>
            <a:off x="5440680" y="4261104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You describe the goal; the agent picks the tools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</p:bgPr>
    </p:bg>
    <p:spTree>
      <p:nvGrpSpPr>
        <p:cNvPr id="1" name=""/>
        <p:cNvGrpSpPr/>
        <p:nvPr/>
      </p:nvGrpSpPr>
      <p:grpSpPr/>
      <p:sp>
        <p:nvSpPr>
          <p:cNvPr id="78" name="Google Shape;78;p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457200" y="1828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SECTION 1 — YOUR FIRST WORKFLOW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Meet S2.5 — K8s + Linux Agent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1" name="Google Shape;81;p3"/>
          <p:cNvCxnSpPr/>
          <p:nvPr/>
        </p:nvCxnSpPr>
        <p:spPr>
          <a:xfrm>
            <a:off x="457200" y="1143000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" name="Google Shape;82;p3"/>
          <p:cNvSpPr/>
          <p:nvPr/>
        </p:nvSpPr>
        <p:spPr>
          <a:xfrm>
            <a:off x="457200" y="1325880"/>
            <a:ext cx="2651760" cy="3383280"/>
          </a:xfrm>
          <a:prstGeom prst="rect">
            <a:avLst/>
          </a:prstGeom>
          <a:solidFill>
            <a:srgbClr val="0F1729"/>
          </a:solidFill>
          <a:ln cap="flat" cmpd="sng" w="1905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457200" y="1325880"/>
            <a:ext cx="2651760" cy="73152"/>
          </a:xfrm>
          <a:prstGeom prst="rect">
            <a:avLst/>
          </a:prstGeom>
          <a:solidFill>
            <a:srgbClr val="FF6B35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3"/>
          <p:cNvSpPr/>
          <p:nvPr/>
        </p:nvSpPr>
        <p:spPr>
          <a:xfrm>
            <a:off x="457200" y="1508760"/>
            <a:ext cx="2651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⎈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457200" y="224028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FF6B35"/>
                </a:solidFill>
                <a:latin typeface="Trebuchet MS"/>
                <a:ea typeface="Trebuchet MS"/>
                <a:cs typeface="Trebuchet MS"/>
                <a:sym typeface="Trebuchet MS"/>
              </a:rPr>
              <a:t>kubectl_read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594360" y="2697480"/>
            <a:ext cx="237744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Cluster state: pods, events, logs, describe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3355848" y="1325880"/>
            <a:ext cx="2651760" cy="3383280"/>
          </a:xfrm>
          <a:prstGeom prst="rect">
            <a:avLst/>
          </a:prstGeom>
          <a:solidFill>
            <a:srgbClr val="0F1729"/>
          </a:solidFill>
          <a:ln cap="flat" cmpd="sng" w="19050">
            <a:solidFill>
              <a:srgbClr val="7B2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3"/>
          <p:cNvSpPr/>
          <p:nvPr/>
        </p:nvSpPr>
        <p:spPr>
          <a:xfrm>
            <a:off x="3355848" y="1325880"/>
            <a:ext cx="2651760" cy="73152"/>
          </a:xfrm>
          <a:prstGeom prst="rect">
            <a:avLst/>
          </a:prstGeom>
          <a:solidFill>
            <a:srgbClr val="7B2FFF"/>
          </a:solidFill>
          <a:ln cap="flat" cmpd="sng" w="12700">
            <a:solidFill>
              <a:srgbClr val="7B2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"/>
          <p:cNvSpPr/>
          <p:nvPr/>
        </p:nvSpPr>
        <p:spPr>
          <a:xfrm>
            <a:off x="3355848" y="1508760"/>
            <a:ext cx="2651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📊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3355848" y="224028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FFF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7B2FFF"/>
                </a:solidFill>
                <a:latin typeface="Trebuchet MS"/>
                <a:ea typeface="Trebuchet MS"/>
                <a:cs typeface="Trebuchet MS"/>
                <a:sym typeface="Trebuchet MS"/>
              </a:rPr>
              <a:t>promql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3493008" y="2697480"/>
            <a:ext cx="237744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Live metrics: CPU, memory, chaos metrics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6254496" y="1325880"/>
            <a:ext cx="2651760" cy="3383280"/>
          </a:xfrm>
          <a:prstGeom prst="rect">
            <a:avLst/>
          </a:prstGeom>
          <a:solidFill>
            <a:srgbClr val="0F1729"/>
          </a:solidFill>
          <a:ln cap="flat" cmpd="sng" w="1905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"/>
          <p:cNvSpPr/>
          <p:nvPr/>
        </p:nvSpPr>
        <p:spPr>
          <a:xfrm>
            <a:off x="6254496" y="1325880"/>
            <a:ext cx="2651760" cy="73152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"/>
          <p:cNvSpPr/>
          <p:nvPr/>
        </p:nvSpPr>
        <p:spPr>
          <a:xfrm>
            <a:off x="6254496" y="1508760"/>
            <a:ext cx="2651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🖥️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6254496" y="224028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linux_read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6391656" y="2697480"/>
            <a:ext cx="237744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The OS truth: df, free, ps, uptime, load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457200" y="4617720"/>
            <a:ext cx="2651760" cy="384048"/>
          </a:xfrm>
          <a:prstGeom prst="rect">
            <a:avLst/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"/>
          <p:cNvSpPr/>
          <p:nvPr/>
        </p:nvSpPr>
        <p:spPr>
          <a:xfrm>
            <a:off x="457200" y="4617720"/>
            <a:ext cx="2651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7 nodes, one chat</a:t>
            </a: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3355848" y="4617720"/>
            <a:ext cx="2651760" cy="384048"/>
          </a:xfrm>
          <a:prstGeom prst="rect">
            <a:avLst/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"/>
          <p:cNvSpPr/>
          <p:nvPr/>
        </p:nvSpPr>
        <p:spPr>
          <a:xfrm>
            <a:off x="3355848" y="4617720"/>
            <a:ext cx="2651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Chat Trigger → Agent ⇄ Gemini + 3 tools + memory</a:t>
            </a: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6254496" y="4617720"/>
            <a:ext cx="2651760" cy="384048"/>
          </a:xfrm>
          <a:prstGeom prst="rect">
            <a:avLst/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"/>
          <p:cNvSpPr/>
          <p:nvPr/>
        </p:nvSpPr>
        <p:spPr>
          <a:xfrm>
            <a:off x="6254496" y="4617720"/>
            <a:ext cx="2651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Answers K8s, OS &amp; metric questions together</a:t>
            </a: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</p:bgPr>
    </p:bg>
    <p:spTree>
      <p:nvGrpSpPr>
        <p:cNvPr id="1" name=""/>
        <p:cNvGrpSpPr/>
        <p:nvPr/>
      </p:nvGrpSpPr>
      <p:grpSpPr/>
      <p:sp>
        <p:nvSpPr>
          <p:cNvPr id="190" name="Google Shape;190;p6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96"/>
          </a:solidFill>
          <a:ln cap="flat" cmpd="sng" w="1270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6"/>
          <p:cNvSpPr/>
          <p:nvPr/>
        </p:nvSpPr>
        <p:spPr>
          <a:xfrm>
            <a:off x="457200" y="1828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SECTION 1 — YOUR FIRST WORKFLOW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Load It Into n8n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3" name="Google Shape;193;p6"/>
          <p:cNvCxnSpPr/>
          <p:nvPr/>
        </p:nvCxnSpPr>
        <p:spPr>
          <a:xfrm>
            <a:off x="457200" y="1143000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4" name="Google Shape;194;p6"/>
          <p:cNvSpPr/>
          <p:nvPr/>
        </p:nvSpPr>
        <p:spPr>
          <a:xfrm>
            <a:off x="457200" y="1325880"/>
            <a:ext cx="4114800" cy="1115568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6"/>
          <p:cNvSpPr/>
          <p:nvPr/>
        </p:nvSpPr>
        <p:spPr>
          <a:xfrm>
            <a:off x="457200" y="1325880"/>
            <a:ext cx="502920" cy="1115568"/>
          </a:xfrm>
          <a:prstGeom prst="rect">
            <a:avLst/>
          </a:prstGeom>
          <a:solidFill>
            <a:srgbClr val="00D4FF">
              <a:alpha val="25098"/>
            </a:srgbClr>
          </a:solidFill>
          <a:ln cap="flat" cmpd="sng" w="12700">
            <a:solidFill>
              <a:srgbClr val="00D4F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6"/>
          <p:cNvSpPr/>
          <p:nvPr/>
        </p:nvSpPr>
        <p:spPr>
          <a:xfrm>
            <a:off x="457200" y="1325880"/>
            <a:ext cx="50292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1051560" y="141732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Open n8n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1051560" y="1737360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http://&lt;LB&gt;/  →  Workflows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4846320" y="1325880"/>
            <a:ext cx="4114800" cy="1115568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6"/>
          <p:cNvSpPr/>
          <p:nvPr/>
        </p:nvSpPr>
        <p:spPr>
          <a:xfrm>
            <a:off x="4846320" y="1325880"/>
            <a:ext cx="502920" cy="1115568"/>
          </a:xfrm>
          <a:prstGeom prst="rect">
            <a:avLst/>
          </a:prstGeom>
          <a:solidFill>
            <a:srgbClr val="00C896">
              <a:alpha val="25098"/>
            </a:srgbClr>
          </a:solidFill>
          <a:ln cap="flat" cmpd="sng" w="12700">
            <a:solidFill>
              <a:srgbClr val="00C896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6"/>
          <p:cNvSpPr/>
          <p:nvPr/>
        </p:nvSpPr>
        <p:spPr>
          <a:xfrm>
            <a:off x="4846320" y="1325880"/>
            <a:ext cx="50292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00C896"/>
                </a:solidFill>
                <a:latin typeface="Consolas"/>
                <a:ea typeface="Consolas"/>
                <a:cs typeface="Consolas"/>
                <a:sym typeface="Consolas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5440680" y="141732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Import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5440680" y="1737360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Top-right ⋯ menu → Import from File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457200" y="2587752"/>
            <a:ext cx="4114800" cy="1115568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6"/>
          <p:cNvSpPr/>
          <p:nvPr/>
        </p:nvSpPr>
        <p:spPr>
          <a:xfrm>
            <a:off x="457200" y="2587752"/>
            <a:ext cx="502920" cy="1115568"/>
          </a:xfrm>
          <a:prstGeom prst="rect">
            <a:avLst/>
          </a:prstGeom>
          <a:solidFill>
            <a:srgbClr val="FF6B35">
              <a:alpha val="25098"/>
            </a:srgbClr>
          </a:solidFill>
          <a:ln cap="flat" cmpd="sng" w="12700">
            <a:solidFill>
              <a:srgbClr val="FF6B35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6"/>
          <p:cNvSpPr/>
          <p:nvPr/>
        </p:nvSpPr>
        <p:spPr>
          <a:xfrm>
            <a:off x="457200" y="2587752"/>
            <a:ext cx="50292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FF6B35"/>
                </a:solidFill>
                <a:latin typeface="Consolas"/>
                <a:ea typeface="Consolas"/>
                <a:cs typeface="Consolas"/>
                <a:sym typeface="Consolas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1051560" y="2679192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Pick the file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1051560" y="2999232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n8n-workflows/s2.5-linux-agent.json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4846320" y="2587752"/>
            <a:ext cx="4114800" cy="1115568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7B2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6"/>
          <p:cNvSpPr/>
          <p:nvPr/>
        </p:nvSpPr>
        <p:spPr>
          <a:xfrm>
            <a:off x="4846320" y="2587752"/>
            <a:ext cx="502920" cy="1115568"/>
          </a:xfrm>
          <a:prstGeom prst="rect">
            <a:avLst/>
          </a:prstGeom>
          <a:solidFill>
            <a:srgbClr val="7B2FFF">
              <a:alpha val="25098"/>
            </a:srgbClr>
          </a:solidFill>
          <a:ln cap="flat" cmpd="sng" w="12700">
            <a:solidFill>
              <a:srgbClr val="7B2FF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6"/>
          <p:cNvSpPr/>
          <p:nvPr/>
        </p:nvSpPr>
        <p:spPr>
          <a:xfrm>
            <a:off x="4846320" y="2587752"/>
            <a:ext cx="50292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FFF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7B2FFF"/>
                </a:solidFill>
                <a:latin typeface="Consolas"/>
                <a:ea typeface="Consolas"/>
                <a:cs typeface="Consolas"/>
                <a:sym typeface="Consolas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5440680" y="2679192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Set the model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5440680" y="2999232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Open the Gemini node → choose your Google Gemini credential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457200" y="3849624"/>
            <a:ext cx="4114800" cy="1115568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26A5E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6"/>
          <p:cNvSpPr/>
          <p:nvPr/>
        </p:nvSpPr>
        <p:spPr>
          <a:xfrm>
            <a:off x="457200" y="3849624"/>
            <a:ext cx="502920" cy="1115568"/>
          </a:xfrm>
          <a:prstGeom prst="rect">
            <a:avLst/>
          </a:prstGeom>
          <a:solidFill>
            <a:srgbClr val="26A5E4">
              <a:alpha val="25098"/>
            </a:srgbClr>
          </a:solidFill>
          <a:ln cap="flat" cmpd="sng" w="12700">
            <a:solidFill>
              <a:srgbClr val="26A5E4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6"/>
          <p:cNvSpPr/>
          <p:nvPr/>
        </p:nvSpPr>
        <p:spPr>
          <a:xfrm>
            <a:off x="457200" y="3849624"/>
            <a:ext cx="50292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A5E4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26A5E4"/>
                </a:solidFill>
                <a:latin typeface="Consolas"/>
                <a:ea typeface="Consolas"/>
                <a:cs typeface="Consolas"/>
                <a:sym typeface="Consolas"/>
              </a:rPr>
              <a:t>05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1051560" y="3941064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Pick the model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1051560" y="4261104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gemini-2.5-flash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4846320" y="3849624"/>
            <a:ext cx="4114800" cy="1115568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6"/>
          <p:cNvSpPr/>
          <p:nvPr/>
        </p:nvSpPr>
        <p:spPr>
          <a:xfrm>
            <a:off x="4846320" y="3849624"/>
            <a:ext cx="502920" cy="1115568"/>
          </a:xfrm>
          <a:prstGeom prst="rect">
            <a:avLst/>
          </a:prstGeom>
          <a:solidFill>
            <a:srgbClr val="00C896">
              <a:alpha val="25098"/>
            </a:srgbClr>
          </a:solidFill>
          <a:ln cap="flat" cmpd="sng" w="12700">
            <a:solidFill>
              <a:srgbClr val="00C896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6"/>
          <p:cNvSpPr/>
          <p:nvPr/>
        </p:nvSpPr>
        <p:spPr>
          <a:xfrm>
            <a:off x="4846320" y="3849624"/>
            <a:ext cx="50292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00C896"/>
                </a:solidFill>
                <a:latin typeface="Consolas"/>
                <a:ea typeface="Consolas"/>
                <a:cs typeface="Consolas"/>
                <a:sym typeface="Consolas"/>
              </a:rPr>
              <a:t>06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6"/>
          <p:cNvSpPr/>
          <p:nvPr/>
        </p:nvSpPr>
        <p:spPr>
          <a:xfrm>
            <a:off x="5440680" y="3941064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Save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6"/>
          <p:cNvSpPr/>
          <p:nvPr/>
        </p:nvSpPr>
        <p:spPr>
          <a:xfrm>
            <a:off x="5440680" y="4261104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Name stays "S2.5 - Linux + K8s Agent" — ready to chat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</p:bgPr>
    </p:bg>
    <p:spTree>
      <p:nvGrpSpPr>
        <p:cNvPr id="1" name=""/>
        <p:cNvGrpSpPr/>
        <p:nvPr/>
      </p:nvGrpSpPr>
      <p:grpSpPr/>
      <p:sp>
        <p:nvSpPr>
          <p:cNvPr id="190" name="Google Shape;190;p6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96"/>
          </a:solidFill>
          <a:ln cap="flat" cmpd="sng" w="1270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6"/>
          <p:cNvSpPr/>
          <p:nvPr/>
        </p:nvSpPr>
        <p:spPr>
          <a:xfrm>
            <a:off x="457200" y="1828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SECTION 1 — S2.5 OBJECT BY OBJECT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Object 1 — Chat Trigger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3" name="Google Shape;193;p6"/>
          <p:cNvCxnSpPr/>
          <p:nvPr/>
        </p:nvCxnSpPr>
        <p:spPr>
          <a:xfrm>
            <a:off x="457200" y="1143000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4" name="Google Shape;194;p6"/>
          <p:cNvSpPr/>
          <p:nvPr/>
        </p:nvSpPr>
        <p:spPr>
          <a:xfrm>
            <a:off x="457200" y="1325880"/>
            <a:ext cx="4114800" cy="1115568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6"/>
          <p:cNvSpPr/>
          <p:nvPr/>
        </p:nvSpPr>
        <p:spPr>
          <a:xfrm>
            <a:off x="457200" y="1325880"/>
            <a:ext cx="502920" cy="1115568"/>
          </a:xfrm>
          <a:prstGeom prst="rect">
            <a:avLst/>
          </a:prstGeom>
          <a:solidFill>
            <a:srgbClr val="00D4FF">
              <a:alpha val="25098"/>
            </a:srgbClr>
          </a:solidFill>
          <a:ln cap="flat" cmpd="sng" w="12700">
            <a:solidFill>
              <a:srgbClr val="00D4F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6"/>
          <p:cNvSpPr/>
          <p:nvPr/>
        </p:nvSpPr>
        <p:spPr>
          <a:xfrm>
            <a:off x="457200" y="1325880"/>
            <a:ext cx="50292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1051560" y="141732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Type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1051560" y="1737360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Chat Trigger (chatTrigger)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4846320" y="1325880"/>
            <a:ext cx="4114800" cy="1115568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6"/>
          <p:cNvSpPr/>
          <p:nvPr/>
        </p:nvSpPr>
        <p:spPr>
          <a:xfrm>
            <a:off x="4846320" y="1325880"/>
            <a:ext cx="502920" cy="1115568"/>
          </a:xfrm>
          <a:prstGeom prst="rect">
            <a:avLst/>
          </a:prstGeom>
          <a:solidFill>
            <a:srgbClr val="00C896">
              <a:alpha val="25098"/>
            </a:srgbClr>
          </a:solidFill>
          <a:ln cap="flat" cmpd="sng" w="12700">
            <a:solidFill>
              <a:srgbClr val="00C896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6"/>
          <p:cNvSpPr/>
          <p:nvPr/>
        </p:nvSpPr>
        <p:spPr>
          <a:xfrm>
            <a:off x="4846320" y="1325880"/>
            <a:ext cx="50292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00C896"/>
                </a:solidFill>
                <a:latin typeface="Consolas"/>
                <a:ea typeface="Consolas"/>
                <a:cs typeface="Consolas"/>
                <a:sym typeface="Consolas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5440680" y="141732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Role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5440680" y="1737360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Entry point — opens the built-in chat panel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457200" y="2587752"/>
            <a:ext cx="4114800" cy="1115568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6"/>
          <p:cNvSpPr/>
          <p:nvPr/>
        </p:nvSpPr>
        <p:spPr>
          <a:xfrm>
            <a:off x="457200" y="2587752"/>
            <a:ext cx="502920" cy="1115568"/>
          </a:xfrm>
          <a:prstGeom prst="rect">
            <a:avLst/>
          </a:prstGeom>
          <a:solidFill>
            <a:srgbClr val="FF6B35">
              <a:alpha val="25098"/>
            </a:srgbClr>
          </a:solidFill>
          <a:ln cap="flat" cmpd="sng" w="12700">
            <a:solidFill>
              <a:srgbClr val="FF6B35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6"/>
          <p:cNvSpPr/>
          <p:nvPr/>
        </p:nvSpPr>
        <p:spPr>
          <a:xfrm>
            <a:off x="457200" y="2587752"/>
            <a:ext cx="50292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FF6B35"/>
                </a:solidFill>
                <a:latin typeface="Consolas"/>
                <a:ea typeface="Consolas"/>
                <a:cs typeface="Consolas"/>
                <a:sym typeface="Consolas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1051560" y="2679192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Input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1051560" y="2999232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Whatever you type in the chat box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4846320" y="2587752"/>
            <a:ext cx="4114800" cy="1115568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7B2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6"/>
          <p:cNvSpPr/>
          <p:nvPr/>
        </p:nvSpPr>
        <p:spPr>
          <a:xfrm>
            <a:off x="4846320" y="2587752"/>
            <a:ext cx="502920" cy="1115568"/>
          </a:xfrm>
          <a:prstGeom prst="rect">
            <a:avLst/>
          </a:prstGeom>
          <a:solidFill>
            <a:srgbClr val="7B2FFF">
              <a:alpha val="25098"/>
            </a:srgbClr>
          </a:solidFill>
          <a:ln cap="flat" cmpd="sng" w="12700">
            <a:solidFill>
              <a:srgbClr val="7B2FF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6"/>
          <p:cNvSpPr/>
          <p:nvPr/>
        </p:nvSpPr>
        <p:spPr>
          <a:xfrm>
            <a:off x="4846320" y="2587752"/>
            <a:ext cx="50292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FFF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7B2FFF"/>
                </a:solidFill>
                <a:latin typeface="Consolas"/>
                <a:ea typeface="Consolas"/>
                <a:cs typeface="Consolas"/>
                <a:sym typeface="Consolas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5440680" y="2679192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Connects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5440680" y="2999232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→ K8s + Linux Agent  (main)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457200" y="3849624"/>
            <a:ext cx="4114800" cy="1115568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26A5E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6"/>
          <p:cNvSpPr/>
          <p:nvPr/>
        </p:nvSpPr>
        <p:spPr>
          <a:xfrm>
            <a:off x="457200" y="3849624"/>
            <a:ext cx="502920" cy="1115568"/>
          </a:xfrm>
          <a:prstGeom prst="rect">
            <a:avLst/>
          </a:prstGeom>
          <a:solidFill>
            <a:srgbClr val="26A5E4">
              <a:alpha val="25098"/>
            </a:srgbClr>
          </a:solidFill>
          <a:ln cap="flat" cmpd="sng" w="12700">
            <a:solidFill>
              <a:srgbClr val="26A5E4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6"/>
          <p:cNvSpPr/>
          <p:nvPr/>
        </p:nvSpPr>
        <p:spPr>
          <a:xfrm>
            <a:off x="457200" y="3849624"/>
            <a:ext cx="50292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A5E4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26A5E4"/>
                </a:solidFill>
                <a:latin typeface="Consolas"/>
                <a:ea typeface="Consolas"/>
                <a:cs typeface="Consolas"/>
                <a:sym typeface="Consolas"/>
              </a:rPr>
              <a:t>05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1051560" y="3941064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Why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1051560" y="4261104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No webhook or Telegram — n8n hosts the chat UI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4846320" y="3849624"/>
            <a:ext cx="4114800" cy="1115568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6"/>
          <p:cNvSpPr/>
          <p:nvPr/>
        </p:nvSpPr>
        <p:spPr>
          <a:xfrm>
            <a:off x="4846320" y="3849624"/>
            <a:ext cx="502920" cy="1115568"/>
          </a:xfrm>
          <a:prstGeom prst="rect">
            <a:avLst/>
          </a:prstGeom>
          <a:solidFill>
            <a:srgbClr val="00C896">
              <a:alpha val="25098"/>
            </a:srgbClr>
          </a:solidFill>
          <a:ln cap="flat" cmpd="sng" w="12700">
            <a:solidFill>
              <a:srgbClr val="00C896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6"/>
          <p:cNvSpPr/>
          <p:nvPr/>
        </p:nvSpPr>
        <p:spPr>
          <a:xfrm>
            <a:off x="4846320" y="3849624"/>
            <a:ext cx="50292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00C896"/>
                </a:solidFill>
                <a:latin typeface="Consolas"/>
                <a:ea typeface="Consolas"/>
                <a:cs typeface="Consolas"/>
                <a:sym typeface="Consolas"/>
              </a:rPr>
              <a:t>06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6"/>
          <p:cNvSpPr/>
          <p:nvPr/>
        </p:nvSpPr>
        <p:spPr>
          <a:xfrm>
            <a:off x="5440680" y="3941064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Try 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6"/>
          <p:cNvSpPr/>
          <p:nvPr/>
        </p:nvSpPr>
        <p:spPr>
          <a:xfrm>
            <a:off x="5440680" y="4261104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Click "Chat" (bottom bar) to talk to the flow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</p:bgPr>
    </p:bg>
    <p:spTree>
      <p:nvGrpSpPr>
        <p:cNvPr id="1" name=""/>
        <p:cNvGrpSpPr/>
        <p:nvPr/>
      </p:nvGrpSpPr>
      <p:grpSpPr/>
      <p:sp>
        <p:nvSpPr>
          <p:cNvPr id="190" name="Google Shape;190;p6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96"/>
          </a:solidFill>
          <a:ln cap="flat" cmpd="sng" w="1270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6"/>
          <p:cNvSpPr/>
          <p:nvPr/>
        </p:nvSpPr>
        <p:spPr>
          <a:xfrm>
            <a:off x="457200" y="1828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SECTION 1 — S2.5 OBJECT BY OBJECT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Object 2 — K8s + Linux Agent (the brain)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3" name="Google Shape;193;p6"/>
          <p:cNvCxnSpPr/>
          <p:nvPr/>
        </p:nvCxnSpPr>
        <p:spPr>
          <a:xfrm>
            <a:off x="457200" y="1143000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4" name="Google Shape;194;p6"/>
          <p:cNvSpPr/>
          <p:nvPr/>
        </p:nvSpPr>
        <p:spPr>
          <a:xfrm>
            <a:off x="457200" y="1325880"/>
            <a:ext cx="4114800" cy="1115568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6"/>
          <p:cNvSpPr/>
          <p:nvPr/>
        </p:nvSpPr>
        <p:spPr>
          <a:xfrm>
            <a:off x="457200" y="1325880"/>
            <a:ext cx="502920" cy="1115568"/>
          </a:xfrm>
          <a:prstGeom prst="rect">
            <a:avLst/>
          </a:prstGeom>
          <a:solidFill>
            <a:srgbClr val="00D4FF">
              <a:alpha val="25098"/>
            </a:srgbClr>
          </a:solidFill>
          <a:ln cap="flat" cmpd="sng" w="12700">
            <a:solidFill>
              <a:srgbClr val="00D4F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6"/>
          <p:cNvSpPr/>
          <p:nvPr/>
        </p:nvSpPr>
        <p:spPr>
          <a:xfrm>
            <a:off x="457200" y="1325880"/>
            <a:ext cx="50292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1051560" y="141732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Type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1051560" y="1737360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AI Agent (agent v1.7, LangChain)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4846320" y="1325880"/>
            <a:ext cx="4114800" cy="1115568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6"/>
          <p:cNvSpPr/>
          <p:nvPr/>
        </p:nvSpPr>
        <p:spPr>
          <a:xfrm>
            <a:off x="4846320" y="1325880"/>
            <a:ext cx="502920" cy="1115568"/>
          </a:xfrm>
          <a:prstGeom prst="rect">
            <a:avLst/>
          </a:prstGeom>
          <a:solidFill>
            <a:srgbClr val="00C896">
              <a:alpha val="25098"/>
            </a:srgbClr>
          </a:solidFill>
          <a:ln cap="flat" cmpd="sng" w="12700">
            <a:solidFill>
              <a:srgbClr val="00C896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6"/>
          <p:cNvSpPr/>
          <p:nvPr/>
        </p:nvSpPr>
        <p:spPr>
          <a:xfrm>
            <a:off x="4846320" y="1325880"/>
            <a:ext cx="50292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00C896"/>
                </a:solidFill>
                <a:latin typeface="Consolas"/>
                <a:ea typeface="Consolas"/>
                <a:cs typeface="Consolas"/>
                <a:sym typeface="Consolas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5440680" y="141732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Job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5440680" y="1737360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Reads your question, decides which tool(s) to call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457200" y="2587752"/>
            <a:ext cx="4114800" cy="1115568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6"/>
          <p:cNvSpPr/>
          <p:nvPr/>
        </p:nvSpPr>
        <p:spPr>
          <a:xfrm>
            <a:off x="457200" y="2587752"/>
            <a:ext cx="502920" cy="1115568"/>
          </a:xfrm>
          <a:prstGeom prst="rect">
            <a:avLst/>
          </a:prstGeom>
          <a:solidFill>
            <a:srgbClr val="FF6B35">
              <a:alpha val="25098"/>
            </a:srgbClr>
          </a:solidFill>
          <a:ln cap="flat" cmpd="sng" w="12700">
            <a:solidFill>
              <a:srgbClr val="FF6B35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6"/>
          <p:cNvSpPr/>
          <p:nvPr/>
        </p:nvSpPr>
        <p:spPr>
          <a:xfrm>
            <a:off x="457200" y="2587752"/>
            <a:ext cx="50292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FF6B35"/>
                </a:solidFill>
                <a:latin typeface="Consolas"/>
                <a:ea typeface="Consolas"/>
                <a:cs typeface="Consolas"/>
                <a:sym typeface="Consolas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1051560" y="2679192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System prompt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1051560" y="2999232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Routes: kubectl→K8s · promql→metrics · linux→OS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4846320" y="2587752"/>
            <a:ext cx="4114800" cy="1115568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7B2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6"/>
          <p:cNvSpPr/>
          <p:nvPr/>
        </p:nvSpPr>
        <p:spPr>
          <a:xfrm>
            <a:off x="4846320" y="2587752"/>
            <a:ext cx="502920" cy="1115568"/>
          </a:xfrm>
          <a:prstGeom prst="rect">
            <a:avLst/>
          </a:prstGeom>
          <a:solidFill>
            <a:srgbClr val="7B2FFF">
              <a:alpha val="25098"/>
            </a:srgbClr>
          </a:solidFill>
          <a:ln cap="flat" cmpd="sng" w="12700">
            <a:solidFill>
              <a:srgbClr val="7B2FF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6"/>
          <p:cNvSpPr/>
          <p:nvPr/>
        </p:nvSpPr>
        <p:spPr>
          <a:xfrm>
            <a:off x="4846320" y="2587752"/>
            <a:ext cx="50292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FFF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7B2FFF"/>
                </a:solidFill>
                <a:latin typeface="Consolas"/>
                <a:ea typeface="Consolas"/>
                <a:cs typeface="Consolas"/>
                <a:sym typeface="Consolas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5440680" y="2679192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Gets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5440680" y="2999232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a model (Gemini) + 3 tools + memory attached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457200" y="3849624"/>
            <a:ext cx="4114800" cy="1115568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26A5E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6"/>
          <p:cNvSpPr/>
          <p:nvPr/>
        </p:nvSpPr>
        <p:spPr>
          <a:xfrm>
            <a:off x="457200" y="3849624"/>
            <a:ext cx="502920" cy="1115568"/>
          </a:xfrm>
          <a:prstGeom prst="rect">
            <a:avLst/>
          </a:prstGeom>
          <a:solidFill>
            <a:srgbClr val="26A5E4">
              <a:alpha val="25098"/>
            </a:srgbClr>
          </a:solidFill>
          <a:ln cap="flat" cmpd="sng" w="12700">
            <a:solidFill>
              <a:srgbClr val="26A5E4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6"/>
          <p:cNvSpPr/>
          <p:nvPr/>
        </p:nvSpPr>
        <p:spPr>
          <a:xfrm>
            <a:off x="457200" y="3849624"/>
            <a:ext cx="50292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A5E4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26A5E4"/>
                </a:solidFill>
                <a:latin typeface="Consolas"/>
                <a:ea typeface="Consolas"/>
                <a:cs typeface="Consolas"/>
                <a:sym typeface="Consolas"/>
              </a:rPr>
              <a:t>05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1051560" y="3941064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Output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1051560" y="4261104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Concise answer (&lt;400 words; states the tool used)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4846320" y="3849624"/>
            <a:ext cx="4114800" cy="1115568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6"/>
          <p:cNvSpPr/>
          <p:nvPr/>
        </p:nvSpPr>
        <p:spPr>
          <a:xfrm>
            <a:off x="4846320" y="3849624"/>
            <a:ext cx="502920" cy="1115568"/>
          </a:xfrm>
          <a:prstGeom prst="rect">
            <a:avLst/>
          </a:prstGeom>
          <a:solidFill>
            <a:srgbClr val="00C896">
              <a:alpha val="25098"/>
            </a:srgbClr>
          </a:solidFill>
          <a:ln cap="flat" cmpd="sng" w="12700">
            <a:solidFill>
              <a:srgbClr val="00C896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6"/>
          <p:cNvSpPr/>
          <p:nvPr/>
        </p:nvSpPr>
        <p:spPr>
          <a:xfrm>
            <a:off x="4846320" y="3849624"/>
            <a:ext cx="50292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00C896"/>
                </a:solidFill>
                <a:latin typeface="Consolas"/>
                <a:ea typeface="Consolas"/>
                <a:cs typeface="Consolas"/>
                <a:sym typeface="Consolas"/>
              </a:rPr>
              <a:t>06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6"/>
          <p:cNvSpPr/>
          <p:nvPr/>
        </p:nvSpPr>
        <p:spPr>
          <a:xfrm>
            <a:off x="5440680" y="3941064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Key idea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6"/>
          <p:cNvSpPr/>
          <p:nvPr/>
        </p:nvSpPr>
        <p:spPr>
          <a:xfrm>
            <a:off x="5440680" y="4261104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You set the rules in plain English in the prompt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</p:bgPr>
    </p:bg>
    <p:spTree>
      <p:nvGrpSpPr>
        <p:cNvPr id="1" name=""/>
        <p:cNvGrpSpPr/>
        <p:nvPr/>
      </p:nvGrpSpPr>
      <p:grpSpPr/>
      <p:sp>
        <p:nvSpPr>
          <p:cNvPr id="190" name="Google Shape;190;p6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96"/>
          </a:solidFill>
          <a:ln cap="flat" cmpd="sng" w="1270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6"/>
          <p:cNvSpPr/>
          <p:nvPr/>
        </p:nvSpPr>
        <p:spPr>
          <a:xfrm>
            <a:off x="457200" y="1828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SECTION 1 — S2.5 OBJECT BY OBJECT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Object 3 — Gemini (the model)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3" name="Google Shape;193;p6"/>
          <p:cNvCxnSpPr/>
          <p:nvPr/>
        </p:nvCxnSpPr>
        <p:spPr>
          <a:xfrm>
            <a:off x="457200" y="1143000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4" name="Google Shape;194;p6"/>
          <p:cNvSpPr/>
          <p:nvPr/>
        </p:nvSpPr>
        <p:spPr>
          <a:xfrm>
            <a:off x="457200" y="1325880"/>
            <a:ext cx="4114800" cy="1115568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6"/>
          <p:cNvSpPr/>
          <p:nvPr/>
        </p:nvSpPr>
        <p:spPr>
          <a:xfrm>
            <a:off x="457200" y="1325880"/>
            <a:ext cx="502920" cy="1115568"/>
          </a:xfrm>
          <a:prstGeom prst="rect">
            <a:avLst/>
          </a:prstGeom>
          <a:solidFill>
            <a:srgbClr val="00D4FF">
              <a:alpha val="25098"/>
            </a:srgbClr>
          </a:solidFill>
          <a:ln cap="flat" cmpd="sng" w="12700">
            <a:solidFill>
              <a:srgbClr val="00D4F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6"/>
          <p:cNvSpPr/>
          <p:nvPr/>
        </p:nvSpPr>
        <p:spPr>
          <a:xfrm>
            <a:off x="457200" y="1325880"/>
            <a:ext cx="50292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1051560" y="141732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Type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1051560" y="1737360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Google Gemini Chat Model (lmChatGoogleGemini)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4846320" y="1325880"/>
            <a:ext cx="4114800" cy="1115568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6"/>
          <p:cNvSpPr/>
          <p:nvPr/>
        </p:nvSpPr>
        <p:spPr>
          <a:xfrm>
            <a:off x="4846320" y="1325880"/>
            <a:ext cx="502920" cy="1115568"/>
          </a:xfrm>
          <a:prstGeom prst="rect">
            <a:avLst/>
          </a:prstGeom>
          <a:solidFill>
            <a:srgbClr val="00C896">
              <a:alpha val="25098"/>
            </a:srgbClr>
          </a:solidFill>
          <a:ln cap="flat" cmpd="sng" w="12700">
            <a:solidFill>
              <a:srgbClr val="00C896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6"/>
          <p:cNvSpPr/>
          <p:nvPr/>
        </p:nvSpPr>
        <p:spPr>
          <a:xfrm>
            <a:off x="4846320" y="1325880"/>
            <a:ext cx="50292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00C896"/>
                </a:solidFill>
                <a:latin typeface="Consolas"/>
                <a:ea typeface="Consolas"/>
                <a:cs typeface="Consolas"/>
                <a:sym typeface="Consolas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5440680" y="141732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Model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5440680" y="1737360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gemini-2.5-flash — fast, cheap, tool-capable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457200" y="2587752"/>
            <a:ext cx="4114800" cy="1115568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6"/>
          <p:cNvSpPr/>
          <p:nvPr/>
        </p:nvSpPr>
        <p:spPr>
          <a:xfrm>
            <a:off x="457200" y="2587752"/>
            <a:ext cx="502920" cy="1115568"/>
          </a:xfrm>
          <a:prstGeom prst="rect">
            <a:avLst/>
          </a:prstGeom>
          <a:solidFill>
            <a:srgbClr val="FF6B35">
              <a:alpha val="25098"/>
            </a:srgbClr>
          </a:solidFill>
          <a:ln cap="flat" cmpd="sng" w="12700">
            <a:solidFill>
              <a:srgbClr val="FF6B35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6"/>
          <p:cNvSpPr/>
          <p:nvPr/>
        </p:nvSpPr>
        <p:spPr>
          <a:xfrm>
            <a:off x="457200" y="2587752"/>
            <a:ext cx="50292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FF6B35"/>
                </a:solidFill>
                <a:latin typeface="Consolas"/>
                <a:ea typeface="Consolas"/>
                <a:cs typeface="Consolas"/>
                <a:sym typeface="Consolas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1051560" y="2679192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Link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1051560" y="2999232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→ Agent as ai_languageModel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4846320" y="2587752"/>
            <a:ext cx="4114800" cy="1115568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7B2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6"/>
          <p:cNvSpPr/>
          <p:nvPr/>
        </p:nvSpPr>
        <p:spPr>
          <a:xfrm>
            <a:off x="4846320" y="2587752"/>
            <a:ext cx="502920" cy="1115568"/>
          </a:xfrm>
          <a:prstGeom prst="rect">
            <a:avLst/>
          </a:prstGeom>
          <a:solidFill>
            <a:srgbClr val="7B2FFF">
              <a:alpha val="25098"/>
            </a:srgbClr>
          </a:solidFill>
          <a:ln cap="flat" cmpd="sng" w="12700">
            <a:solidFill>
              <a:srgbClr val="7B2FF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6"/>
          <p:cNvSpPr/>
          <p:nvPr/>
        </p:nvSpPr>
        <p:spPr>
          <a:xfrm>
            <a:off x="4846320" y="2587752"/>
            <a:ext cx="50292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FFF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7B2FFF"/>
                </a:solidFill>
                <a:latin typeface="Consolas"/>
                <a:ea typeface="Consolas"/>
                <a:cs typeface="Consolas"/>
                <a:sym typeface="Consolas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5440680" y="2679192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Credential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5440680" y="2999232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Google Gemini(PaLM) Api account (your key)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457200" y="3849624"/>
            <a:ext cx="4114800" cy="1115568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26A5E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6"/>
          <p:cNvSpPr/>
          <p:nvPr/>
        </p:nvSpPr>
        <p:spPr>
          <a:xfrm>
            <a:off x="457200" y="3849624"/>
            <a:ext cx="502920" cy="1115568"/>
          </a:xfrm>
          <a:prstGeom prst="rect">
            <a:avLst/>
          </a:prstGeom>
          <a:solidFill>
            <a:srgbClr val="26A5E4">
              <a:alpha val="25098"/>
            </a:srgbClr>
          </a:solidFill>
          <a:ln cap="flat" cmpd="sng" w="12700">
            <a:solidFill>
              <a:srgbClr val="26A5E4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6"/>
          <p:cNvSpPr/>
          <p:nvPr/>
        </p:nvSpPr>
        <p:spPr>
          <a:xfrm>
            <a:off x="457200" y="3849624"/>
            <a:ext cx="50292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A5E4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26A5E4"/>
                </a:solidFill>
                <a:latin typeface="Consolas"/>
                <a:ea typeface="Consolas"/>
                <a:cs typeface="Consolas"/>
                <a:sym typeface="Consolas"/>
              </a:rPr>
              <a:t>05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1051560" y="3941064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Role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1051560" y="4261104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The reasoning engine the agent thinks with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4846320" y="3849624"/>
            <a:ext cx="4114800" cy="1115568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6"/>
          <p:cNvSpPr/>
          <p:nvPr/>
        </p:nvSpPr>
        <p:spPr>
          <a:xfrm>
            <a:off x="4846320" y="3849624"/>
            <a:ext cx="502920" cy="1115568"/>
          </a:xfrm>
          <a:prstGeom prst="rect">
            <a:avLst/>
          </a:prstGeom>
          <a:solidFill>
            <a:srgbClr val="00C896">
              <a:alpha val="25098"/>
            </a:srgbClr>
          </a:solidFill>
          <a:ln cap="flat" cmpd="sng" w="12700">
            <a:solidFill>
              <a:srgbClr val="00C896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6"/>
          <p:cNvSpPr/>
          <p:nvPr/>
        </p:nvSpPr>
        <p:spPr>
          <a:xfrm>
            <a:off x="4846320" y="3849624"/>
            <a:ext cx="50292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00C896"/>
                </a:solidFill>
                <a:latin typeface="Consolas"/>
                <a:ea typeface="Consolas"/>
                <a:cs typeface="Consolas"/>
                <a:sym typeface="Consolas"/>
              </a:rPr>
              <a:t>06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6"/>
          <p:cNvSpPr/>
          <p:nvPr/>
        </p:nvSpPr>
        <p:spPr>
          <a:xfrm>
            <a:off x="5440680" y="3941064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Gotcha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6"/>
          <p:cNvSpPr/>
          <p:nvPr/>
        </p:nvSpPr>
        <p:spPr>
          <a:xfrm>
            <a:off x="5440680" y="4261104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Pick the model + credential or the agent errors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</p:bgPr>
    </p:bg>
    <p:spTree>
      <p:nvGrpSpPr>
        <p:cNvPr id="1" name=""/>
        <p:cNvGrpSpPr/>
        <p:nvPr/>
      </p:nvGrpSpPr>
      <p:grpSpPr/>
      <p:sp>
        <p:nvSpPr>
          <p:cNvPr id="190" name="Google Shape;190;p6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96"/>
          </a:solidFill>
          <a:ln cap="flat" cmpd="sng" w="1270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6"/>
          <p:cNvSpPr/>
          <p:nvPr/>
        </p:nvSpPr>
        <p:spPr>
          <a:xfrm>
            <a:off x="457200" y="1828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SECTION 1 — S2.5 OBJECT BY OBJECT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Object 4 — Chat Memory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3" name="Google Shape;193;p6"/>
          <p:cNvCxnSpPr/>
          <p:nvPr/>
        </p:nvCxnSpPr>
        <p:spPr>
          <a:xfrm>
            <a:off x="457200" y="1143000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4" name="Google Shape;194;p6"/>
          <p:cNvSpPr/>
          <p:nvPr/>
        </p:nvSpPr>
        <p:spPr>
          <a:xfrm>
            <a:off x="457200" y="1325880"/>
            <a:ext cx="4114800" cy="1115568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6"/>
          <p:cNvSpPr/>
          <p:nvPr/>
        </p:nvSpPr>
        <p:spPr>
          <a:xfrm>
            <a:off x="457200" y="1325880"/>
            <a:ext cx="502920" cy="1115568"/>
          </a:xfrm>
          <a:prstGeom prst="rect">
            <a:avLst/>
          </a:prstGeom>
          <a:solidFill>
            <a:srgbClr val="00D4FF">
              <a:alpha val="25098"/>
            </a:srgbClr>
          </a:solidFill>
          <a:ln cap="flat" cmpd="sng" w="12700">
            <a:solidFill>
              <a:srgbClr val="00D4F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6"/>
          <p:cNvSpPr/>
          <p:nvPr/>
        </p:nvSpPr>
        <p:spPr>
          <a:xfrm>
            <a:off x="457200" y="1325880"/>
            <a:ext cx="50292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1051560" y="141732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Type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1051560" y="1737360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Window Buffer Memory (memoryBufferWindow)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4846320" y="1325880"/>
            <a:ext cx="4114800" cy="1115568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6"/>
          <p:cNvSpPr/>
          <p:nvPr/>
        </p:nvSpPr>
        <p:spPr>
          <a:xfrm>
            <a:off x="4846320" y="1325880"/>
            <a:ext cx="502920" cy="1115568"/>
          </a:xfrm>
          <a:prstGeom prst="rect">
            <a:avLst/>
          </a:prstGeom>
          <a:solidFill>
            <a:srgbClr val="00C896">
              <a:alpha val="25098"/>
            </a:srgbClr>
          </a:solidFill>
          <a:ln cap="flat" cmpd="sng" w="12700">
            <a:solidFill>
              <a:srgbClr val="00C896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6"/>
          <p:cNvSpPr/>
          <p:nvPr/>
        </p:nvSpPr>
        <p:spPr>
          <a:xfrm>
            <a:off x="4846320" y="1325880"/>
            <a:ext cx="50292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00C896"/>
                </a:solidFill>
                <a:latin typeface="Consolas"/>
                <a:ea typeface="Consolas"/>
                <a:cs typeface="Consolas"/>
                <a:sym typeface="Consolas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5440680" y="141732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Window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5440680" y="1737360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Last 10 messages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457200" y="2587752"/>
            <a:ext cx="4114800" cy="1115568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6"/>
          <p:cNvSpPr/>
          <p:nvPr/>
        </p:nvSpPr>
        <p:spPr>
          <a:xfrm>
            <a:off x="457200" y="2587752"/>
            <a:ext cx="502920" cy="1115568"/>
          </a:xfrm>
          <a:prstGeom prst="rect">
            <a:avLst/>
          </a:prstGeom>
          <a:solidFill>
            <a:srgbClr val="FF6B35">
              <a:alpha val="25098"/>
            </a:srgbClr>
          </a:solidFill>
          <a:ln cap="flat" cmpd="sng" w="12700">
            <a:solidFill>
              <a:srgbClr val="FF6B35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6"/>
          <p:cNvSpPr/>
          <p:nvPr/>
        </p:nvSpPr>
        <p:spPr>
          <a:xfrm>
            <a:off x="457200" y="2587752"/>
            <a:ext cx="50292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FF6B35"/>
                </a:solidFill>
                <a:latin typeface="Consolas"/>
                <a:ea typeface="Consolas"/>
                <a:cs typeface="Consolas"/>
                <a:sym typeface="Consolas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1051560" y="2679192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Link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1051560" y="2999232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→ Agent as ai_memory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4846320" y="2587752"/>
            <a:ext cx="4114800" cy="1115568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7B2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6"/>
          <p:cNvSpPr/>
          <p:nvPr/>
        </p:nvSpPr>
        <p:spPr>
          <a:xfrm>
            <a:off x="4846320" y="2587752"/>
            <a:ext cx="502920" cy="1115568"/>
          </a:xfrm>
          <a:prstGeom prst="rect">
            <a:avLst/>
          </a:prstGeom>
          <a:solidFill>
            <a:srgbClr val="7B2FFF">
              <a:alpha val="25098"/>
            </a:srgbClr>
          </a:solidFill>
          <a:ln cap="flat" cmpd="sng" w="12700">
            <a:solidFill>
              <a:srgbClr val="7B2FF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6"/>
          <p:cNvSpPr/>
          <p:nvPr/>
        </p:nvSpPr>
        <p:spPr>
          <a:xfrm>
            <a:off x="4846320" y="2587752"/>
            <a:ext cx="50292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FFF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7B2FFF"/>
                </a:solidFill>
                <a:latin typeface="Consolas"/>
                <a:ea typeface="Consolas"/>
                <a:cs typeface="Consolas"/>
                <a:sym typeface="Consolas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5440680" y="2679192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Why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5440680" y="2999232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Follow-ups work: "and that pod?" keeps context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457200" y="3849624"/>
            <a:ext cx="4114800" cy="1115568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26A5E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6"/>
          <p:cNvSpPr/>
          <p:nvPr/>
        </p:nvSpPr>
        <p:spPr>
          <a:xfrm>
            <a:off x="457200" y="3849624"/>
            <a:ext cx="502920" cy="1115568"/>
          </a:xfrm>
          <a:prstGeom prst="rect">
            <a:avLst/>
          </a:prstGeom>
          <a:solidFill>
            <a:srgbClr val="26A5E4">
              <a:alpha val="25098"/>
            </a:srgbClr>
          </a:solidFill>
          <a:ln cap="flat" cmpd="sng" w="12700">
            <a:solidFill>
              <a:srgbClr val="26A5E4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6"/>
          <p:cNvSpPr/>
          <p:nvPr/>
        </p:nvSpPr>
        <p:spPr>
          <a:xfrm>
            <a:off x="457200" y="3849624"/>
            <a:ext cx="50292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A5E4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26A5E4"/>
                </a:solidFill>
                <a:latin typeface="Consolas"/>
                <a:ea typeface="Consolas"/>
                <a:cs typeface="Consolas"/>
                <a:sym typeface="Consolas"/>
              </a:rPr>
              <a:t>05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1051560" y="3941064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Scope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1051560" y="4261104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Per chat session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4846320" y="3849624"/>
            <a:ext cx="4114800" cy="1115568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6"/>
          <p:cNvSpPr/>
          <p:nvPr/>
        </p:nvSpPr>
        <p:spPr>
          <a:xfrm>
            <a:off x="4846320" y="3849624"/>
            <a:ext cx="502920" cy="1115568"/>
          </a:xfrm>
          <a:prstGeom prst="rect">
            <a:avLst/>
          </a:prstGeom>
          <a:solidFill>
            <a:srgbClr val="00C896">
              <a:alpha val="25098"/>
            </a:srgbClr>
          </a:solidFill>
          <a:ln cap="flat" cmpd="sng" w="12700">
            <a:solidFill>
              <a:srgbClr val="00C896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6"/>
          <p:cNvSpPr/>
          <p:nvPr/>
        </p:nvSpPr>
        <p:spPr>
          <a:xfrm>
            <a:off x="4846320" y="3849624"/>
            <a:ext cx="50292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00C896"/>
                </a:solidFill>
                <a:latin typeface="Consolas"/>
                <a:ea typeface="Consolas"/>
                <a:cs typeface="Consolas"/>
                <a:sym typeface="Consolas"/>
              </a:rPr>
              <a:t>06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6"/>
          <p:cNvSpPr/>
          <p:nvPr/>
        </p:nvSpPr>
        <p:spPr>
          <a:xfrm>
            <a:off x="5440680" y="3941064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Tune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6"/>
          <p:cNvSpPr/>
          <p:nvPr/>
        </p:nvSpPr>
        <p:spPr>
          <a:xfrm>
            <a:off x="5440680" y="4261104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Bigger window = more context, more tokens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</p:bgPr>
    </p:bg>
    <p:spTree>
      <p:nvGrpSpPr>
        <p:cNvPr id="1" name=""/>
        <p:cNvGrpSpPr/>
        <p:nvPr/>
      </p:nvGrpSpPr>
      <p:grpSpPr/>
      <p:sp>
        <p:nvSpPr>
          <p:cNvPr id="190" name="Google Shape;190;p6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96"/>
          </a:solidFill>
          <a:ln cap="flat" cmpd="sng" w="1270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6"/>
          <p:cNvSpPr/>
          <p:nvPr/>
        </p:nvSpPr>
        <p:spPr>
          <a:xfrm>
            <a:off x="457200" y="1828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SECTION 1 — S2.5 OBJECT BY OBJECT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Object 5 — kubectl_read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3" name="Google Shape;193;p6"/>
          <p:cNvCxnSpPr/>
          <p:nvPr/>
        </p:nvCxnSpPr>
        <p:spPr>
          <a:xfrm>
            <a:off x="457200" y="1143000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4" name="Google Shape;194;p6"/>
          <p:cNvSpPr/>
          <p:nvPr/>
        </p:nvSpPr>
        <p:spPr>
          <a:xfrm>
            <a:off x="457200" y="1325880"/>
            <a:ext cx="4114800" cy="1115568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6"/>
          <p:cNvSpPr/>
          <p:nvPr/>
        </p:nvSpPr>
        <p:spPr>
          <a:xfrm>
            <a:off x="457200" y="1325880"/>
            <a:ext cx="502920" cy="1115568"/>
          </a:xfrm>
          <a:prstGeom prst="rect">
            <a:avLst/>
          </a:prstGeom>
          <a:solidFill>
            <a:srgbClr val="00D4FF">
              <a:alpha val="25098"/>
            </a:srgbClr>
          </a:solidFill>
          <a:ln cap="flat" cmpd="sng" w="12700">
            <a:solidFill>
              <a:srgbClr val="00D4F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6"/>
          <p:cNvSpPr/>
          <p:nvPr/>
        </p:nvSpPr>
        <p:spPr>
          <a:xfrm>
            <a:off x="457200" y="1325880"/>
            <a:ext cx="50292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1051560" y="141732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Type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1051560" y="1737360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HTTP Request Tool (toolHttpRequest)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4846320" y="1325880"/>
            <a:ext cx="4114800" cy="1115568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6"/>
          <p:cNvSpPr/>
          <p:nvPr/>
        </p:nvSpPr>
        <p:spPr>
          <a:xfrm>
            <a:off x="4846320" y="1325880"/>
            <a:ext cx="502920" cy="1115568"/>
          </a:xfrm>
          <a:prstGeom prst="rect">
            <a:avLst/>
          </a:prstGeom>
          <a:solidFill>
            <a:srgbClr val="00C896">
              <a:alpha val="25098"/>
            </a:srgbClr>
          </a:solidFill>
          <a:ln cap="flat" cmpd="sng" w="12700">
            <a:solidFill>
              <a:srgbClr val="00C896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6"/>
          <p:cNvSpPr/>
          <p:nvPr/>
        </p:nvSpPr>
        <p:spPr>
          <a:xfrm>
            <a:off x="4846320" y="1325880"/>
            <a:ext cx="50292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00C896"/>
                </a:solidFill>
                <a:latin typeface="Consolas"/>
                <a:ea typeface="Consolas"/>
                <a:cs typeface="Consolas"/>
                <a:sym typeface="Consolas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5440680" y="141732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Target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5440680" y="1737360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mcp-server…:8000/tools/kubectl-read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457200" y="2587752"/>
            <a:ext cx="4114800" cy="1115568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6"/>
          <p:cNvSpPr/>
          <p:nvPr/>
        </p:nvSpPr>
        <p:spPr>
          <a:xfrm>
            <a:off x="457200" y="2587752"/>
            <a:ext cx="502920" cy="1115568"/>
          </a:xfrm>
          <a:prstGeom prst="rect">
            <a:avLst/>
          </a:prstGeom>
          <a:solidFill>
            <a:srgbClr val="FF6B35">
              <a:alpha val="25098"/>
            </a:srgbClr>
          </a:solidFill>
          <a:ln cap="flat" cmpd="sng" w="12700">
            <a:solidFill>
              <a:srgbClr val="FF6B35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6"/>
          <p:cNvSpPr/>
          <p:nvPr/>
        </p:nvSpPr>
        <p:spPr>
          <a:xfrm>
            <a:off x="457200" y="2587752"/>
            <a:ext cx="50292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FF6B35"/>
                </a:solidFill>
                <a:latin typeface="Consolas"/>
                <a:ea typeface="Consolas"/>
                <a:cs typeface="Consolas"/>
                <a:sym typeface="Consolas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1051560" y="2679192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Body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1051560" y="2999232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{ "command": "{command}" }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4846320" y="2587752"/>
            <a:ext cx="4114800" cy="1115568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7B2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6"/>
          <p:cNvSpPr/>
          <p:nvPr/>
        </p:nvSpPr>
        <p:spPr>
          <a:xfrm>
            <a:off x="4846320" y="2587752"/>
            <a:ext cx="502920" cy="1115568"/>
          </a:xfrm>
          <a:prstGeom prst="rect">
            <a:avLst/>
          </a:prstGeom>
          <a:solidFill>
            <a:srgbClr val="7B2FFF">
              <a:alpha val="25098"/>
            </a:srgbClr>
          </a:solidFill>
          <a:ln cap="flat" cmpd="sng" w="12700">
            <a:solidFill>
              <a:srgbClr val="7B2FF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6"/>
          <p:cNvSpPr/>
          <p:nvPr/>
        </p:nvSpPr>
        <p:spPr>
          <a:xfrm>
            <a:off x="4846320" y="2587752"/>
            <a:ext cx="50292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FFF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7B2FFF"/>
                </a:solidFill>
                <a:latin typeface="Consolas"/>
                <a:ea typeface="Consolas"/>
                <a:cs typeface="Consolas"/>
                <a:sym typeface="Consolas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5440680" y="2679192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Link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5440680" y="2999232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→ Agent as ai_tool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457200" y="3849624"/>
            <a:ext cx="4114800" cy="1115568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26A5E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6"/>
          <p:cNvSpPr/>
          <p:nvPr/>
        </p:nvSpPr>
        <p:spPr>
          <a:xfrm>
            <a:off x="457200" y="3849624"/>
            <a:ext cx="502920" cy="1115568"/>
          </a:xfrm>
          <a:prstGeom prst="rect">
            <a:avLst/>
          </a:prstGeom>
          <a:solidFill>
            <a:srgbClr val="26A5E4">
              <a:alpha val="25098"/>
            </a:srgbClr>
          </a:solidFill>
          <a:ln cap="flat" cmpd="sng" w="12700">
            <a:solidFill>
              <a:srgbClr val="26A5E4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6"/>
          <p:cNvSpPr/>
          <p:nvPr/>
        </p:nvSpPr>
        <p:spPr>
          <a:xfrm>
            <a:off x="457200" y="3849624"/>
            <a:ext cx="50292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A5E4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26A5E4"/>
                </a:solidFill>
                <a:latin typeface="Consolas"/>
                <a:ea typeface="Consolas"/>
                <a:cs typeface="Consolas"/>
                <a:sym typeface="Consolas"/>
              </a:rPr>
              <a:t>05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1051560" y="3941064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Why AI picks 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1051560" y="4261104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toolDescription: "read-only kubectl…"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4846320" y="3849624"/>
            <a:ext cx="4114800" cy="1115568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6"/>
          <p:cNvSpPr/>
          <p:nvPr/>
        </p:nvSpPr>
        <p:spPr>
          <a:xfrm>
            <a:off x="4846320" y="3849624"/>
            <a:ext cx="502920" cy="1115568"/>
          </a:xfrm>
          <a:prstGeom prst="rect">
            <a:avLst/>
          </a:prstGeom>
          <a:solidFill>
            <a:srgbClr val="00C896">
              <a:alpha val="25098"/>
            </a:srgbClr>
          </a:solidFill>
          <a:ln cap="flat" cmpd="sng" w="12700">
            <a:solidFill>
              <a:srgbClr val="00C896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6"/>
          <p:cNvSpPr/>
          <p:nvPr/>
        </p:nvSpPr>
        <p:spPr>
          <a:xfrm>
            <a:off x="4846320" y="3849624"/>
            <a:ext cx="50292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00C896"/>
                </a:solidFill>
                <a:latin typeface="Consolas"/>
                <a:ea typeface="Consolas"/>
                <a:cs typeface="Consolas"/>
                <a:sym typeface="Consolas"/>
              </a:rPr>
              <a:t>06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6"/>
          <p:cNvSpPr/>
          <p:nvPr/>
        </p:nvSpPr>
        <p:spPr>
          <a:xfrm>
            <a:off x="5440680" y="3941064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Does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6"/>
          <p:cNvSpPr/>
          <p:nvPr/>
        </p:nvSpPr>
        <p:spPr>
          <a:xfrm>
            <a:off x="5440680" y="4261104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get pods · describe · logs · events · top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</p:bgPr>
    </p:bg>
    <p:spTree>
      <p:nvGrpSpPr>
        <p:cNvPr id="1" name=""/>
        <p:cNvGrpSpPr/>
        <p:nvPr/>
      </p:nvGrpSpPr>
      <p:grpSpPr/>
      <p:sp>
        <p:nvSpPr>
          <p:cNvPr id="190" name="Google Shape;190;p6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96"/>
          </a:solidFill>
          <a:ln cap="flat" cmpd="sng" w="1270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6"/>
          <p:cNvSpPr/>
          <p:nvPr/>
        </p:nvSpPr>
        <p:spPr>
          <a:xfrm>
            <a:off x="457200" y="1828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SECTION 1 — S2.5 OBJECT BY OBJECT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Object 6 — promql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3" name="Google Shape;193;p6"/>
          <p:cNvCxnSpPr/>
          <p:nvPr/>
        </p:nvCxnSpPr>
        <p:spPr>
          <a:xfrm>
            <a:off x="457200" y="1143000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4" name="Google Shape;194;p6"/>
          <p:cNvSpPr/>
          <p:nvPr/>
        </p:nvSpPr>
        <p:spPr>
          <a:xfrm>
            <a:off x="457200" y="1325880"/>
            <a:ext cx="4114800" cy="1115568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6"/>
          <p:cNvSpPr/>
          <p:nvPr/>
        </p:nvSpPr>
        <p:spPr>
          <a:xfrm>
            <a:off x="457200" y="1325880"/>
            <a:ext cx="502920" cy="1115568"/>
          </a:xfrm>
          <a:prstGeom prst="rect">
            <a:avLst/>
          </a:prstGeom>
          <a:solidFill>
            <a:srgbClr val="00D4FF">
              <a:alpha val="25098"/>
            </a:srgbClr>
          </a:solidFill>
          <a:ln cap="flat" cmpd="sng" w="12700">
            <a:solidFill>
              <a:srgbClr val="00D4F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6"/>
          <p:cNvSpPr/>
          <p:nvPr/>
        </p:nvSpPr>
        <p:spPr>
          <a:xfrm>
            <a:off x="457200" y="1325880"/>
            <a:ext cx="50292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1051560" y="141732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Type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1051560" y="1737360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HTTP Request Tool (toolHttpRequest)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4846320" y="1325880"/>
            <a:ext cx="4114800" cy="1115568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6"/>
          <p:cNvSpPr/>
          <p:nvPr/>
        </p:nvSpPr>
        <p:spPr>
          <a:xfrm>
            <a:off x="4846320" y="1325880"/>
            <a:ext cx="502920" cy="1115568"/>
          </a:xfrm>
          <a:prstGeom prst="rect">
            <a:avLst/>
          </a:prstGeom>
          <a:solidFill>
            <a:srgbClr val="00C896">
              <a:alpha val="25098"/>
            </a:srgbClr>
          </a:solidFill>
          <a:ln cap="flat" cmpd="sng" w="12700">
            <a:solidFill>
              <a:srgbClr val="00C896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6"/>
          <p:cNvSpPr/>
          <p:nvPr/>
        </p:nvSpPr>
        <p:spPr>
          <a:xfrm>
            <a:off x="4846320" y="1325880"/>
            <a:ext cx="50292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00C896"/>
                </a:solidFill>
                <a:latin typeface="Consolas"/>
                <a:ea typeface="Consolas"/>
                <a:cs typeface="Consolas"/>
                <a:sym typeface="Consolas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5440680" y="141732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Target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5440680" y="1737360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mcp-server…:8000/tools/promql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457200" y="2587752"/>
            <a:ext cx="4114800" cy="1115568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6"/>
          <p:cNvSpPr/>
          <p:nvPr/>
        </p:nvSpPr>
        <p:spPr>
          <a:xfrm>
            <a:off x="457200" y="2587752"/>
            <a:ext cx="502920" cy="1115568"/>
          </a:xfrm>
          <a:prstGeom prst="rect">
            <a:avLst/>
          </a:prstGeom>
          <a:solidFill>
            <a:srgbClr val="FF6B35">
              <a:alpha val="25098"/>
            </a:srgbClr>
          </a:solidFill>
          <a:ln cap="flat" cmpd="sng" w="12700">
            <a:solidFill>
              <a:srgbClr val="FF6B35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6"/>
          <p:cNvSpPr/>
          <p:nvPr/>
        </p:nvSpPr>
        <p:spPr>
          <a:xfrm>
            <a:off x="457200" y="2587752"/>
            <a:ext cx="50292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FF6B35"/>
                </a:solidFill>
                <a:latin typeface="Consolas"/>
                <a:ea typeface="Consolas"/>
                <a:cs typeface="Consolas"/>
                <a:sym typeface="Consolas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1051560" y="2679192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Body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1051560" y="2999232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{ "query": "{query}" }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4846320" y="2587752"/>
            <a:ext cx="4114800" cy="1115568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7B2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6"/>
          <p:cNvSpPr/>
          <p:nvPr/>
        </p:nvSpPr>
        <p:spPr>
          <a:xfrm>
            <a:off x="4846320" y="2587752"/>
            <a:ext cx="502920" cy="1115568"/>
          </a:xfrm>
          <a:prstGeom prst="rect">
            <a:avLst/>
          </a:prstGeom>
          <a:solidFill>
            <a:srgbClr val="7B2FFF">
              <a:alpha val="25098"/>
            </a:srgbClr>
          </a:solidFill>
          <a:ln cap="flat" cmpd="sng" w="12700">
            <a:solidFill>
              <a:srgbClr val="7B2FF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6"/>
          <p:cNvSpPr/>
          <p:nvPr/>
        </p:nvSpPr>
        <p:spPr>
          <a:xfrm>
            <a:off x="4846320" y="2587752"/>
            <a:ext cx="50292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FFF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7B2FFF"/>
                </a:solidFill>
                <a:latin typeface="Consolas"/>
                <a:ea typeface="Consolas"/>
                <a:cs typeface="Consolas"/>
                <a:sym typeface="Consolas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5440680" y="2679192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Link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5440680" y="2999232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→ Agent as ai_tool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457200" y="3849624"/>
            <a:ext cx="4114800" cy="1115568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26A5E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6"/>
          <p:cNvSpPr/>
          <p:nvPr/>
        </p:nvSpPr>
        <p:spPr>
          <a:xfrm>
            <a:off x="457200" y="3849624"/>
            <a:ext cx="502920" cy="1115568"/>
          </a:xfrm>
          <a:prstGeom prst="rect">
            <a:avLst/>
          </a:prstGeom>
          <a:solidFill>
            <a:srgbClr val="26A5E4">
              <a:alpha val="25098"/>
            </a:srgbClr>
          </a:solidFill>
          <a:ln cap="flat" cmpd="sng" w="12700">
            <a:solidFill>
              <a:srgbClr val="26A5E4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6"/>
          <p:cNvSpPr/>
          <p:nvPr/>
        </p:nvSpPr>
        <p:spPr>
          <a:xfrm>
            <a:off x="457200" y="3849624"/>
            <a:ext cx="50292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A5E4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26A5E4"/>
                </a:solidFill>
                <a:latin typeface="Consolas"/>
                <a:ea typeface="Consolas"/>
                <a:cs typeface="Consolas"/>
                <a:sym typeface="Consolas"/>
              </a:rPr>
              <a:t>05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1051560" y="3941064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Why AI picks 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1051560" y="4261104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toolDescription: "live metrics via PromQL"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4846320" y="3849624"/>
            <a:ext cx="4114800" cy="1115568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6"/>
          <p:cNvSpPr/>
          <p:nvPr/>
        </p:nvSpPr>
        <p:spPr>
          <a:xfrm>
            <a:off x="4846320" y="3849624"/>
            <a:ext cx="502920" cy="1115568"/>
          </a:xfrm>
          <a:prstGeom prst="rect">
            <a:avLst/>
          </a:prstGeom>
          <a:solidFill>
            <a:srgbClr val="00C896">
              <a:alpha val="25098"/>
            </a:srgbClr>
          </a:solidFill>
          <a:ln cap="flat" cmpd="sng" w="12700">
            <a:solidFill>
              <a:srgbClr val="00C896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6"/>
          <p:cNvSpPr/>
          <p:nvPr/>
        </p:nvSpPr>
        <p:spPr>
          <a:xfrm>
            <a:off x="4846320" y="3849624"/>
            <a:ext cx="50292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00C896"/>
                </a:solidFill>
                <a:latin typeface="Consolas"/>
                <a:ea typeface="Consolas"/>
                <a:cs typeface="Consolas"/>
                <a:sym typeface="Consolas"/>
              </a:rPr>
              <a:t>06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6"/>
          <p:cNvSpPr/>
          <p:nvPr/>
        </p:nvSpPr>
        <p:spPr>
          <a:xfrm>
            <a:off x="5440680" y="3941064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Example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6"/>
          <p:cNvSpPr/>
          <p:nvPr/>
        </p:nvSpPr>
        <p:spPr>
          <a:xfrm>
            <a:off x="5440680" y="4261104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rate(container_cpu_usage_seconds_total[5m])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</p:bgPr>
    </p:bg>
    <p:spTree>
      <p:nvGrpSpPr>
        <p:cNvPr id="1" name=""/>
        <p:cNvGrpSpPr/>
        <p:nvPr/>
      </p:nvGrpSpPr>
      <p:grpSpPr/>
      <p:sp>
        <p:nvSpPr>
          <p:cNvPr id="190" name="Google Shape;190;p6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96"/>
          </a:solidFill>
          <a:ln cap="flat" cmpd="sng" w="1270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6"/>
          <p:cNvSpPr/>
          <p:nvPr/>
        </p:nvSpPr>
        <p:spPr>
          <a:xfrm>
            <a:off x="457200" y="1828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SECTION 1 — S2.5 OBJECT BY OBJECT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Object 7 — linux_read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3" name="Google Shape;193;p6"/>
          <p:cNvCxnSpPr/>
          <p:nvPr/>
        </p:nvCxnSpPr>
        <p:spPr>
          <a:xfrm>
            <a:off x="457200" y="1143000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4" name="Google Shape;194;p6"/>
          <p:cNvSpPr/>
          <p:nvPr/>
        </p:nvSpPr>
        <p:spPr>
          <a:xfrm>
            <a:off x="457200" y="1325880"/>
            <a:ext cx="4114800" cy="1115568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6"/>
          <p:cNvSpPr/>
          <p:nvPr/>
        </p:nvSpPr>
        <p:spPr>
          <a:xfrm>
            <a:off x="457200" y="1325880"/>
            <a:ext cx="502920" cy="1115568"/>
          </a:xfrm>
          <a:prstGeom prst="rect">
            <a:avLst/>
          </a:prstGeom>
          <a:solidFill>
            <a:srgbClr val="00D4FF">
              <a:alpha val="25098"/>
            </a:srgbClr>
          </a:solidFill>
          <a:ln cap="flat" cmpd="sng" w="12700">
            <a:solidFill>
              <a:srgbClr val="00D4F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6"/>
          <p:cNvSpPr/>
          <p:nvPr/>
        </p:nvSpPr>
        <p:spPr>
          <a:xfrm>
            <a:off x="457200" y="1325880"/>
            <a:ext cx="50292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1051560" y="141732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Type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1051560" y="1737360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HTTP Request Tool (toolHttpRequest)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4846320" y="1325880"/>
            <a:ext cx="4114800" cy="1115568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6"/>
          <p:cNvSpPr/>
          <p:nvPr/>
        </p:nvSpPr>
        <p:spPr>
          <a:xfrm>
            <a:off x="4846320" y="1325880"/>
            <a:ext cx="502920" cy="1115568"/>
          </a:xfrm>
          <a:prstGeom prst="rect">
            <a:avLst/>
          </a:prstGeom>
          <a:solidFill>
            <a:srgbClr val="00C896">
              <a:alpha val="25098"/>
            </a:srgbClr>
          </a:solidFill>
          <a:ln cap="flat" cmpd="sng" w="12700">
            <a:solidFill>
              <a:srgbClr val="00C896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6"/>
          <p:cNvSpPr/>
          <p:nvPr/>
        </p:nvSpPr>
        <p:spPr>
          <a:xfrm>
            <a:off x="4846320" y="1325880"/>
            <a:ext cx="50292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00C896"/>
                </a:solidFill>
                <a:latin typeface="Consolas"/>
                <a:ea typeface="Consolas"/>
                <a:cs typeface="Consolas"/>
                <a:sym typeface="Consolas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5440680" y="141732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Target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5440680" y="1737360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linux-mcp-server…:8001/tools/linux-read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457200" y="2587752"/>
            <a:ext cx="4114800" cy="1115568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6"/>
          <p:cNvSpPr/>
          <p:nvPr/>
        </p:nvSpPr>
        <p:spPr>
          <a:xfrm>
            <a:off x="457200" y="2587752"/>
            <a:ext cx="502920" cy="1115568"/>
          </a:xfrm>
          <a:prstGeom prst="rect">
            <a:avLst/>
          </a:prstGeom>
          <a:solidFill>
            <a:srgbClr val="FF6B35">
              <a:alpha val="25098"/>
            </a:srgbClr>
          </a:solidFill>
          <a:ln cap="flat" cmpd="sng" w="12700">
            <a:solidFill>
              <a:srgbClr val="FF6B35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6"/>
          <p:cNvSpPr/>
          <p:nvPr/>
        </p:nvSpPr>
        <p:spPr>
          <a:xfrm>
            <a:off x="457200" y="2587752"/>
            <a:ext cx="50292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FF6B35"/>
                </a:solidFill>
                <a:latin typeface="Consolas"/>
                <a:ea typeface="Consolas"/>
                <a:cs typeface="Consolas"/>
                <a:sym typeface="Consolas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1051560" y="2679192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Body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1051560" y="2999232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{ "command": "{command}" }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4846320" y="2587752"/>
            <a:ext cx="4114800" cy="1115568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7B2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6"/>
          <p:cNvSpPr/>
          <p:nvPr/>
        </p:nvSpPr>
        <p:spPr>
          <a:xfrm>
            <a:off x="4846320" y="2587752"/>
            <a:ext cx="502920" cy="1115568"/>
          </a:xfrm>
          <a:prstGeom prst="rect">
            <a:avLst/>
          </a:prstGeom>
          <a:solidFill>
            <a:srgbClr val="7B2FFF">
              <a:alpha val="25098"/>
            </a:srgbClr>
          </a:solidFill>
          <a:ln cap="flat" cmpd="sng" w="12700">
            <a:solidFill>
              <a:srgbClr val="7B2FF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6"/>
          <p:cNvSpPr/>
          <p:nvPr/>
        </p:nvSpPr>
        <p:spPr>
          <a:xfrm>
            <a:off x="4846320" y="2587752"/>
            <a:ext cx="50292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FFF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7B2FFF"/>
                </a:solidFill>
                <a:latin typeface="Consolas"/>
                <a:ea typeface="Consolas"/>
                <a:cs typeface="Consolas"/>
                <a:sym typeface="Consolas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5440680" y="2679192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Link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5440680" y="2999232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→ Agent as ai_tool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457200" y="3849624"/>
            <a:ext cx="4114800" cy="1115568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26A5E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6"/>
          <p:cNvSpPr/>
          <p:nvPr/>
        </p:nvSpPr>
        <p:spPr>
          <a:xfrm>
            <a:off x="457200" y="3849624"/>
            <a:ext cx="502920" cy="1115568"/>
          </a:xfrm>
          <a:prstGeom prst="rect">
            <a:avLst/>
          </a:prstGeom>
          <a:solidFill>
            <a:srgbClr val="26A5E4">
              <a:alpha val="25098"/>
            </a:srgbClr>
          </a:solidFill>
          <a:ln cap="flat" cmpd="sng" w="12700">
            <a:solidFill>
              <a:srgbClr val="26A5E4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6"/>
          <p:cNvSpPr/>
          <p:nvPr/>
        </p:nvSpPr>
        <p:spPr>
          <a:xfrm>
            <a:off x="457200" y="3849624"/>
            <a:ext cx="50292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A5E4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26A5E4"/>
                </a:solidFill>
                <a:latin typeface="Consolas"/>
                <a:ea typeface="Consolas"/>
                <a:cs typeface="Consolas"/>
                <a:sym typeface="Consolas"/>
              </a:rPr>
              <a:t>05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1051560" y="3941064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Why AI picks 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1051560" y="4261104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toolDescription: "safe Linux OS diagnostics"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4846320" y="3849624"/>
            <a:ext cx="4114800" cy="1115568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6"/>
          <p:cNvSpPr/>
          <p:nvPr/>
        </p:nvSpPr>
        <p:spPr>
          <a:xfrm>
            <a:off x="4846320" y="3849624"/>
            <a:ext cx="502920" cy="1115568"/>
          </a:xfrm>
          <a:prstGeom prst="rect">
            <a:avLst/>
          </a:prstGeom>
          <a:solidFill>
            <a:srgbClr val="00C896">
              <a:alpha val="25098"/>
            </a:srgbClr>
          </a:solidFill>
          <a:ln cap="flat" cmpd="sng" w="12700">
            <a:solidFill>
              <a:srgbClr val="00C896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6"/>
          <p:cNvSpPr/>
          <p:nvPr/>
        </p:nvSpPr>
        <p:spPr>
          <a:xfrm>
            <a:off x="4846320" y="3849624"/>
            <a:ext cx="50292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00C896"/>
                </a:solidFill>
                <a:latin typeface="Consolas"/>
                <a:ea typeface="Consolas"/>
                <a:cs typeface="Consolas"/>
                <a:sym typeface="Consolas"/>
              </a:rPr>
              <a:t>06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6"/>
          <p:cNvSpPr/>
          <p:nvPr/>
        </p:nvSpPr>
        <p:spPr>
          <a:xfrm>
            <a:off x="5440680" y="3941064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Does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6"/>
          <p:cNvSpPr/>
          <p:nvPr/>
        </p:nvSpPr>
        <p:spPr>
          <a:xfrm>
            <a:off x="5440680" y="4261104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df · free · uptime · ps · netstat · top -bn1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</p:bgPr>
    </p:bg>
    <p:spTree>
      <p:nvGrpSpPr>
        <p:cNvPr id="1" name=""/>
        <p:cNvGrpSpPr/>
        <p:nvPr/>
      </p:nvGrpSpPr>
      <p:grpSpPr/>
      <p:sp>
        <p:nvSpPr>
          <p:cNvPr id="78" name="Google Shape;78;p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457200" y="1828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SECTION 1 — RUN IT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Run It — Ask in the Chat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1" name="Google Shape;81;p3"/>
          <p:cNvCxnSpPr/>
          <p:nvPr/>
        </p:nvCxnSpPr>
        <p:spPr>
          <a:xfrm>
            <a:off x="457200" y="1143000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" name="Google Shape;82;p3"/>
          <p:cNvSpPr/>
          <p:nvPr/>
        </p:nvSpPr>
        <p:spPr>
          <a:xfrm>
            <a:off x="457200" y="1325880"/>
            <a:ext cx="2651760" cy="3383280"/>
          </a:xfrm>
          <a:prstGeom prst="rect">
            <a:avLst/>
          </a:prstGeom>
          <a:solidFill>
            <a:srgbClr val="0F1729"/>
          </a:solidFill>
          <a:ln cap="flat" cmpd="sng" w="1905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457200" y="1325880"/>
            <a:ext cx="2651760" cy="73152"/>
          </a:xfrm>
          <a:prstGeom prst="rect">
            <a:avLst/>
          </a:prstGeom>
          <a:solidFill>
            <a:srgbClr val="FF6B35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3"/>
          <p:cNvSpPr/>
          <p:nvPr/>
        </p:nvSpPr>
        <p:spPr>
          <a:xfrm>
            <a:off x="457200" y="1508760"/>
            <a:ext cx="2651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⎈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457200" y="224028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FF6B35"/>
                </a:solidFill>
                <a:latin typeface="Trebuchet MS"/>
                <a:ea typeface="Trebuchet MS"/>
                <a:cs typeface="Trebuchet MS"/>
                <a:sym typeface="Trebuchet MS"/>
              </a:rPr>
              <a:t>K8s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594360" y="2697480"/>
            <a:ext cx="237744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"How many pods are running in the workshop namespace?"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3355848" y="1325880"/>
            <a:ext cx="2651760" cy="3383280"/>
          </a:xfrm>
          <a:prstGeom prst="rect">
            <a:avLst/>
          </a:prstGeom>
          <a:solidFill>
            <a:srgbClr val="0F1729"/>
          </a:solidFill>
          <a:ln cap="flat" cmpd="sng" w="19050">
            <a:solidFill>
              <a:srgbClr val="7B2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3"/>
          <p:cNvSpPr/>
          <p:nvPr/>
        </p:nvSpPr>
        <p:spPr>
          <a:xfrm>
            <a:off x="3355848" y="1325880"/>
            <a:ext cx="2651760" cy="73152"/>
          </a:xfrm>
          <a:prstGeom prst="rect">
            <a:avLst/>
          </a:prstGeom>
          <a:solidFill>
            <a:srgbClr val="7B2FFF"/>
          </a:solidFill>
          <a:ln cap="flat" cmpd="sng" w="12700">
            <a:solidFill>
              <a:srgbClr val="7B2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"/>
          <p:cNvSpPr/>
          <p:nvPr/>
        </p:nvSpPr>
        <p:spPr>
          <a:xfrm>
            <a:off x="3355848" y="1508760"/>
            <a:ext cx="2651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🖥️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3355848" y="224028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FFF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7B2FFF"/>
                </a:solidFill>
                <a:latin typeface="Trebuchet MS"/>
                <a:ea typeface="Trebuchet MS"/>
                <a:cs typeface="Trebuchet MS"/>
                <a:sym typeface="Trebuchet MS"/>
              </a:rPr>
              <a:t>Linux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3493008" y="2697480"/>
            <a:ext cx="237744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"How much disk and memory does the node have?"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6254496" y="1325880"/>
            <a:ext cx="2651760" cy="3383280"/>
          </a:xfrm>
          <a:prstGeom prst="rect">
            <a:avLst/>
          </a:prstGeom>
          <a:solidFill>
            <a:srgbClr val="0F1729"/>
          </a:solidFill>
          <a:ln cap="flat" cmpd="sng" w="1905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"/>
          <p:cNvSpPr/>
          <p:nvPr/>
        </p:nvSpPr>
        <p:spPr>
          <a:xfrm>
            <a:off x="6254496" y="1325880"/>
            <a:ext cx="2651760" cy="73152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"/>
          <p:cNvSpPr/>
          <p:nvPr/>
        </p:nvSpPr>
        <p:spPr>
          <a:xfrm>
            <a:off x="6254496" y="1508760"/>
            <a:ext cx="2651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📊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6254496" y="224028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Cross-layer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6391656" y="2697480"/>
            <a:ext cx="237744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"Which namespace uses the most resources — and what pod?"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457200" y="4617720"/>
            <a:ext cx="2651760" cy="384048"/>
          </a:xfrm>
          <a:prstGeom prst="rect">
            <a:avLst/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"/>
          <p:cNvSpPr/>
          <p:nvPr/>
        </p:nvSpPr>
        <p:spPr>
          <a:xfrm>
            <a:off x="457200" y="4617720"/>
            <a:ext cx="2651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It chooses the right tool for each question</a:t>
            </a: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3355848" y="4617720"/>
            <a:ext cx="2651760" cy="384048"/>
          </a:xfrm>
          <a:prstGeom prst="rect">
            <a:avLst/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"/>
          <p:cNvSpPr/>
          <p:nvPr/>
        </p:nvSpPr>
        <p:spPr>
          <a:xfrm>
            <a:off x="3355848" y="4617720"/>
            <a:ext cx="2651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It states which tool it used and why</a:t>
            </a: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6254496" y="4617720"/>
            <a:ext cx="2651760" cy="384048"/>
          </a:xfrm>
          <a:prstGeom prst="rect">
            <a:avLst/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"/>
          <p:cNvSpPr/>
          <p:nvPr/>
        </p:nvSpPr>
        <p:spPr>
          <a:xfrm>
            <a:off x="6254496" y="4617720"/>
            <a:ext cx="2651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Open the execution to watch each tool call</a:t>
            </a: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</p:bgPr>
    </p:bg>
    <p:spTree>
      <p:nvGrpSpPr>
        <p:cNvPr id="1" name=""/>
        <p:cNvGrpSpPr/>
        <p:nvPr/>
      </p:nvGrpSpPr>
      <p:grpSpPr/>
      <p:sp>
        <p:nvSpPr>
          <p:cNvPr id="190" name="Google Shape;190;p6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96"/>
          </a:solidFill>
          <a:ln cap="flat" cmpd="sng" w="1270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6"/>
          <p:cNvSpPr/>
          <p:nvPr/>
        </p:nvSpPr>
        <p:spPr>
          <a:xfrm>
            <a:off x="457200" y="1828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SECTION 1 — RECAP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What You Just Learned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3" name="Google Shape;193;p6"/>
          <p:cNvCxnSpPr/>
          <p:nvPr/>
        </p:nvCxnSpPr>
        <p:spPr>
          <a:xfrm>
            <a:off x="457200" y="1143000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4" name="Google Shape;194;p6"/>
          <p:cNvSpPr/>
          <p:nvPr/>
        </p:nvSpPr>
        <p:spPr>
          <a:xfrm>
            <a:off x="457200" y="1325880"/>
            <a:ext cx="4114800" cy="1115568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6"/>
          <p:cNvSpPr/>
          <p:nvPr/>
        </p:nvSpPr>
        <p:spPr>
          <a:xfrm>
            <a:off x="457200" y="1325880"/>
            <a:ext cx="502920" cy="1115568"/>
          </a:xfrm>
          <a:prstGeom prst="rect">
            <a:avLst/>
          </a:prstGeom>
          <a:solidFill>
            <a:srgbClr val="00D4FF">
              <a:alpha val="25098"/>
            </a:srgbClr>
          </a:solidFill>
          <a:ln cap="flat" cmpd="sng" w="12700">
            <a:solidFill>
              <a:srgbClr val="00D4F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6"/>
          <p:cNvSpPr/>
          <p:nvPr/>
        </p:nvSpPr>
        <p:spPr>
          <a:xfrm>
            <a:off x="457200" y="1325880"/>
            <a:ext cx="50292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1051560" y="141732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n8n basics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1051560" y="1737360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triggers, nodes, connections, credentials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4846320" y="1325880"/>
            <a:ext cx="4114800" cy="1115568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6"/>
          <p:cNvSpPr/>
          <p:nvPr/>
        </p:nvSpPr>
        <p:spPr>
          <a:xfrm>
            <a:off x="4846320" y="1325880"/>
            <a:ext cx="502920" cy="1115568"/>
          </a:xfrm>
          <a:prstGeom prst="rect">
            <a:avLst/>
          </a:prstGeom>
          <a:solidFill>
            <a:srgbClr val="00C896">
              <a:alpha val="25098"/>
            </a:srgbClr>
          </a:solidFill>
          <a:ln cap="flat" cmpd="sng" w="12700">
            <a:solidFill>
              <a:srgbClr val="00C896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6"/>
          <p:cNvSpPr/>
          <p:nvPr/>
        </p:nvSpPr>
        <p:spPr>
          <a:xfrm>
            <a:off x="4846320" y="1325880"/>
            <a:ext cx="50292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00C896"/>
                </a:solidFill>
                <a:latin typeface="Consolas"/>
                <a:ea typeface="Consolas"/>
                <a:cs typeface="Consolas"/>
                <a:sym typeface="Consolas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5440680" y="141732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The agent pattern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5440680" y="1737360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agent + model + tools + memory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457200" y="2587752"/>
            <a:ext cx="4114800" cy="1115568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6"/>
          <p:cNvSpPr/>
          <p:nvPr/>
        </p:nvSpPr>
        <p:spPr>
          <a:xfrm>
            <a:off x="457200" y="2587752"/>
            <a:ext cx="502920" cy="1115568"/>
          </a:xfrm>
          <a:prstGeom prst="rect">
            <a:avLst/>
          </a:prstGeom>
          <a:solidFill>
            <a:srgbClr val="FF6B35">
              <a:alpha val="25098"/>
            </a:srgbClr>
          </a:solidFill>
          <a:ln cap="flat" cmpd="sng" w="12700">
            <a:solidFill>
              <a:srgbClr val="FF6B35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6"/>
          <p:cNvSpPr/>
          <p:nvPr/>
        </p:nvSpPr>
        <p:spPr>
          <a:xfrm>
            <a:off x="457200" y="2587752"/>
            <a:ext cx="50292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FF6B35"/>
                </a:solidFill>
                <a:latin typeface="Consolas"/>
                <a:ea typeface="Consolas"/>
                <a:cs typeface="Consolas"/>
                <a:sym typeface="Consolas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1051560" y="2679192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MCP tools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1051560" y="2999232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kubectl · promql · linux — HTTP endpoints the AI calls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4846320" y="2587752"/>
            <a:ext cx="4114800" cy="1115568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7B2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6"/>
          <p:cNvSpPr/>
          <p:nvPr/>
        </p:nvSpPr>
        <p:spPr>
          <a:xfrm>
            <a:off x="4846320" y="2587752"/>
            <a:ext cx="502920" cy="1115568"/>
          </a:xfrm>
          <a:prstGeom prst="rect">
            <a:avLst/>
          </a:prstGeom>
          <a:solidFill>
            <a:srgbClr val="7B2FFF">
              <a:alpha val="25098"/>
            </a:srgbClr>
          </a:solidFill>
          <a:ln cap="flat" cmpd="sng" w="12700">
            <a:solidFill>
              <a:srgbClr val="7B2FF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6"/>
          <p:cNvSpPr/>
          <p:nvPr/>
        </p:nvSpPr>
        <p:spPr>
          <a:xfrm>
            <a:off x="4846320" y="2587752"/>
            <a:ext cx="50292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FFF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7B2FFF"/>
                </a:solidFill>
                <a:latin typeface="Consolas"/>
                <a:ea typeface="Consolas"/>
                <a:cs typeface="Consolas"/>
                <a:sym typeface="Consolas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5440680" y="2679192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Tool routing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5440680" y="2999232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the system prompt + toolDescription decide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457200" y="3849624"/>
            <a:ext cx="4114800" cy="1115568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26A5E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6"/>
          <p:cNvSpPr/>
          <p:nvPr/>
        </p:nvSpPr>
        <p:spPr>
          <a:xfrm>
            <a:off x="457200" y="3849624"/>
            <a:ext cx="502920" cy="1115568"/>
          </a:xfrm>
          <a:prstGeom prst="rect">
            <a:avLst/>
          </a:prstGeom>
          <a:solidFill>
            <a:srgbClr val="26A5E4">
              <a:alpha val="25098"/>
            </a:srgbClr>
          </a:solidFill>
          <a:ln cap="flat" cmpd="sng" w="12700">
            <a:solidFill>
              <a:srgbClr val="26A5E4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6"/>
          <p:cNvSpPr/>
          <p:nvPr/>
        </p:nvSpPr>
        <p:spPr>
          <a:xfrm>
            <a:off x="457200" y="3849624"/>
            <a:ext cx="50292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A5E4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26A5E4"/>
                </a:solidFill>
                <a:latin typeface="Consolas"/>
                <a:ea typeface="Consolas"/>
                <a:cs typeface="Consolas"/>
                <a:sym typeface="Consolas"/>
              </a:rPr>
              <a:t>05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1051560" y="3941064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You ran 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1051560" y="4261104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real K8s + OS + metric answers from plain English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4846320" y="3849624"/>
            <a:ext cx="4114800" cy="1115568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6"/>
          <p:cNvSpPr/>
          <p:nvPr/>
        </p:nvSpPr>
        <p:spPr>
          <a:xfrm>
            <a:off x="4846320" y="3849624"/>
            <a:ext cx="502920" cy="1115568"/>
          </a:xfrm>
          <a:prstGeom prst="rect">
            <a:avLst/>
          </a:prstGeom>
          <a:solidFill>
            <a:srgbClr val="00C896">
              <a:alpha val="25098"/>
            </a:srgbClr>
          </a:solidFill>
          <a:ln cap="flat" cmpd="sng" w="12700">
            <a:solidFill>
              <a:srgbClr val="00C896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6"/>
          <p:cNvSpPr/>
          <p:nvPr/>
        </p:nvSpPr>
        <p:spPr>
          <a:xfrm>
            <a:off x="4846320" y="3849624"/>
            <a:ext cx="50292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00C896"/>
                </a:solidFill>
                <a:latin typeface="Consolas"/>
                <a:ea typeface="Consolas"/>
                <a:cs typeface="Consolas"/>
                <a:sym typeface="Consolas"/>
              </a:rPr>
              <a:t>06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6"/>
          <p:cNvSpPr/>
          <p:nvPr/>
        </p:nvSpPr>
        <p:spPr>
          <a:xfrm>
            <a:off x="5440680" y="3941064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Next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6"/>
          <p:cNvSpPr/>
          <p:nvPr/>
        </p:nvSpPr>
        <p:spPr>
          <a:xfrm>
            <a:off x="5440680" y="4261104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S4 / S5 — alerts, the dashboard chat &amp; TOTP approvals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</p:bgPr>
    </p:bg>
    <p:spTree>
      <p:nvGrpSpPr>
        <p:cNvPr id="1" name=""/>
        <p:cNvGrpSpPr/>
        <p:nvPr/>
      </p:nvGrpSpPr>
      <p:grpSpPr/>
      <p:sp>
        <p:nvSpPr>
          <p:cNvPr id="136" name="Google Shape;136;p5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B2FFF"/>
          </a:solidFill>
          <a:ln cap="flat" cmpd="sng" w="12700">
            <a:solidFill>
              <a:srgbClr val="7B2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"/>
          <p:cNvSpPr/>
          <p:nvPr/>
        </p:nvSpPr>
        <p:spPr>
          <a:xfrm>
            <a:off x="457200" y="1828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SECTION 1 — WORKSHOP MAP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The Learning Flow — what you build &amp; when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9" name="Table 138"/>
          <p:cNvGraphicFramePr>
            <a:graphicFrameLocks noGrp="1"/>
          </p:cNvGraphicFramePr>
          <p:nvPr/>
        </p:nvGraphicFramePr>
        <p:xfrm>
          <a:off x="365760" y="1234440"/>
          <a:ext cx="8412479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3977639"/>
                <a:gridCol w="1325880"/>
                <a:gridCol w="1051560"/>
              </a:tblGrid>
              <a:tr h="44196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0D4FF"/>
                          </a:solidFill>
                          <a:latin typeface="Consolas"/>
                        </a:rPr>
                        <a:t>FLOW</a:t>
                      </a:r>
                    </a:p>
                  </a:txBody>
                  <a:tcPr marL="54864" marR="36576" marT="18288" marB="18288" anchor="ctr">
                    <a:solidFill>
                      <a:srgbClr val="0A2A4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0D4FF"/>
                          </a:solidFill>
                          <a:latin typeface="Consolas"/>
                        </a:rPr>
                        <a:t>WHAT IT DOES</a:t>
                      </a:r>
                    </a:p>
                  </a:txBody>
                  <a:tcPr marL="54864" marR="36576" marT="18288" marB="18288" anchor="ctr">
                    <a:solidFill>
                      <a:srgbClr val="0A2A4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0D4FF"/>
                          </a:solidFill>
                          <a:latin typeface="Consolas"/>
                        </a:rPr>
                        <a:t>TRIGGER</a:t>
                      </a:r>
                    </a:p>
                  </a:txBody>
                  <a:tcPr marL="54864" marR="36576" marT="18288" marB="18288" anchor="ctr">
                    <a:solidFill>
                      <a:srgbClr val="0A2A4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0D4FF"/>
                          </a:solidFill>
                          <a:latin typeface="Consolas"/>
                        </a:rPr>
                        <a:t>SECTION</a:t>
                      </a:r>
                    </a:p>
                  </a:txBody>
                  <a:tcPr marL="54864" marR="36576" marT="18288" marB="18288" anchor="ctr">
                    <a:solidFill>
                      <a:srgbClr val="0A2A43"/>
                    </a:solidFill>
                  </a:tcPr>
                </a:tc>
              </a:tr>
              <a:tr h="441960"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FFFFFF"/>
                          </a:solidFill>
                          <a:latin typeface="Consolas"/>
                        </a:rPr>
                        <a:t>S2 · AI Agent + MCP</a:t>
                      </a:r>
                    </a:p>
                  </a:txBody>
                  <a:tcPr marL="54864" marR="36576" marT="18288" marB="18288" anchor="ctr">
                    <a:solidFill>
                      <a:srgbClr val="101B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950">
                          <a:solidFill>
                            <a:srgbClr val="CBD6E6"/>
                          </a:solidFill>
                          <a:latin typeface="Consolas"/>
                        </a:rPr>
                        <a:t>Chat with the cluster: kubectl_read + promql</a:t>
                      </a:r>
                    </a:p>
                  </a:txBody>
                  <a:tcPr marL="54864" marR="36576" marT="18288" marB="18288" anchor="ctr">
                    <a:solidFill>
                      <a:srgbClr val="101B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950">
                          <a:solidFill>
                            <a:srgbClr val="CBD6E6"/>
                          </a:solidFill>
                          <a:latin typeface="Consolas"/>
                        </a:rPr>
                        <a:t>n8n Chat</a:t>
                      </a:r>
                    </a:p>
                  </a:txBody>
                  <a:tcPr marL="54864" marR="36576" marT="18288" marB="18288" anchor="ctr">
                    <a:solidFill>
                      <a:srgbClr val="101B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950">
                          <a:solidFill>
                            <a:srgbClr val="FFC44D"/>
                          </a:solidFill>
                          <a:latin typeface="Consolas"/>
                        </a:rPr>
                        <a:t>§1 · import ①</a:t>
                      </a:r>
                    </a:p>
                  </a:txBody>
                  <a:tcPr marL="54864" marR="36576" marT="18288" marB="18288" anchor="ctr">
                    <a:solidFill>
                      <a:srgbClr val="101B2E"/>
                    </a:solidFill>
                  </a:tcPr>
                </a:tc>
              </a:tr>
              <a:tr h="441960"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FFFFFF"/>
                          </a:solidFill>
                          <a:latin typeface="Consolas"/>
                        </a:rPr>
                        <a:t>S2.5 · + Linux</a:t>
                      </a:r>
                    </a:p>
                  </a:txBody>
                  <a:tcPr marL="54864" marR="36576" marT="18288" marB="18288" anchor="ctr">
                    <a:solidFill>
                      <a:srgbClr val="0C14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950">
                          <a:solidFill>
                            <a:srgbClr val="CBD6E6"/>
                          </a:solidFill>
                          <a:latin typeface="Consolas"/>
                        </a:rPr>
                        <a:t>Same agent + Linux diagnostics (df, free, ps)</a:t>
                      </a:r>
                    </a:p>
                  </a:txBody>
                  <a:tcPr marL="54864" marR="36576" marT="18288" marB="18288" anchor="ctr">
                    <a:solidFill>
                      <a:srgbClr val="0C14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950">
                          <a:solidFill>
                            <a:srgbClr val="CBD6E6"/>
                          </a:solidFill>
                          <a:latin typeface="Consolas"/>
                        </a:rPr>
                        <a:t>n8n Chat</a:t>
                      </a:r>
                    </a:p>
                  </a:txBody>
                  <a:tcPr marL="54864" marR="36576" marT="18288" marB="18288" anchor="ctr">
                    <a:solidFill>
                      <a:srgbClr val="0C14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950">
                          <a:solidFill>
                            <a:srgbClr val="FFC44D"/>
                          </a:solidFill>
                          <a:latin typeface="Consolas"/>
                        </a:rPr>
                        <a:t>§1 · import ②</a:t>
                      </a:r>
                    </a:p>
                  </a:txBody>
                  <a:tcPr marL="54864" marR="36576" marT="18288" marB="18288" anchor="ctr">
                    <a:solidFill>
                      <a:srgbClr val="0C1422"/>
                    </a:solidFill>
                  </a:tcPr>
                </a:tc>
              </a:tr>
              <a:tr h="441960"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FFFFFF"/>
                          </a:solidFill>
                          <a:latin typeface="Consolas"/>
                        </a:rPr>
                        <a:t>MCP server</a:t>
                      </a:r>
                    </a:p>
                  </a:txBody>
                  <a:tcPr marL="54864" marR="36576" marT="18288" marB="18288" anchor="ctr">
                    <a:solidFill>
                      <a:srgbClr val="101B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950">
                          <a:solidFill>
                            <a:srgbClr val="CBD6E6"/>
                          </a:solidFill>
                          <a:latin typeface="Consolas"/>
                        </a:rPr>
                        <a:t>The tool layer the agents call (the "hands")</a:t>
                      </a:r>
                    </a:p>
                  </a:txBody>
                  <a:tcPr marL="54864" marR="36576" marT="18288" marB="18288" anchor="ctr">
                    <a:solidFill>
                      <a:srgbClr val="101B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950">
                          <a:solidFill>
                            <a:srgbClr val="CBD6E6"/>
                          </a:solidFill>
                          <a:latin typeface="Consolas"/>
                        </a:rPr>
                        <a:t>always on</a:t>
                      </a:r>
                    </a:p>
                  </a:txBody>
                  <a:tcPr marL="54864" marR="36576" marT="18288" marB="18288" anchor="ctr">
                    <a:solidFill>
                      <a:srgbClr val="101B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950">
                          <a:solidFill>
                            <a:srgbClr val="FFC44D"/>
                          </a:solidFill>
                          <a:latin typeface="Consolas"/>
                        </a:rPr>
                        <a:t>§2</a:t>
                      </a:r>
                    </a:p>
                  </a:txBody>
                  <a:tcPr marL="54864" marR="36576" marT="18288" marB="18288" anchor="ctr">
                    <a:solidFill>
                      <a:srgbClr val="101B2E"/>
                    </a:solidFill>
                  </a:tcPr>
                </a:tc>
              </a:tr>
              <a:tr h="441960"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FFFFFF"/>
                          </a:solidFill>
                          <a:latin typeface="Consolas"/>
                        </a:rPr>
                        <a:t>S5 · Alert Intelligence</a:t>
                      </a:r>
                    </a:p>
                  </a:txBody>
                  <a:tcPr marL="54864" marR="36576" marT="18288" marB="18288" anchor="ctr">
                    <a:solidFill>
                      <a:srgbClr val="0C14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950">
                          <a:solidFill>
                            <a:srgbClr val="CBD6E6"/>
                          </a:solidFill>
                          <a:latin typeface="Consolas"/>
                        </a:rPr>
                        <a:t>Alert → AI diagnoses → incident + /approve</a:t>
                      </a:r>
                    </a:p>
                  </a:txBody>
                  <a:tcPr marL="54864" marR="36576" marT="18288" marB="18288" anchor="ctr">
                    <a:solidFill>
                      <a:srgbClr val="0C14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950">
                          <a:solidFill>
                            <a:srgbClr val="CBD6E6"/>
                          </a:solidFill>
                          <a:latin typeface="Consolas"/>
                        </a:rPr>
                        <a:t>Alertmanager</a:t>
                      </a:r>
                    </a:p>
                  </a:txBody>
                  <a:tcPr marL="54864" marR="36576" marT="18288" marB="18288" anchor="ctr">
                    <a:solidFill>
                      <a:srgbClr val="0C14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950">
                          <a:solidFill>
                            <a:srgbClr val="FFC44D"/>
                          </a:solidFill>
                          <a:latin typeface="Consolas"/>
                        </a:rPr>
                        <a:t>§3 · import ③</a:t>
                      </a:r>
                    </a:p>
                  </a:txBody>
                  <a:tcPr marL="54864" marR="36576" marT="18288" marB="18288" anchor="ctr">
                    <a:solidFill>
                      <a:srgbClr val="0C1422"/>
                    </a:solidFill>
                  </a:tcPr>
                </a:tc>
              </a:tr>
              <a:tr h="441960"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FFFFFF"/>
                          </a:solidFill>
                          <a:latin typeface="Consolas"/>
                        </a:rPr>
                        <a:t>S4 · Human Approval</a:t>
                      </a:r>
                    </a:p>
                  </a:txBody>
                  <a:tcPr marL="54864" marR="36576" marT="18288" marB="18288" anchor="ctr">
                    <a:solidFill>
                      <a:srgbClr val="101B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950">
                          <a:solidFill>
                            <a:srgbClr val="CBD6E6"/>
                          </a:solidFill>
                          <a:latin typeface="Consolas"/>
                        </a:rPr>
                        <a:t>/approve &lt;totp&gt; &lt;key&gt; → TOTP gate → execute</a:t>
                      </a:r>
                    </a:p>
                  </a:txBody>
                  <a:tcPr marL="54864" marR="36576" marT="18288" marB="18288" anchor="ctr">
                    <a:solidFill>
                      <a:srgbClr val="101B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950">
                          <a:solidFill>
                            <a:srgbClr val="CBD6E6"/>
                          </a:solidFill>
                          <a:latin typeface="Consolas"/>
                        </a:rPr>
                        <a:t>Dashboard chat</a:t>
                      </a:r>
                    </a:p>
                  </a:txBody>
                  <a:tcPr marL="54864" marR="36576" marT="18288" marB="18288" anchor="ctr">
                    <a:solidFill>
                      <a:srgbClr val="101B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950">
                          <a:solidFill>
                            <a:srgbClr val="FFC44D"/>
                          </a:solidFill>
                          <a:latin typeface="Consolas"/>
                        </a:rPr>
                        <a:t>§4 · import ④</a:t>
                      </a:r>
                    </a:p>
                  </a:txBody>
                  <a:tcPr marL="54864" marR="36576" marT="18288" marB="18288" anchor="ctr">
                    <a:solidFill>
                      <a:srgbClr val="101B2E"/>
                    </a:solidFill>
                  </a:tcPr>
                </a:tc>
              </a:tr>
            </a:tbl>
          </a:graphicData>
        </a:graphic>
      </p:graphicFrame>
      <p:sp>
        <p:nvSpPr>
          <p:cNvPr id="140" name="TextBox 139"/>
          <p:cNvSpPr txBox="1"/>
          <p:nvPr/>
        </p:nvSpPr>
        <p:spPr>
          <a:xfrm>
            <a:off x="365760" y="4069080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5E09A"/>
                </a:solidFill>
                <a:latin typeface="Consolas"/>
              </a:rPr>
              <a:t>S2 / S2.5 = learn the agent (standalone).  Then the LIVE LOOP: S5 detects → hands off via the incident key → S4 approves &amp; executes.</a:t>
            </a:r>
          </a:p>
          <a:p>
            <a:r>
              <a:rPr sz="950">
                <a:solidFill>
                  <a:srgbClr val="8C9AB0"/>
                </a:solidFill>
                <a:latin typeface="Consolas"/>
              </a:rPr>
              <a:t>Import each workflow when its section begins:  n8n → Workflows → Import from File → pick the JSON.  (Sx = build-order file IDs, not teaching order.)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2026-04-12T17:05:36Z</dcterms:created>
  <dc:creator>PptxGenJS</dc:creator>
</cp:coreProperties>
</file>
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cydqkHibj4CLHl3dZM6VI9PvP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F4444">
              <a:alpha val="5882"/>
            </a:srgbClr>
          </a:solidFill>
          <a:ln cap="flat" cmpd="sng" w="12700">
            <a:solidFill>
              <a:srgbClr val="FF4444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0" y="-182880"/>
            <a:ext cx="3657600" cy="3657600"/>
          </a:xfrm>
          <a:prstGeom prst="ellipse">
            <a:avLst/>
          </a:prstGeom>
          <a:solidFill>
            <a:srgbClr val="7B2FFF">
              <a:alpha val="5882"/>
            </a:srgbClr>
          </a:solidFill>
          <a:ln cap="flat" cmpd="sng" w="12700">
            <a:solidFill>
              <a:srgbClr val="7B2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Calibri"/>
              <a:buNone/>
            </a:pPr>
            <a:r>
              <a:rPr b="0" i="0" lang="en-US" sz="6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645920" y="4572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CLAWOPS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645920" y="868680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ClawOps Security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645920" y="1536192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The AI can LOOK at everything — but CHANGE nothing on its own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1645920" y="2011680"/>
            <a:ext cx="713232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1645920" y="2176272"/>
            <a:ext cx="2286000" cy="347472"/>
          </a:xfrm>
          <a:prstGeom prst="rect">
            <a:avLst/>
          </a:prstGeom>
          <a:solidFill>
            <a:srgbClr val="FF4444">
              <a:alpha val="18039"/>
            </a:srgbClr>
          </a:solidFill>
          <a:ln cap="flat" cmpd="sng" w="12700">
            <a:solidFill>
              <a:srgbClr val="FF444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645920" y="21762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1.  Read / Write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096512" y="2176272"/>
            <a:ext cx="2286000" cy="347472"/>
          </a:xfrm>
          <a:prstGeom prst="rect">
            <a:avLst/>
          </a:prstGeom>
          <a:solidFill>
            <a:srgbClr val="FF6B35">
              <a:alpha val="18039"/>
            </a:srgbClr>
          </a:solidFill>
          <a:ln cap="flat" cmpd="sng" w="12700">
            <a:solidFill>
              <a:srgbClr val="FF6B3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096512" y="21762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2.  Human Approval 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547104" y="2176272"/>
            <a:ext cx="2286000" cy="347472"/>
          </a:xfrm>
          <a:prstGeom prst="rect">
            <a:avLst/>
          </a:prstGeom>
          <a:solidFill>
            <a:srgbClr val="FFD700">
              <a:alpha val="18039"/>
            </a:srgbClr>
          </a:solidFill>
          <a:ln cap="flat" cmpd="sng" w="12700">
            <a:solidFill>
              <a:srgbClr val="FFD70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547104" y="21762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3.  Least-Privilege RBAC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645920" y="2651760"/>
            <a:ext cx="2286000" cy="347472"/>
          </a:xfrm>
          <a:prstGeom prst="rect">
            <a:avLst/>
          </a:prstGeom>
          <a:solidFill>
            <a:srgbClr val="00C896">
              <a:alpha val="18039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1645920" y="26517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4.  Audit Trail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096512" y="2651760"/>
            <a:ext cx="2286000" cy="347472"/>
          </a:xfrm>
          <a:prstGeom prst="rect">
            <a:avLst/>
          </a:pr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4096512" y="26517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5.  Secrets &amp; 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547104" y="2651760"/>
            <a:ext cx="2286000" cy="347472"/>
          </a:xfrm>
          <a:prstGeom prst="rect">
            <a:avLst/>
          </a:prstGeom>
          <a:solidFill>
            <a:srgbClr val="7B2FFF">
              <a:alpha val="18039"/>
            </a:srgbClr>
          </a:solidFill>
          <a:ln cap="flat" cmpd="sng" w="12700">
            <a:solidFill>
              <a:srgbClr val="7B2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547104" y="26517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6.  Anti-patterns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645920" y="3291840"/>
            <a:ext cx="7132320" cy="47548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1783080" y="329184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⏱ 30 min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566160" y="329184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Every write needs a human + a time-boxed TOTP, is scoped to one namespace by RBAC, and is logged.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4444">
              <a:alpha val="12156"/>
            </a:srgbClr>
          </a:solidFill>
          <a:ln cap="flat" cmpd="sng" w="12700">
            <a:solidFill>
              <a:srgbClr val="FF444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"Security is not a feature you add later — it is the architecture you design from day one."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SECURITY — LAYER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Read / Write Split at the MCP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/>
          <p:nvPr/>
        </p:nvSpPr>
        <p:spPr>
          <a:xfrm>
            <a:off x="274320" y="1298448"/>
            <a:ext cx="8595360" cy="438912"/>
          </a:xfrm>
          <a:prstGeom prst="rect">
            <a:avLst/>
          </a:prstGeom>
          <a:solidFill>
            <a:srgbClr val="1A0808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11480" y="1298448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⚠️  The AI Agent reaches the cluster ONLY through the MCP server. The MCP — not the AI — decides what is read vs write.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74320" y="1874520"/>
            <a:ext cx="4160520" cy="13716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274320" y="1874520"/>
            <a:ext cx="384048" cy="1371600"/>
          </a:xfrm>
          <a:prstGeom prst="rect">
            <a:avLst/>
          </a:prstGeom>
          <a:solidFill>
            <a:srgbClr val="FF6B35">
              <a:alpha val="21960"/>
            </a:srgbClr>
          </a:solidFill>
          <a:ln cap="flat" cmpd="sng" w="12700">
            <a:solidFill>
              <a:srgbClr val="FF6B35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274320" y="1874520"/>
            <a:ext cx="3840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31520" y="192938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kubectl-read  (free)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31520" y="218541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POST /tools/kubectl-read — get, describe, logs, events, top.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The AI Agent calls this as often as it likes. No token.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31520" y="2496312"/>
            <a:ext cx="3566160" cy="347472"/>
          </a:xfrm>
          <a:prstGeom prst="rect">
            <a:avLst/>
          </a:prstGeom>
          <a:solidFill>
            <a:srgbClr val="0A0F1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777240" y="2496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POST /tools/kubectl-read  { "command": "get pods -n workshop"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31520" y="2880360"/>
            <a:ext cx="3566160" cy="292608"/>
          </a:xfrm>
          <a:prstGeom prst="rect">
            <a:avLst/>
          </a:prstGeom>
          <a:solidFill>
            <a:srgbClr val="FF6B35">
              <a:alpha val="10196"/>
            </a:srgbClr>
          </a:solidFill>
          <a:ln cap="flat" cmpd="sng" w="12700">
            <a:solidFill>
              <a:srgbClr val="FF6B35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77240" y="2880360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💡 is_write_command() rejects write verbs here with HTTP 403 — read can never mutate.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09160" y="1874520"/>
            <a:ext cx="4160520" cy="13716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709160" y="1874520"/>
            <a:ext cx="384048" cy="1371600"/>
          </a:xfrm>
          <a:prstGeom prst="rect">
            <a:avLst/>
          </a:prstGeom>
          <a:solidFill>
            <a:srgbClr val="FFD700">
              <a:alpha val="21960"/>
            </a:srgbClr>
          </a:solidFill>
          <a:ln cap="flat" cmpd="sng" w="12700">
            <a:solidFill>
              <a:srgbClr val="FFD700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709160" y="1874520"/>
            <a:ext cx="3840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166360" y="192938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promql  (free)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166360" y="218541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POST /tools/promql — any PromQL query against Prometheus.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Live metrics for the investigation. No token.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166360" y="2496312"/>
            <a:ext cx="3566160" cy="347472"/>
          </a:xfrm>
          <a:prstGeom prst="rect">
            <a:avLst/>
          </a:prstGeom>
          <a:solidFill>
            <a:srgbClr val="0A0F1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5212080" y="2496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POST /tools/promql  { "query": "target_chaos_cpu_active"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166360" y="2880360"/>
            <a:ext cx="3566160" cy="292608"/>
          </a:xfrm>
          <a:prstGeom prst="rect">
            <a:avLst/>
          </a:prstGeom>
          <a:solidFill>
            <a:srgbClr val="FFD700">
              <a:alpha val="10196"/>
            </a:srgbClr>
          </a:solidFill>
          <a:ln cap="flat" cmpd="sng" w="12700">
            <a:solidFill>
              <a:srgbClr val="FFD700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212080" y="2880360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💡 Read tools give the AI total visibility — that is the point. Looking is cheap; changing is gated.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74320" y="3383280"/>
            <a:ext cx="4160520" cy="13716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274320" y="3383280"/>
            <a:ext cx="384048" cy="1371600"/>
          </a:xfrm>
          <a:prstGeom prst="rect">
            <a:avLst/>
          </a:prstGeom>
          <a:solidFill>
            <a:srgbClr val="00C896">
              <a:alpha val="21960"/>
            </a:srgbClr>
          </a:solidFill>
          <a:ln cap="flat" cmpd="sng" w="12700">
            <a:solidFill>
              <a:srgbClr val="00C896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274320" y="3383280"/>
            <a:ext cx="3840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474720" y="3438144"/>
            <a:ext cx="822960" cy="228600"/>
          </a:xfrm>
          <a:prstGeom prst="rect">
            <a:avLst/>
          </a:prstGeom>
          <a:solidFill>
            <a:srgbClr val="00C896">
              <a:alpha val="30196"/>
            </a:srgbClr>
          </a:solidFill>
          <a:ln cap="flat" cmpd="sng" w="12700">
            <a:solidFill>
              <a:srgbClr val="00C89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474720" y="3438144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★ THE GATE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731520" y="343814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kubectl-write  (GATED)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31520" y="369417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POST /tools/kubectl-write — requires approval_token + approved_by.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No valid TOTP → HTTP 403, nothing runs.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31520" y="4005072"/>
            <a:ext cx="3566160" cy="347472"/>
          </a:xfrm>
          <a:prstGeom prst="rect">
            <a:avLst/>
          </a:prstGeom>
          <a:solidFill>
            <a:srgbClr val="0A0F1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777240" y="400507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WRITE_VERBS = delete apply create replace patch run rollout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            scale cordon drain taint label annotate exec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731520" y="4389120"/>
            <a:ext cx="3566160" cy="292608"/>
          </a:xfrm>
          <a:prstGeom prst="rect">
            <a:avLst/>
          </a:prstGeom>
          <a:solidFill>
            <a:srgbClr val="00C896">
              <a:alpha val="10196"/>
            </a:srgbClr>
          </a:solidFill>
          <a:ln cap="flat" cmpd="sng" w="12700">
            <a:solidFill>
              <a:srgbClr val="00C896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777240" y="4389120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💡 The AI Agent never calls this. Only the Human Approval workflow does, after a human types a TOTP.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709160" y="3383280"/>
            <a:ext cx="4160520" cy="13716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709160" y="3383280"/>
            <a:ext cx="384048" cy="1371600"/>
          </a:xfrm>
          <a:prstGeom prst="rect">
            <a:avLst/>
          </a:pr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4709160" y="3383280"/>
            <a:ext cx="3840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166360" y="343814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Verb allowlist enforced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166360" y="369417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is_write_command() checks the first word against WRITE_VERBS.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A write verb on /kubectl-read → 403. A non-write 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/kubectl-write → 400 "Not a write command".</a:t>
            </a:r>
          </a:p>
        </p:txBody>
      </p:sp>
      <p:sp>
        <p:nvSpPr>
          <p:cNvPr id="86" name="Google Shape;86;p2"/>
          <p:cNvSpPr/>
          <p:nvPr/>
        </p:nvSpPr>
        <p:spPr>
          <a:xfrm>
            <a:off x="5166360" y="4005072"/>
            <a:ext cx="3566160" cy="347472"/>
          </a:xfrm>
          <a:prstGeom prst="rect">
            <a:avLst/>
          </a:prstGeom>
          <a:solidFill>
            <a:srgbClr val="0A0F1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5212080" y="400507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first_word = command.strip().split()[0].lower()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if first_word in WRITE_VERBS:  # gated path 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5166360" y="4389120"/>
            <a:ext cx="3566160" cy="292608"/>
          </a:xfrm>
          <a:prstGeom prst="rect">
            <a:avLst/>
          </a:prstGeom>
          <a:solidFill>
            <a:srgbClr val="00D4FF">
              <a:alpha val="10196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5212080" y="4389120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💡 The split is enforced in code (mcp-server/server.py), not by convention.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SECURITY — LAYER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Human Approval Gate (TOTP)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3"/>
          <p:cNvSpPr/>
          <p:nvPr/>
        </p:nvSpPr>
        <p:spPr>
          <a:xfrm>
            <a:off x="274320" y="1298448"/>
            <a:ext cx="4114800" cy="36118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74320" y="1298448"/>
            <a:ext cx="411480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74320" y="129844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🔐  TOTP VALIDATED AT THE MCP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11480" y="184708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481328" y="1847088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 Intelligence (S5) writes an SRE_ACTION to chat — it NEVER executes.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11480" y="2340864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Approve: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481328" y="2340864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human types  /approve &lt;6-digit-totp&gt; &lt;incident-key&gt;  in dashboard chat.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11480" y="283464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481328" y="2834640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Human Approval (S4) sends the code to MCP → pyotp verifies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11480" y="3328416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Window: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481328" y="3328416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totp.verify(code, valid_window=1) — ±30s only. Stale code → rejected.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11480" y="382219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Execute: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481328" y="3822192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Only on a valid TOTP does kubectl-write run, then incident → resolved.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11480" y="43159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Replay: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481328" y="4315968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used / expired code fails — codes are time-boxed, not reusable.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11480" y="4645152"/>
            <a:ext cx="3840480" cy="201168"/>
          </a:xfrm>
          <a:prstGeom prst="rect">
            <a:avLst/>
          </a:prstGeom>
          <a:solidFill>
            <a:srgbClr val="0A0F1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57200" y="464515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if pyotp.TOTP(TOTP_SECRET).verify(supplied, valid_window=1): allow_write()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663440" y="1298448"/>
            <a:ext cx="4206240" cy="36118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4663440" y="1298448"/>
            <a:ext cx="420624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4663440" y="12984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🛡️  WHY THE GATE HOLDS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754880" y="1901952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193792" y="188366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AI proposes, human disposes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193792" y="2139696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AI Agent has no write tool. It can only recommend a command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 chat — a person must approve it.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754880" y="2670048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193792" y="26517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TOTP, not a 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193792" y="2907792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6-digit code from any TOTP app (Google Authenticator, Authy, 1Password).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Rotates every 30s — intercepting chat gives an attacker nothing usable.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754880" y="3438144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193792" y="34198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Bound to one incident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193792" y="3675888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4-char incident key ties the approval to ONE recommended command.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Approving k42a cannot run the command from bgy4.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754880" y="4206240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193792" y="41879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Fallback is config-only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193792" y="4443984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static WRITE_APPROVAL_TOKEN exists only as a fallback when 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TOTP_SECRET is set. In the workshop TOTP is configured, so TOTP wins.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SECURITY — LAYER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Least-Privilege RBAC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4"/>
          <p:cNvSpPr/>
          <p:nvPr/>
        </p:nvSpPr>
        <p:spPr>
          <a:xfrm>
            <a:off x="274320" y="1298448"/>
            <a:ext cx="8595360" cy="50292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384048" y="12984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914400" y="1298448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MCP server authenticates with an in-cluster ServiceAccount (mcp-server in clawops) — NO kubeconfig, no static cluster credentials on disk.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217920" y="1389888"/>
            <a:ext cx="2560320" cy="320040"/>
          </a:xfrm>
          <a:prstGeom prst="rect">
            <a:avLst/>
          </a:prstGeom>
          <a:solidFill>
            <a:srgbClr val="0A0F1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263640" y="138988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serviceAccount: mcp-server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274320" y="1920240"/>
            <a:ext cx="2651760" cy="29718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274320" y="1920240"/>
            <a:ext cx="265176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274320" y="19202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✅  CAN READ — cluster-wide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84048" y="2359152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✓  pods, pods/log, pods/exec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84048" y="2761488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✓  services, endpoints, nodes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84048" y="3163824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✓  namespaces, events, configmaps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84048" y="3566160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✓  deployments, replicasets, statefulsets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384048" y="3968496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✓  metrics (pods, nodes)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65760" y="4572000"/>
            <a:ext cx="2468880" cy="256032"/>
          </a:xfrm>
          <a:prstGeom prst="rect">
            <a:avLst/>
          </a:prstGeom>
          <a:solidFill>
            <a:srgbClr val="00C896">
              <a:alpha val="12156"/>
            </a:srgbClr>
          </a:solidFill>
          <a:ln cap="flat" cmpd="sng" w="12700">
            <a:solidFill>
              <a:srgbClr val="00C89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384048" y="4572000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verbs: get, list, watch only. The AI can see everything, everywhere — read access is broad on purpose.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172968" y="1920240"/>
            <a:ext cx="2651760" cy="29718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3172968" y="1920240"/>
            <a:ext cx="2651760" cy="347472"/>
          </a:xfrm>
          <a:prstGeom prst="rect">
            <a:avLst/>
          </a:prstGeom>
          <a:solidFill>
            <a:srgbClr val="00D4FF">
              <a:alpha val="20000"/>
            </a:srgbClr>
          </a:solidFill>
          <a:ln cap="flat" cmpd="sng" w="12700">
            <a:solidFill>
              <a:srgbClr val="00D4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3172968" y="19202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🔒  CAN WRITE — narrow verbs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282696" y="2359152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✓  deployments: patch,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282696" y="2761488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✓  pods: delete (restart a pod)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282696" y="3163824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✗  no create / no namespaces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282696" y="3566160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✗  no secrets / no RBAC objects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282696" y="3968496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✗  no nodes / no cluster config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3264408" y="4572000"/>
            <a:ext cx="2468880" cy="256032"/>
          </a:xfrm>
          <a:prstGeom prst="rect">
            <a:avLst/>
          </a:prstGeom>
          <a:solidFill>
            <a:srgbClr val="00D4FF">
              <a:alpha val="12156"/>
            </a:srgbClr>
          </a:solidFill>
          <a:ln cap="flat" cmpd="sng" w="12700">
            <a:solidFill>
              <a:srgbClr val="00D4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3282696" y="4572000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Write is exactly two verbs on two resources (k8s/clawops/mcp-server/rbac.yaml) — enough for the chaos fixes, nothing more.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071616" y="1920240"/>
            <a:ext cx="2651760" cy="29718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071616" y="1920240"/>
            <a:ext cx="2651760" cy="347472"/>
          </a:xfrm>
          <a:prstGeom prst="rect">
            <a:avLst/>
          </a:prstGeom>
          <a:solidFill>
            <a:srgbClr val="FF4444">
              <a:alpha val="20000"/>
            </a:srgbClr>
          </a:solidFill>
          <a:ln cap="flat" cmpd="sng" w="12700">
            <a:solidFill>
              <a:srgbClr val="FF444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6071616" y="19202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🎯  WHY IT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181344" y="2359152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↳  Two gates, not 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181344" y="2761488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↳  TOTP says WHO may write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181344" y="3163824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↳  RBAC says WHAT can be written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181344" y="3566160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↳  A leaked TOTP still hits RBAC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181344" y="3968496"/>
            <a:ext cx="2450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↳  Workshop fixes = restart / 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163056" y="4572000"/>
            <a:ext cx="2468880" cy="256032"/>
          </a:xfrm>
          <a:prstGeom prst="rect">
            <a:avLst/>
          </a:prstGeom>
          <a:solidFill>
            <a:srgbClr val="FF4444">
              <a:alpha val="12156"/>
            </a:srgbClr>
          </a:solidFill>
          <a:ln cap="flat" cmpd="sng" w="12700">
            <a:solidFill>
              <a:srgbClr val="FF444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181344" y="4572000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Even with a valid token, the SA simply has no permission to delete a namespace or read a Secret. Defense in depth.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SECURITY — LAYER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Audit Trail — Every Write Is Logged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5"/>
          <p:cNvSpPr/>
          <p:nvPr/>
        </p:nvSpPr>
        <p:spPr>
          <a:xfrm>
            <a:off x="274320" y="1298448"/>
            <a:ext cx="960120" cy="1143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274320" y="1298448"/>
            <a:ext cx="96012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274320" y="1371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274320" y="184708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Alert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fires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243584" y="178308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371600" y="1298448"/>
            <a:ext cx="960120" cy="1143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1371600" y="1298448"/>
            <a:ext cx="96012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1371600" y="1371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371600" y="184708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investigates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2340864" y="178308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2468880" y="1298448"/>
            <a:ext cx="960120" cy="1143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2468880" y="1298448"/>
            <a:ext cx="96012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2468880" y="1371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468880" y="184708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Incident key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438144" y="178308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566160" y="1298448"/>
            <a:ext cx="960120" cy="1143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3566160" y="1298448"/>
            <a:ext cx="960120" cy="54864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566160" y="1371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3566160" y="184708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chat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535424" y="178308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663440" y="1298448"/>
            <a:ext cx="960120" cy="1143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4663440" y="1298448"/>
            <a:ext cx="960120" cy="54864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4663440" y="1371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663440" y="184708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reviews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632704" y="178308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760720" y="1298448"/>
            <a:ext cx="960120" cy="1143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5760720" y="1298448"/>
            <a:ext cx="96012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5760720" y="1371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760720" y="184708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TOTP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code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729984" y="178308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6858000" y="1298448"/>
            <a:ext cx="960120" cy="1143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6858000" y="1298448"/>
            <a:ext cx="960120" cy="54864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6858000" y="1371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858000" y="184708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MCP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executes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7827264" y="178308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7955280" y="1298448"/>
            <a:ext cx="960120" cy="1143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7955280" y="1298448"/>
            <a:ext cx="960120" cy="54864"/>
          </a:xfrm>
          <a:prstGeom prst="rect">
            <a:avLst/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7955280" y="1371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7955280" y="184708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Audit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274320" y="2633472"/>
            <a:ext cx="2651760" cy="10241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347472" y="2688336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868680" y="2688336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Time-bound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868680" y="294436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TOTP codes are valid only ±30s (valid_window=1). Replay is useless — intercepting the chat approval gives an attacker nothing reusable.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3172968" y="2633472"/>
            <a:ext cx="2651760" cy="10241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3246120" y="2688336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3767328" y="2688336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Incident-scoped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3767328" y="294436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Each approval names a specific 4-char incident key — approving k42a cannot accidentally execute the command stored under bgy4.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6071616" y="2633472"/>
            <a:ext cx="2651760" cy="10241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6144768" y="2688336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665976" y="2688336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Non-repudiable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665976" y="294436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MCP logs AUDIT | WRITE_EXECUTED | approved_by | command | timestamp, and SQLite stores key, command, status, created_at, resolved_at.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274320" y="3803904"/>
            <a:ext cx="2651760" cy="10241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347472" y="3858768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🚫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868680" y="385876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Idempotent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68680" y="41148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Once an incident is PATCHed to resolved (resolved_at set), it is closed. The approval flow will not re-run a resolved incident.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3172968" y="3803904"/>
            <a:ext cx="2651760" cy="10241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3246120" y="3858768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3767328" y="385876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Least privilege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3767328" y="41148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kubectl-read &amp; promql are always free; kubectl-write requires a TOTP. The gate applies only to destructive operations.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071616" y="3803904"/>
            <a:ext cx="2651760" cy="10241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6144768" y="3858768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665976" y="385876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Auditable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6665976" y="41148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Every incident is visible in the dashboard audit panel (GET /incidents). DELETE /incidents clears them for the next workshop run.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SECURITY — LAYER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Secrets as K8s Secrets + JWT Path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6"/>
          <p:cNvSpPr/>
          <p:nvPr/>
        </p:nvSpPr>
        <p:spPr>
          <a:xfrm>
            <a:off x="274320" y="1298448"/>
            <a:ext cx="4114800" cy="6400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274320" y="1298448"/>
            <a:ext cx="4114800" cy="54864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365760" y="13533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NOT IN CODE, NOT IN .env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365760" y="162763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TOTP_SECRET + WRITE_APPROVAL_TOKEN live in a K8s Secret (mcp-secrets), injected as env via secretKeyRef.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274320" y="2029968"/>
            <a:ext cx="4114800" cy="6400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274320" y="2029968"/>
            <a:ext cx="41148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365760" y="20848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GEMINI API 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365760" y="235915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Stored as an encrypted n8n credential (AES-256 at rest). Never in node params, never exported with the workflow JSON.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274320" y="2761488"/>
            <a:ext cx="4114800" cy="6400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274320" y="2761488"/>
            <a:ext cx="41148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365760" y="28163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INSIDE THE 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365760" y="30906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All service-to-service calls use in-cluster DNS (svc.cluster.local). MCP :8000 is a ClusterIP — not exposed to the internet.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274320" y="3493008"/>
            <a:ext cx="4114800" cy="6400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274320" y="3493008"/>
            <a:ext cx="41148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365760" y="35478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EVENT-WATCHER → n8n  (JWT)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365760" y="38221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k8s-event-s8 path is signed with an HS256 JWT (JWT_SECRET, 30s exp). n8n verifies the Bearer token before acting.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4663440" y="1298448"/>
            <a:ext cx="4206240" cy="2834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4663440" y="1298448"/>
            <a:ext cx="420624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4663440" y="12984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🔑  SECRET HYGIENE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4754880" y="1810512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5166360" y="182880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K8s Secrets, not files: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5166360" y="20116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TOTP_SECRET injected from mcp-secrets via secretKeyRef — never on disk, never committed. secret.yaml is a template only.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4754880" y="2267712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5166360" y="228600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TOTP generated in-pod: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5166360" y="24688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pyotp.random_base32() runs inside the MCP pod. Rollout-restart mcp-server after rotating the secret.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754880" y="2724912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5166360" y="274320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Gemini key encrypted: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5166360" y="29260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Lives in n8n credential store (AES-256). Workflow JSON exports only the credential ID, never the secret.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4754880" y="3182112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5166360" y="320040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JWT is HS256, short-lived: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5166360" y="33832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event-watcher signs claims with JWT_SECRET; exp = iat + 30s. n8n rejects an expired or unsigned token.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4754880" y="3639312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5166360" y="365760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Rotate between sessions: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5166360" y="38404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Regenerate TOTP_SECRET / JWT_SECRET per workshop. The repo ships placeholders, never real values.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4663440" y="4251960"/>
            <a:ext cx="4206240" cy="6858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4800600" y="4279392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🔒  In-Cluster Networking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4800600" y="448056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n8n → mcp-server over ClusterIP DNS — traffic never leaves the cluster.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Only the ingress LB is public; MCP &amp; monitoring stay ClusterIP-only.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274320" y="425196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⚠️  The repo ships only secret TEMPLATES (INJECT_* placeholders). Real TOTP/JWT values are generated at bootstrap, never committed.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SECURITY — LAYER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Security Anti-Patterns to Avoid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7"/>
          <p:cNvSpPr/>
          <p:nvPr/>
        </p:nvSpPr>
        <p:spPr>
          <a:xfrm>
            <a:off x="274320" y="1298448"/>
            <a:ext cx="4160520" cy="11430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274320" y="1298448"/>
            <a:ext cx="384048" cy="1143000"/>
          </a:xfrm>
          <a:prstGeom prst="rect">
            <a:avLst/>
          </a:prstGeom>
          <a:solidFill>
            <a:srgbClr val="FF4444">
              <a:alpha val="21960"/>
            </a:srgbClr>
          </a:solidFill>
          <a:ln cap="flat" cmpd="sng" w="12700">
            <a:solidFill>
              <a:srgbClr val="FF4444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274320" y="1298448"/>
            <a:ext cx="384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731520" y="134416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01 — Auto-heal without approval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731520" y="160934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❌ Alert fires → n8n restarts pod → alert fires again → infinite loop → 3AM page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731520" y="199339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Gate every write behind a human + TOTP — the Human Approval pattern. The AI recommends; a person approves.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709160" y="1298448"/>
            <a:ext cx="4160520" cy="11430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4709160" y="1298448"/>
            <a:ext cx="384048" cy="1143000"/>
          </a:xfrm>
          <a:prstGeom prst="rect">
            <a:avLst/>
          </a:prstGeom>
          <a:solidFill>
            <a:srgbClr val="FF6B35">
              <a:alpha val="21960"/>
            </a:srgbClr>
          </a:solidFill>
          <a:ln cap="flat" cmpd="sng" w="12700">
            <a:solidFill>
              <a:srgbClr val="FF6B35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4709160" y="1298448"/>
            <a:ext cx="384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5166360" y="134416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02 — Secrets in workflow 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5166360" y="160934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❌ Hardcode API keys / tokens in node params → exported with the workflow JSON → committed to git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5166360" y="199339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Use n8n credentials (AES-256) or K8s Secrets. Exports carry only credential IDs, never the secret.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274320" y="2560320"/>
            <a:ext cx="4160520" cy="11430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274320" y="2560320"/>
            <a:ext cx="384048" cy="1143000"/>
          </a:xfrm>
          <a:prstGeom prst="rect">
            <a:avLst/>
          </a:prstGeom>
          <a:solidFill>
            <a:srgbClr val="FFD700">
              <a:alpha val="21960"/>
            </a:srgbClr>
          </a:solidFill>
          <a:ln cap="flat" cmpd="sng" w="12700">
            <a:solidFill>
              <a:srgbClr val="FFD700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274320" y="2560320"/>
            <a:ext cx="384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731520" y="260604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03 — Unauthenticated public webhooks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731520" y="287121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❌ Expose an unauthenticated webhook to the internet → anyone who finds the URL can trigger the workflow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731520" y="3255264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Keep webhooks in-cluster (ClusterIP); sign external calls with a short-lived JWT (the event-watcher path).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4709160" y="2560320"/>
            <a:ext cx="4160520" cy="11430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4709160" y="2560320"/>
            <a:ext cx="384048" cy="1143000"/>
          </a:xfrm>
          <a:prstGeom prst="rect">
            <a:avLst/>
          </a:prstGeom>
          <a:solidFill>
            <a:srgbClr val="7B2FFF">
              <a:alpha val="21960"/>
            </a:srgbClr>
          </a:solidFill>
          <a:ln cap="flat" cmpd="sng" w="12700">
            <a:solidFill>
              <a:srgbClr val="7B2F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4709160" y="2560320"/>
            <a:ext cx="384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5166360" y="260604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04 — Logging sensitive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5166360" y="287121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❌ n8n saves execution data (node inputs/outputs) → an approval TOTP or token could surface in history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5166360" y="3255264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Tune saveDataSuccessExecution / saveDataErrorExecution. TOTP helps: a logged code is already expired.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274320" y="3822192"/>
            <a:ext cx="4160520" cy="11430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274320" y="3822192"/>
            <a:ext cx="384048" cy="1143000"/>
          </a:xfrm>
          <a:prstGeom prst="rect">
            <a:avLst/>
          </a:pr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274320" y="3822192"/>
            <a:ext cx="384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♾️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731520" y="386791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05 — Static tokens that never expire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731520" y="413308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❌ Rely on a static WRITE_APPROVAL_TOKEN → if leaked, an attacker has permanent write 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731520" y="451713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Use TOTP (±30s) as primary — the static token is fallback only. Rotate the secret between sessions.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4709160" y="3822192"/>
            <a:ext cx="4160520" cy="11430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"/>
          <p:cNvSpPr/>
          <p:nvPr/>
        </p:nvSpPr>
        <p:spPr>
          <a:xfrm>
            <a:off x="4709160" y="3822192"/>
            <a:ext cx="384048" cy="1143000"/>
          </a:xfrm>
          <a:prstGeom prst="rect">
            <a:avLst/>
          </a:prstGeom>
          <a:solidFill>
            <a:srgbClr val="00C896">
              <a:alpha val="21960"/>
            </a:srgbClr>
          </a:solidFill>
          <a:ln cap="flat" cmpd="sng" w="12700">
            <a:solidFill>
              <a:srgbClr val="00C896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"/>
          <p:cNvSpPr/>
          <p:nvPr/>
        </p:nvSpPr>
        <p:spPr>
          <a:xfrm>
            <a:off x="4709160" y="3822192"/>
            <a:ext cx="384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👑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5166360" y="386791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06 — Over-privileged kubeconfig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5166360" y="413308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❌ Give the MCP a cluster-admin kubeconfig → a single bug could delete namespaces or read every Secret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5166360" y="451713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Use an in-cluster ServiceAccount: read-only verbs cluster-wide, write limited to patch/update + pod delete.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274320" y="5102352"/>
            <a:ext cx="8595360" cy="274320"/>
          </a:xfrm>
          <a:prstGeom prst="rect">
            <a:avLst/>
          </a:prstGeom>
          <a:solidFill>
            <a:srgbClr val="FF4444">
              <a:alpha val="12156"/>
            </a:srgbClr>
          </a:solidFill>
          <a:ln cap="flat" cmpd="sng" w="12700">
            <a:solidFill>
              <a:srgbClr val="FF444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7"/>
          <p:cNvSpPr/>
          <p:nvPr/>
        </p:nvSpPr>
        <p:spPr>
          <a:xfrm>
            <a:off x="274320" y="510235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"The most dangerous automation is the kind that works perfectly — until it doesn't. Design for failure."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2026-04-12T19:56:58Z</dcterms:created>
  <dc:creator>PptxGenJS</dc:creator>
</cp:coreProperties>
</file>
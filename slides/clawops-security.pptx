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2" roundtripDataSignature="AMtx7micydqkHibj4CLHl3dZM6VI9PvP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2" Type="http://customschemas.google.com/relationships/presentationmetadata" Target="metadata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9" name="Google Shape;24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C18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4444"/>
          </a:solidFill>
          <a:ln cap="flat" cmpd="sng" w="12700">
            <a:solidFill>
              <a:srgbClr val="F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5486400" y="-914400"/>
            <a:ext cx="5486400" cy="5486400"/>
          </a:xfrm>
          <a:prstGeom prst="ellipse">
            <a:avLst/>
          </a:prstGeom>
          <a:solidFill>
            <a:srgbClr val="FF4444">
              <a:alpha val="5882"/>
            </a:srgbClr>
          </a:solidFill>
          <a:ln cap="flat" cmpd="sng" w="12700">
            <a:solidFill>
              <a:srgbClr val="FF4444">
                <a:alpha val="1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6400800" y="-182880"/>
            <a:ext cx="3657600" cy="3657600"/>
          </a:xfrm>
          <a:prstGeom prst="ellipse">
            <a:avLst/>
          </a:prstGeom>
          <a:solidFill>
            <a:srgbClr val="7B2FFF">
              <a:alpha val="5882"/>
            </a:srgbClr>
          </a:solidFill>
          <a:ln cap="flat" cmpd="sng" w="12700">
            <a:solidFill>
              <a:srgbClr val="7B2FFF">
                <a:alpha val="1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365760" y="457200"/>
            <a:ext cx="10972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00"/>
              <a:buFont typeface="Calibri"/>
              <a:buNone/>
            </a:pPr>
            <a:r>
              <a:rPr b="0" i="0" lang="en-US" sz="6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🔐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1645920" y="45720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CLAWOPS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645920" y="868680"/>
            <a:ext cx="7315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Trebuchet MS"/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n8n Security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1645920" y="1536192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1800"/>
              <a:buFont typeface="Trebuchet MS"/>
              <a:buNone/>
            </a:pPr>
            <a:r>
              <a:rPr b="1" i="0" lang="en-US" sz="1800" u="none" cap="none" strike="noStrike">
                <a:solidFill>
                  <a:srgbClr val="FF4444"/>
                </a:solidFill>
                <a:latin typeface="Trebuchet MS"/>
                <a:ea typeface="Trebuchet MS"/>
                <a:cs typeface="Trebuchet MS"/>
                <a:sym typeface="Trebuchet MS"/>
              </a:rPr>
              <a:t>Securing Automation Workflows in Production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" name="Google Shape;23;p1"/>
          <p:cNvCxnSpPr/>
          <p:nvPr/>
        </p:nvCxnSpPr>
        <p:spPr>
          <a:xfrm>
            <a:off x="1645920" y="2011680"/>
            <a:ext cx="7132320" cy="0"/>
          </a:xfrm>
          <a:prstGeom prst="straightConnector1">
            <a:avLst/>
          </a:prstGeom>
          <a:noFill/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1"/>
          <p:cNvSpPr/>
          <p:nvPr/>
        </p:nvSpPr>
        <p:spPr>
          <a:xfrm>
            <a:off x="1645920" y="2176272"/>
            <a:ext cx="2286000" cy="347472"/>
          </a:xfrm>
          <a:prstGeom prst="rect">
            <a:avLst/>
          </a:prstGeom>
          <a:solidFill>
            <a:srgbClr val="FF4444">
              <a:alpha val="18039"/>
            </a:srgbClr>
          </a:solidFill>
          <a:ln cap="flat" cmpd="sng" w="12700">
            <a:solidFill>
              <a:srgbClr val="FF4444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1"/>
          <p:cNvSpPr/>
          <p:nvPr/>
        </p:nvSpPr>
        <p:spPr>
          <a:xfrm>
            <a:off x="1645920" y="2176272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FF4444"/>
                </a:solidFill>
                <a:latin typeface="Trebuchet MS"/>
                <a:ea typeface="Trebuchet MS"/>
                <a:cs typeface="Trebuchet MS"/>
                <a:sym typeface="Trebuchet MS"/>
              </a:rPr>
              <a:t>1.  Webhook Auth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096512" y="2176272"/>
            <a:ext cx="2286000" cy="347472"/>
          </a:xfrm>
          <a:prstGeom prst="rect">
            <a:avLst/>
          </a:prstGeom>
          <a:solidFill>
            <a:srgbClr val="FF6B35">
              <a:alpha val="18039"/>
            </a:srgbClr>
          </a:solidFill>
          <a:ln cap="flat" cmpd="sng" w="12700">
            <a:solidFill>
              <a:srgbClr val="FF6B35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4096512" y="2176272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2.  JWT &amp; API Keys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6547104" y="2176272"/>
            <a:ext cx="2286000" cy="347472"/>
          </a:xfrm>
          <a:prstGeom prst="rect">
            <a:avLst/>
          </a:prstGeom>
          <a:solidFill>
            <a:srgbClr val="FFD700">
              <a:alpha val="18039"/>
            </a:srgbClr>
          </a:solidFill>
          <a:ln cap="flat" cmpd="sng" w="12700">
            <a:solidFill>
              <a:srgbClr val="FFD700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"/>
          <p:cNvSpPr/>
          <p:nvPr/>
        </p:nvSpPr>
        <p:spPr>
          <a:xfrm>
            <a:off x="6547104" y="2176272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FFD700"/>
                </a:solidFill>
                <a:latin typeface="Trebuchet MS"/>
                <a:ea typeface="Trebuchet MS"/>
                <a:cs typeface="Trebuchet MS"/>
                <a:sym typeface="Trebuchet MS"/>
              </a:rPr>
              <a:t>3.  Credential Store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1645920" y="2651760"/>
            <a:ext cx="2286000" cy="347472"/>
          </a:xfrm>
          <a:prstGeom prst="rect">
            <a:avLst/>
          </a:prstGeom>
          <a:solidFill>
            <a:srgbClr val="00C896">
              <a:alpha val="18039"/>
            </a:srgbClr>
          </a:solidFill>
          <a:ln cap="flat" cmpd="sng" w="12700">
            <a:solidFill>
              <a:srgbClr val="00C896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1"/>
          <p:cNvSpPr/>
          <p:nvPr/>
        </p:nvSpPr>
        <p:spPr>
          <a:xfrm>
            <a:off x="1645920" y="2651760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C896"/>
                </a:solidFill>
                <a:latin typeface="Trebuchet MS"/>
                <a:ea typeface="Trebuchet MS"/>
                <a:cs typeface="Trebuchet MS"/>
                <a:sym typeface="Trebuchet MS"/>
              </a:rPr>
              <a:t>4.  TOTP Write Gate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4096512" y="2651760"/>
            <a:ext cx="2286000" cy="347472"/>
          </a:xfrm>
          <a:prstGeom prst="rect">
            <a:avLst/>
          </a:prstGeom>
          <a:solidFill>
            <a:srgbClr val="00D4FF">
              <a:alpha val="18039"/>
            </a:srgbClr>
          </a:solidFill>
          <a:ln cap="flat" cmpd="sng" w="12700">
            <a:solidFill>
              <a:srgbClr val="00D4FF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4096512" y="2651760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5.  Network Isolation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6547104" y="2651760"/>
            <a:ext cx="2286000" cy="347472"/>
          </a:xfrm>
          <a:prstGeom prst="rect">
            <a:avLst/>
          </a:prstGeom>
          <a:solidFill>
            <a:srgbClr val="7B2FFF">
              <a:alpha val="18039"/>
            </a:srgbClr>
          </a:solidFill>
          <a:ln cap="flat" cmpd="sng" w="12700">
            <a:solidFill>
              <a:srgbClr val="7B2FFF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1"/>
          <p:cNvSpPr/>
          <p:nvPr/>
        </p:nvSpPr>
        <p:spPr>
          <a:xfrm>
            <a:off x="6547104" y="2651760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2FFF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7B2FFF"/>
                </a:solidFill>
                <a:latin typeface="Trebuchet MS"/>
                <a:ea typeface="Trebuchet MS"/>
                <a:cs typeface="Trebuchet MS"/>
                <a:sym typeface="Trebuchet MS"/>
              </a:rPr>
              <a:t>6.  Anti-patterns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1645920" y="3291840"/>
            <a:ext cx="7132320" cy="475488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1"/>
          <p:cNvSpPr/>
          <p:nvPr/>
        </p:nvSpPr>
        <p:spPr>
          <a:xfrm>
            <a:off x="1783080" y="3291840"/>
            <a:ext cx="18288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⏱ 30 min overview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1"/>
          <p:cNvSpPr/>
          <p:nvPr/>
        </p:nvSpPr>
        <p:spPr>
          <a:xfrm>
            <a:off x="3566160" y="3291840"/>
            <a:ext cx="50292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Automation that can't be exploited, audited, and controlled is not production-ready.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F4444">
              <a:alpha val="12156"/>
            </a:srgbClr>
          </a:solidFill>
          <a:ln cap="flat" cmpd="sng" w="12700">
            <a:solidFill>
              <a:srgbClr val="FF4444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1"/>
          <p:cNvSpPr/>
          <p:nvPr/>
        </p:nvSpPr>
        <p:spPr>
          <a:xfrm>
            <a:off x="457200" y="4663440"/>
            <a:ext cx="82296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"Security is not a feature you add later — it is the architecture you design from day one."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C18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4444"/>
          </a:solidFill>
          <a:ln cap="flat" cmpd="sng" w="12700">
            <a:solidFill>
              <a:srgbClr val="F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SECURITY — TOPIC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Securing Webhook Triggers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" name="Google Shape;49;p2"/>
          <p:cNvCxnSpPr/>
          <p:nvPr/>
        </p:nvCxnSpPr>
        <p:spPr>
          <a:xfrm>
            <a:off x="457200" y="1143000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" name="Google Shape;50;p2"/>
          <p:cNvSpPr/>
          <p:nvPr/>
        </p:nvSpPr>
        <p:spPr>
          <a:xfrm>
            <a:off x="274320" y="1298448"/>
            <a:ext cx="8595360" cy="438912"/>
          </a:xfrm>
          <a:prstGeom prst="rect">
            <a:avLst/>
          </a:prstGeom>
          <a:solidFill>
            <a:srgbClr val="1A0808"/>
          </a:solidFill>
          <a:ln cap="flat" cmpd="sng" w="12700">
            <a:solidFill>
              <a:srgbClr val="F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411480" y="1298448"/>
            <a:ext cx="8321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⚠️  By default, n8n webhook URLs are PUBLIC — anyone who discovers the URL can trigger your workflow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274320" y="1874520"/>
            <a:ext cx="4160520" cy="137160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274320" y="1874520"/>
            <a:ext cx="384048" cy="1371600"/>
          </a:xfrm>
          <a:prstGeom prst="rect">
            <a:avLst/>
          </a:prstGeom>
          <a:solidFill>
            <a:srgbClr val="FF6B35">
              <a:alpha val="21960"/>
            </a:srgbClr>
          </a:solidFill>
          <a:ln cap="flat" cmpd="sng" w="12700">
            <a:solidFill>
              <a:srgbClr val="FF6B35">
                <a:alpha val="3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274320" y="1874520"/>
            <a:ext cx="384048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731520" y="1929384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Header Authentication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731520" y="2185416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00"/>
              <a:buFont typeface="Consolas"/>
              <a:buNone/>
            </a:pPr>
            <a:r>
              <a:rPr b="0" i="0" lang="en-US" sz="8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n8n UI: Webhook node → Authentication → Header Auth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00"/>
              <a:buFont typeface="Consolas"/>
              <a:buNone/>
            </a:pPr>
            <a:r>
              <a:rPr b="0" i="0" lang="en-US" sz="8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Set: Header Name + Header Value (shared secret)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731520" y="2496312"/>
            <a:ext cx="3566160" cy="347472"/>
          </a:xfrm>
          <a:prstGeom prst="rect">
            <a:avLst/>
          </a:prstGeom>
          <a:solidFill>
            <a:srgbClr val="0A0F1E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777240" y="2496312"/>
            <a:ext cx="3474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750"/>
              <a:buFont typeface="Consolas"/>
              <a:buNone/>
            </a:pPr>
            <a:r>
              <a:rPr b="0" i="0" lang="en-US" sz="75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curl -X POST https://ngrok.../webhook/xxx \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750"/>
              <a:buFont typeface="Consolas"/>
              <a:buNone/>
            </a:pPr>
            <a:r>
              <a:rPr b="0" i="0" lang="en-US" sz="75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  -H "X-Webhook-Secret: mysecretvalue123"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731520" y="2880360"/>
            <a:ext cx="3566160" cy="292608"/>
          </a:xfrm>
          <a:prstGeom prst="rect">
            <a:avLst/>
          </a:prstGeom>
          <a:solidFill>
            <a:srgbClr val="FF6B35">
              <a:alpha val="10196"/>
            </a:srgbClr>
          </a:solidFill>
          <a:ln cap="flat" cmpd="sng" w="12700">
            <a:solidFill>
              <a:srgbClr val="FF6B35">
                <a:alpha val="219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777240" y="2880360"/>
            <a:ext cx="34930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FF6B35"/>
                </a:solidFill>
                <a:latin typeface="Calibri"/>
                <a:ea typeface="Calibri"/>
                <a:cs typeface="Calibri"/>
                <a:sym typeface="Calibri"/>
              </a:rPr>
              <a:t>💡 Good for Alertmanager — add auth_token in prometheus-values.yaml receivers config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"/>
          <p:cNvSpPr/>
          <p:nvPr/>
        </p:nvSpPr>
        <p:spPr>
          <a:xfrm>
            <a:off x="4709160" y="1874520"/>
            <a:ext cx="4160520" cy="137160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FFD7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2"/>
          <p:cNvSpPr/>
          <p:nvPr/>
        </p:nvSpPr>
        <p:spPr>
          <a:xfrm>
            <a:off x="4709160" y="1874520"/>
            <a:ext cx="384048" cy="1371600"/>
          </a:xfrm>
          <a:prstGeom prst="rect">
            <a:avLst/>
          </a:prstGeom>
          <a:solidFill>
            <a:srgbClr val="FFD700">
              <a:alpha val="21960"/>
            </a:srgbClr>
          </a:solidFill>
          <a:ln cap="flat" cmpd="sng" w="12700">
            <a:solidFill>
              <a:srgbClr val="FFD700">
                <a:alpha val="3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2"/>
          <p:cNvSpPr/>
          <p:nvPr/>
        </p:nvSpPr>
        <p:spPr>
          <a:xfrm>
            <a:off x="4709160" y="1874520"/>
            <a:ext cx="384048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FFD700"/>
                </a:solidFill>
                <a:latin typeface="Consolas"/>
                <a:ea typeface="Consolas"/>
                <a:cs typeface="Consolas"/>
                <a:sym typeface="Consolas"/>
              </a:rPr>
              <a:t>02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5166360" y="1929384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FFD700"/>
                </a:solidFill>
                <a:latin typeface="Trebuchet MS"/>
                <a:ea typeface="Trebuchet MS"/>
                <a:cs typeface="Trebuchet MS"/>
                <a:sym typeface="Trebuchet MS"/>
              </a:rPr>
              <a:t>Basic Auth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5166360" y="2185416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00"/>
              <a:buFont typeface="Consolas"/>
              <a:buNone/>
            </a:pPr>
            <a:r>
              <a:rPr b="0" i="0" lang="en-US" sz="8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n8n UI: Webhook node → Authentication → Basic Auth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00"/>
              <a:buFont typeface="Consolas"/>
              <a:buNone/>
            </a:pPr>
            <a:r>
              <a:rPr b="0" i="0" lang="en-US" sz="8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Set: Username + Password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5166360" y="2496312"/>
            <a:ext cx="3566160" cy="347472"/>
          </a:xfrm>
          <a:prstGeom prst="rect">
            <a:avLst/>
          </a:prstGeom>
          <a:solidFill>
            <a:srgbClr val="0A0F1E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2"/>
          <p:cNvSpPr/>
          <p:nvPr/>
        </p:nvSpPr>
        <p:spPr>
          <a:xfrm>
            <a:off x="5212080" y="2496312"/>
            <a:ext cx="3474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750"/>
              <a:buFont typeface="Consolas"/>
              <a:buNone/>
            </a:pPr>
            <a:r>
              <a:rPr b="0" i="0" lang="en-US" sz="75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curl -X POST https://ngrok.../webhook/xxx \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750"/>
              <a:buFont typeface="Consolas"/>
              <a:buNone/>
            </a:pPr>
            <a:r>
              <a:rPr b="0" i="0" lang="en-US" sz="75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  -u "admin:password123"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5166360" y="2880360"/>
            <a:ext cx="3566160" cy="292608"/>
          </a:xfrm>
          <a:prstGeom prst="rect">
            <a:avLst/>
          </a:prstGeom>
          <a:solidFill>
            <a:srgbClr val="FFD700">
              <a:alpha val="10196"/>
            </a:srgbClr>
          </a:solidFill>
          <a:ln cap="flat" cmpd="sng" w="12700">
            <a:solidFill>
              <a:srgbClr val="FFD700">
                <a:alpha val="219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2"/>
          <p:cNvSpPr/>
          <p:nvPr/>
        </p:nvSpPr>
        <p:spPr>
          <a:xfrm>
            <a:off x="5212080" y="2880360"/>
            <a:ext cx="34930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FFD700"/>
                </a:solidFill>
                <a:latin typeface="Calibri"/>
                <a:ea typeface="Calibri"/>
                <a:cs typeface="Calibri"/>
                <a:sym typeface="Calibri"/>
              </a:rPr>
              <a:t>💡 Simpler but password in base64 only — not encrypted unless HTTPS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274320" y="3383280"/>
            <a:ext cx="4160520" cy="137160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2"/>
          <p:cNvSpPr/>
          <p:nvPr/>
        </p:nvSpPr>
        <p:spPr>
          <a:xfrm>
            <a:off x="274320" y="3383280"/>
            <a:ext cx="384048" cy="1371600"/>
          </a:xfrm>
          <a:prstGeom prst="rect">
            <a:avLst/>
          </a:prstGeom>
          <a:solidFill>
            <a:srgbClr val="00C896">
              <a:alpha val="21960"/>
            </a:srgbClr>
          </a:solidFill>
          <a:ln cap="flat" cmpd="sng" w="12700">
            <a:solidFill>
              <a:srgbClr val="00C896">
                <a:alpha val="3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2"/>
          <p:cNvSpPr/>
          <p:nvPr/>
        </p:nvSpPr>
        <p:spPr>
          <a:xfrm>
            <a:off x="274320" y="3383280"/>
            <a:ext cx="384048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03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3474720" y="3438144"/>
            <a:ext cx="822960" cy="228600"/>
          </a:xfrm>
          <a:prstGeom prst="rect">
            <a:avLst/>
          </a:prstGeom>
          <a:solidFill>
            <a:srgbClr val="00C896">
              <a:alpha val="30196"/>
            </a:srgbClr>
          </a:solidFill>
          <a:ln cap="flat" cmpd="sng" w="12700">
            <a:solidFill>
              <a:srgbClr val="00C896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2"/>
          <p:cNvSpPr/>
          <p:nvPr/>
        </p:nvSpPr>
        <p:spPr>
          <a:xfrm>
            <a:off x="3474720" y="343814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00C896"/>
                </a:solidFill>
                <a:latin typeface="Trebuchet MS"/>
                <a:ea typeface="Trebuchet MS"/>
                <a:cs typeface="Trebuchet MS"/>
                <a:sym typeface="Trebuchet MS"/>
              </a:rPr>
              <a:t>★ BEST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731520" y="3438144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C896"/>
                </a:solidFill>
                <a:latin typeface="Trebuchet MS"/>
                <a:ea typeface="Trebuchet MS"/>
                <a:cs typeface="Trebuchet MS"/>
                <a:sym typeface="Trebuchet MS"/>
              </a:rPr>
              <a:t>JWT Verification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731520" y="3694176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00"/>
              <a:buFont typeface="Consolas"/>
              <a:buNone/>
            </a:pPr>
            <a:r>
              <a:rPr b="0" i="0" lang="en-US" sz="8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n8n UI: Webhook node → Authentication → JWT Auth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00"/>
              <a:buFont typeface="Consolas"/>
              <a:buNone/>
            </a:pPr>
            <a:r>
              <a:rPr b="0" i="0" lang="en-US" sz="8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Set: Secret + Algorithm (HS256)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731520" y="4005072"/>
            <a:ext cx="3566160" cy="347472"/>
          </a:xfrm>
          <a:prstGeom prst="rect">
            <a:avLst/>
          </a:prstGeom>
          <a:solidFill>
            <a:srgbClr val="0A0F1E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2"/>
          <p:cNvSpPr/>
          <p:nvPr/>
        </p:nvSpPr>
        <p:spPr>
          <a:xfrm>
            <a:off x="777240" y="4005072"/>
            <a:ext cx="3474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750"/>
              <a:buFont typeface="Consolas"/>
              <a:buNone/>
            </a:pPr>
            <a:r>
              <a:rPr b="0" i="0" lang="en-US" sz="75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# Caller generates JWT signed with shared secret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750"/>
              <a:buFont typeface="Consolas"/>
              <a:buNone/>
            </a:pPr>
            <a:r>
              <a:rPr b="0" i="0" lang="en-US" sz="75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# n8n validates signature + expiry automatically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731520" y="4389120"/>
            <a:ext cx="3566160" cy="292608"/>
          </a:xfrm>
          <a:prstGeom prst="rect">
            <a:avLst/>
          </a:prstGeom>
          <a:solidFill>
            <a:srgbClr val="00C896">
              <a:alpha val="10196"/>
            </a:srgbClr>
          </a:solidFill>
          <a:ln cap="flat" cmpd="sng" w="12700">
            <a:solidFill>
              <a:srgbClr val="00C896">
                <a:alpha val="219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2"/>
          <p:cNvSpPr/>
          <p:nvPr/>
        </p:nvSpPr>
        <p:spPr>
          <a:xfrm>
            <a:off x="777240" y="4389120"/>
            <a:ext cx="34930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💡 Best for service-to-service. Expiry built-in. Signature prevents tampering.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2"/>
          <p:cNvSpPr/>
          <p:nvPr/>
        </p:nvSpPr>
        <p:spPr>
          <a:xfrm>
            <a:off x="4709160" y="3383280"/>
            <a:ext cx="4160520" cy="137160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"/>
          <p:cNvSpPr/>
          <p:nvPr/>
        </p:nvSpPr>
        <p:spPr>
          <a:xfrm>
            <a:off x="4709160" y="3383280"/>
            <a:ext cx="384048" cy="1371600"/>
          </a:xfrm>
          <a:prstGeom prst="rect">
            <a:avLst/>
          </a:prstGeom>
          <a:solidFill>
            <a:srgbClr val="00D4FF">
              <a:alpha val="21960"/>
            </a:srgbClr>
          </a:solidFill>
          <a:ln cap="flat" cmpd="sng" w="12700">
            <a:solidFill>
              <a:srgbClr val="00D4FF">
                <a:alpha val="3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2"/>
          <p:cNvSpPr/>
          <p:nvPr/>
        </p:nvSpPr>
        <p:spPr>
          <a:xfrm>
            <a:off x="4709160" y="3383280"/>
            <a:ext cx="384048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04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2"/>
          <p:cNvSpPr/>
          <p:nvPr/>
        </p:nvSpPr>
        <p:spPr>
          <a:xfrm>
            <a:off x="5166360" y="3438144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HTTPS via ngrok (our setup)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5166360" y="3694176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00"/>
              <a:buFont typeface="Consolas"/>
              <a:buNone/>
            </a:pPr>
            <a:r>
              <a:rPr b="0" i="0" lang="en-US" sz="8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ngrok provides TLS termination — all traffic encrypted in transit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00"/>
              <a:buFont typeface="Consolas"/>
              <a:buNone/>
            </a:pPr>
            <a:r>
              <a:rPr b="0" i="0" lang="en-US" sz="8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Telegram REQUIRES HTTPS — plain HTTP rejected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"/>
          <p:cNvSpPr/>
          <p:nvPr/>
        </p:nvSpPr>
        <p:spPr>
          <a:xfrm>
            <a:off x="5166360" y="4005072"/>
            <a:ext cx="3566160" cy="347472"/>
          </a:xfrm>
          <a:prstGeom prst="rect">
            <a:avLst/>
          </a:prstGeom>
          <a:solidFill>
            <a:srgbClr val="0A0F1E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"/>
          <p:cNvSpPr/>
          <p:nvPr/>
        </p:nvSpPr>
        <p:spPr>
          <a:xfrm>
            <a:off x="5212080" y="4005072"/>
            <a:ext cx="3474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750"/>
              <a:buFont typeface="Consolas"/>
              <a:buNone/>
            </a:pPr>
            <a:r>
              <a:rPr b="0" i="0" lang="en-US" sz="75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ngrok http 5678 --domain=your-static.ngrok-free.app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750"/>
              <a:buFont typeface="Consolas"/>
              <a:buNone/>
            </a:pPr>
            <a:r>
              <a:rPr b="0" i="0" lang="en-US" sz="75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# → https://your-static.ngrok-free.app/webhook/...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2"/>
          <p:cNvSpPr/>
          <p:nvPr/>
        </p:nvSpPr>
        <p:spPr>
          <a:xfrm>
            <a:off x="5166360" y="4389120"/>
            <a:ext cx="3566160" cy="292608"/>
          </a:xfrm>
          <a:prstGeom prst="rect">
            <a:avLst/>
          </a:prstGeom>
          <a:solidFill>
            <a:srgbClr val="00D4FF">
              <a:alpha val="10196"/>
            </a:srgbClr>
          </a:solidFill>
          <a:ln cap="flat" cmpd="sng" w="12700">
            <a:solidFill>
              <a:srgbClr val="00D4FF">
                <a:alpha val="219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"/>
          <p:cNvSpPr/>
          <p:nvPr/>
        </p:nvSpPr>
        <p:spPr>
          <a:xfrm>
            <a:off x="5212080" y="4389120"/>
            <a:ext cx="34930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💡 Never expose n8n:5678 directly to internet — always proxy through HTTPS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C18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B35"/>
          </a:solidFill>
          <a:ln cap="flat" cmpd="sng" w="127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3"/>
          <p:cNvSpPr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SECURITY — TOPIC 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JWT &amp; API Authentication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8" name="Google Shape;98;p3"/>
          <p:cNvCxnSpPr/>
          <p:nvPr/>
        </p:nvCxnSpPr>
        <p:spPr>
          <a:xfrm>
            <a:off x="457200" y="1143000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3"/>
          <p:cNvSpPr/>
          <p:nvPr/>
        </p:nvSpPr>
        <p:spPr>
          <a:xfrm>
            <a:off x="274320" y="1298448"/>
            <a:ext cx="4114800" cy="361188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"/>
          <p:cNvSpPr/>
          <p:nvPr/>
        </p:nvSpPr>
        <p:spPr>
          <a:xfrm>
            <a:off x="274320" y="1298448"/>
            <a:ext cx="4114800" cy="384048"/>
          </a:xfrm>
          <a:prstGeom prst="rect">
            <a:avLst/>
          </a:prstGeom>
          <a:solidFill>
            <a:srgbClr val="0D1F3C"/>
          </a:solidFill>
          <a:ln cap="flat" cmpd="sng" w="127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3"/>
          <p:cNvSpPr/>
          <p:nvPr/>
        </p:nvSpPr>
        <p:spPr>
          <a:xfrm>
            <a:off x="274320" y="1298448"/>
            <a:ext cx="41148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🔑  N8N API KEY (JWT)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411480" y="184708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What it is: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1481328" y="1847088"/>
            <a:ext cx="27432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JWT signed by n8n — used to call n8n's REST API (/api/v1/workflows etc.)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411480" y="234086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Generate: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1481328" y="2340864"/>
            <a:ext cx="27432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n8n UI → Settings → API → Create API Key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/>
          <p:nvPr/>
        </p:nvSpPr>
        <p:spPr>
          <a:xfrm>
            <a:off x="411480" y="283464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Use: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1481328" y="2834640"/>
            <a:ext cx="27432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Header: X-N8N-API-KEY: &lt;token&gt;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411480" y="33284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Expiry: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1481328" y="3328416"/>
            <a:ext cx="27432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Set expiry date — rotate regularly in prod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411480" y="382219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Scope: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1481328" y="3822192"/>
            <a:ext cx="27432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Full API access — treat like a root password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411480" y="43159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In .env: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1481328" y="4315968"/>
            <a:ext cx="27432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Never commit — load via environment variable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411480" y="4645152"/>
            <a:ext cx="3840480" cy="201168"/>
          </a:xfrm>
          <a:prstGeom prst="rect">
            <a:avLst/>
          </a:prstGeom>
          <a:solidFill>
            <a:srgbClr val="0A0F1E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3"/>
          <p:cNvSpPr/>
          <p:nvPr/>
        </p:nvSpPr>
        <p:spPr>
          <a:xfrm>
            <a:off x="457200" y="4645152"/>
            <a:ext cx="3749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750"/>
              <a:buFont typeface="Consolas"/>
              <a:buNone/>
            </a:pPr>
            <a:r>
              <a:rPr b="0" i="0" lang="en-US" sz="75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curl -H "X-N8N-API-KEY: $N8N_KEY" http://localhost:5678/api/v1/workflows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4663440" y="1298448"/>
            <a:ext cx="4206240" cy="361188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4663440" y="1298448"/>
            <a:ext cx="4206240" cy="384048"/>
          </a:xfrm>
          <a:prstGeom prst="rect">
            <a:avLst/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3"/>
          <p:cNvSpPr/>
          <p:nvPr/>
        </p:nvSpPr>
        <p:spPr>
          <a:xfrm>
            <a:off x="4663440" y="1298448"/>
            <a:ext cx="4206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🔒  JWT IN WORKFLOW NODES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4754880" y="1901952"/>
            <a:ext cx="365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🌐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5193792" y="1883664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Calling secured APIs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193792" y="2139696"/>
            <a:ext cx="34747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HTTP Request node → Authentication → Bearer Token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Store token in n8n credential, not in node params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4754880" y="2670048"/>
            <a:ext cx="365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🤖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193792" y="2651760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MCP Server auth (future)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5193792" y="2907792"/>
            <a:ext cx="34747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Add JWT middleware to FastAPI MCP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Verify token before executing kubectl-write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4754880" y="3438144"/>
            <a:ext cx="365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🔄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5193792" y="3419856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Webhook-to-webhook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5193792" y="3675888"/>
            <a:ext cx="34747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Sign outgoing webhooks from n8n using JWT node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Receiving service validates signature + expiry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4754880" y="4206240"/>
            <a:ext cx="365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⏰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5193792" y="4187952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Token expiry handling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5193792" y="4443984"/>
            <a:ext cx="34747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Short-lived tokens (15min) + refresh pattern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Better than static tokens that never expire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C18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700"/>
          </a:solidFill>
          <a:ln cap="flat" cmpd="sng" w="12700">
            <a:solidFill>
              <a:srgbClr val="FFD7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SECURITY — TOPIC 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Credential Management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9" name="Google Shape;139;p4"/>
          <p:cNvCxnSpPr/>
          <p:nvPr/>
        </p:nvCxnSpPr>
        <p:spPr>
          <a:xfrm>
            <a:off x="457200" y="1143000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4"/>
          <p:cNvSpPr/>
          <p:nvPr/>
        </p:nvSpPr>
        <p:spPr>
          <a:xfrm>
            <a:off x="274320" y="1298448"/>
            <a:ext cx="8595360" cy="50292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FFD7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384048" y="1298448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🔐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914400" y="1298448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n8n encrypts all credentials at rest using AES-256. Key = N8N_ENCRYPTION_KEY in .env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6217920" y="1389888"/>
            <a:ext cx="2560320" cy="320040"/>
          </a:xfrm>
          <a:prstGeom prst="rect">
            <a:avLst/>
          </a:prstGeom>
          <a:solidFill>
            <a:srgbClr val="0A0F1E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263640" y="1389888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800"/>
              <a:buFont typeface="Consolas"/>
              <a:buNone/>
            </a:pPr>
            <a:r>
              <a:rPr b="0" i="0" lang="en-US" sz="80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N8N_ENCRYPTION_KEY=&lt;32-char-random&gt;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274320" y="1920240"/>
            <a:ext cx="2651760" cy="297180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"/>
          <p:cNvSpPr/>
          <p:nvPr/>
        </p:nvSpPr>
        <p:spPr>
          <a:xfrm>
            <a:off x="274320" y="1920240"/>
            <a:ext cx="2651760" cy="347472"/>
          </a:xfrm>
          <a:prstGeom prst="rect">
            <a:avLst/>
          </a:prstGeom>
          <a:solidFill>
            <a:srgbClr val="00C896">
              <a:alpha val="20000"/>
            </a:srgbClr>
          </a:solidFill>
          <a:ln cap="flat" cmpd="sng" w="12700">
            <a:solidFill>
              <a:srgbClr val="00C896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"/>
          <p:cNvSpPr/>
          <p:nvPr/>
        </p:nvSpPr>
        <p:spPr>
          <a:xfrm>
            <a:off x="274320" y="1920240"/>
            <a:ext cx="2651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00C896"/>
                </a:solidFill>
                <a:latin typeface="Trebuchet MS"/>
                <a:ea typeface="Trebuchet MS"/>
                <a:cs typeface="Trebuchet MS"/>
                <a:sym typeface="Trebuchet MS"/>
              </a:rPr>
              <a:t>✅  DO — Store in n8n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384048" y="2359152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✓  API keys (Gemini, Telegram)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384048" y="2761488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✓  OAuth tokens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384048" y="3163824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✓  Webhook secrets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384048" y="3566160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✓  Database passwords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384048" y="3968496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✓  SSH private keys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365760" y="4572000"/>
            <a:ext cx="2468880" cy="256032"/>
          </a:xfrm>
          <a:prstGeom prst="rect">
            <a:avLst/>
          </a:prstGeom>
          <a:solidFill>
            <a:srgbClr val="00C896">
              <a:alpha val="12156"/>
            </a:srgbClr>
          </a:solidFill>
          <a:ln cap="flat" cmpd="sng" w="12700">
            <a:solidFill>
              <a:srgbClr val="00C896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4"/>
          <p:cNvSpPr/>
          <p:nvPr/>
        </p:nvSpPr>
        <p:spPr>
          <a:xfrm>
            <a:off x="384048" y="4572000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Encrypted, not exported with workflows, role-based access in n8n Enterprise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3172968" y="1920240"/>
            <a:ext cx="2651760" cy="297180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4"/>
          <p:cNvSpPr/>
          <p:nvPr/>
        </p:nvSpPr>
        <p:spPr>
          <a:xfrm>
            <a:off x="3172968" y="1920240"/>
            <a:ext cx="2651760" cy="347472"/>
          </a:xfrm>
          <a:prstGeom prst="rect">
            <a:avLst/>
          </a:prstGeom>
          <a:solidFill>
            <a:srgbClr val="00D4FF">
              <a:alpha val="20000"/>
            </a:srgbClr>
          </a:solidFill>
          <a:ln cap="flat" cmpd="sng" w="12700">
            <a:solidFill>
              <a:srgbClr val="00D4FF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4"/>
          <p:cNvSpPr/>
          <p:nvPr/>
        </p:nvSpPr>
        <p:spPr>
          <a:xfrm>
            <a:off x="3172968" y="1920240"/>
            <a:ext cx="2651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✅  DO — Use .env file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3282696" y="2359152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✓  EC2_PUBLIC_IP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3282696" y="2761488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✓  PROMETHEUS_URL, GRAFANA_URL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3282696" y="3163824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✓  TOTP_SECRET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4"/>
          <p:cNvSpPr/>
          <p:nvPr/>
        </p:nvSpPr>
        <p:spPr>
          <a:xfrm>
            <a:off x="3282696" y="3566160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✓  N8N_PASSWORD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3282696" y="3968496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✓  WRITE_APPROVAL_TOKEN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4"/>
          <p:cNvSpPr/>
          <p:nvPr/>
        </p:nvSpPr>
        <p:spPr>
          <a:xfrm>
            <a:off x="3264408" y="4572000"/>
            <a:ext cx="2468880" cy="256032"/>
          </a:xfrm>
          <a:prstGeom prst="rect">
            <a:avLst/>
          </a:prstGeom>
          <a:solidFill>
            <a:srgbClr val="00D4FF">
              <a:alpha val="12156"/>
            </a:srgbClr>
          </a:solidFill>
          <a:ln cap="flat" cmpd="sng" w="12700">
            <a:solidFill>
              <a:srgbClr val="00D4FF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4"/>
          <p:cNvSpPr/>
          <p:nvPr/>
        </p:nvSpPr>
        <p:spPr>
          <a:xfrm>
            <a:off x="3282696" y="4572000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Never commit .env to git. Add to .gitignore. Generate CREDENTIALS.md for reference only.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4"/>
          <p:cNvSpPr/>
          <p:nvPr/>
        </p:nvSpPr>
        <p:spPr>
          <a:xfrm>
            <a:off x="6071616" y="1920240"/>
            <a:ext cx="2651760" cy="297180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FF444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4"/>
          <p:cNvSpPr/>
          <p:nvPr/>
        </p:nvSpPr>
        <p:spPr>
          <a:xfrm>
            <a:off x="6071616" y="1920240"/>
            <a:ext cx="2651760" cy="347472"/>
          </a:xfrm>
          <a:prstGeom prst="rect">
            <a:avLst/>
          </a:prstGeom>
          <a:solidFill>
            <a:srgbClr val="FF4444">
              <a:alpha val="20000"/>
            </a:srgbClr>
          </a:solidFill>
          <a:ln cap="flat" cmpd="sng" w="12700">
            <a:solidFill>
              <a:srgbClr val="FF4444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4"/>
          <p:cNvSpPr/>
          <p:nvPr/>
        </p:nvSpPr>
        <p:spPr>
          <a:xfrm>
            <a:off x="6071616" y="1920240"/>
            <a:ext cx="2651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FF4444"/>
                </a:solidFill>
                <a:latin typeface="Trebuchet MS"/>
                <a:ea typeface="Trebuchet MS"/>
                <a:cs typeface="Trebuchet MS"/>
                <a:sym typeface="Trebuchet MS"/>
              </a:rPr>
              <a:t>❌  NEVER 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4"/>
          <p:cNvSpPr/>
          <p:nvPr/>
        </p:nvSpPr>
        <p:spPr>
          <a:xfrm>
            <a:off x="6181344" y="2359152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✗  Hardcode secrets in nodes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4"/>
          <p:cNvSpPr/>
          <p:nvPr/>
        </p:nvSpPr>
        <p:spPr>
          <a:xfrm>
            <a:off x="6181344" y="2761488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✗  Store in workflow JSON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6181344" y="3163824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✗  Commit to git repo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6181344" y="3566160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✗  Log in execution history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/>
          <p:nvPr/>
        </p:nvSpPr>
        <p:spPr>
          <a:xfrm>
            <a:off x="6181344" y="3968496"/>
            <a:ext cx="2450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✗  Share via Telegram/Slack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6163056" y="4572000"/>
            <a:ext cx="2468880" cy="256032"/>
          </a:xfrm>
          <a:prstGeom prst="rect">
            <a:avLst/>
          </a:prstGeom>
          <a:solidFill>
            <a:srgbClr val="FF4444">
              <a:alpha val="12156"/>
            </a:srgbClr>
          </a:solidFill>
          <a:ln cap="flat" cmpd="sng" w="12700">
            <a:solidFill>
              <a:srgbClr val="FF4444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4"/>
          <p:cNvSpPr/>
          <p:nvPr/>
        </p:nvSpPr>
        <p:spPr>
          <a:xfrm>
            <a:off x="6181344" y="4572000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When you export a workflow JSON — credentials are NOT exported. Only credential IDs.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C18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5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5"/>
          <p:cNvSpPr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SECURITY — TOPIC 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TOTP as a Write Gate — Our Pattern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3" name="Google Shape;183;p5"/>
          <p:cNvCxnSpPr/>
          <p:nvPr/>
        </p:nvCxnSpPr>
        <p:spPr>
          <a:xfrm>
            <a:off x="457200" y="1143000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4" name="Google Shape;184;p5"/>
          <p:cNvSpPr/>
          <p:nvPr/>
        </p:nvSpPr>
        <p:spPr>
          <a:xfrm>
            <a:off x="274320" y="1298448"/>
            <a:ext cx="960120" cy="114300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274320" y="1298448"/>
            <a:ext cx="960120" cy="54864"/>
          </a:xfrm>
          <a:prstGeom prst="rect">
            <a:avLst/>
          </a:prstGeom>
          <a:solidFill>
            <a:srgbClr val="FF6B35"/>
          </a:solidFill>
          <a:ln cap="flat" cmpd="sng" w="127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274320" y="1371600"/>
            <a:ext cx="960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🔔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274320" y="1847088"/>
            <a:ext cx="960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Alert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fires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1243584" y="1783080"/>
            <a:ext cx="1097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6B35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1371600" y="1298448"/>
            <a:ext cx="960120" cy="114300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7B2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1371600" y="1298448"/>
            <a:ext cx="960120" cy="54864"/>
          </a:xfrm>
          <a:prstGeom prst="rect">
            <a:avLst/>
          </a:prstGeom>
          <a:solidFill>
            <a:srgbClr val="7B2FFF"/>
          </a:solidFill>
          <a:ln cap="flat" cmpd="sng" w="12700">
            <a:solidFill>
              <a:srgbClr val="7B2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1371600" y="1371600"/>
            <a:ext cx="960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🤖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1371600" y="1847088"/>
            <a:ext cx="960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2FFF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7B2FFF"/>
                </a:solidFill>
                <a:latin typeface="Trebuchet MS"/>
                <a:ea typeface="Trebuchet MS"/>
                <a:cs typeface="Trebuchet MS"/>
                <a:sym typeface="Trebuchet MS"/>
              </a:rPr>
              <a:t>AI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2FFF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7B2FFF"/>
                </a:solidFill>
                <a:latin typeface="Trebuchet MS"/>
                <a:ea typeface="Trebuchet MS"/>
                <a:cs typeface="Trebuchet MS"/>
                <a:sym typeface="Trebuchet MS"/>
              </a:rPr>
              <a:t>investigates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5"/>
          <p:cNvSpPr/>
          <p:nvPr/>
        </p:nvSpPr>
        <p:spPr>
          <a:xfrm>
            <a:off x="2340864" y="1783080"/>
            <a:ext cx="1097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2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B2FFF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2468880" y="1298448"/>
            <a:ext cx="960120" cy="114300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2468880" y="1298448"/>
            <a:ext cx="960120" cy="54864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5"/>
          <p:cNvSpPr/>
          <p:nvPr/>
        </p:nvSpPr>
        <p:spPr>
          <a:xfrm>
            <a:off x="2468880" y="1371600"/>
            <a:ext cx="960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🗄️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2468880" y="1847088"/>
            <a:ext cx="960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Incident key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created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3438144" y="1783080"/>
            <a:ext cx="1097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3566160" y="1298448"/>
            <a:ext cx="960120" cy="114300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26A5E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5"/>
          <p:cNvSpPr/>
          <p:nvPr/>
        </p:nvSpPr>
        <p:spPr>
          <a:xfrm>
            <a:off x="3566160" y="1298448"/>
            <a:ext cx="960120" cy="54864"/>
          </a:xfrm>
          <a:prstGeom prst="rect">
            <a:avLst/>
          </a:prstGeom>
          <a:solidFill>
            <a:srgbClr val="26A5E4"/>
          </a:solidFill>
          <a:ln cap="flat" cmpd="sng" w="12700">
            <a:solidFill>
              <a:srgbClr val="26A5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5"/>
          <p:cNvSpPr/>
          <p:nvPr/>
        </p:nvSpPr>
        <p:spPr>
          <a:xfrm>
            <a:off x="3566160" y="1371600"/>
            <a:ext cx="960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✉️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3566160" y="1847088"/>
            <a:ext cx="960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6A5E4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26A5E4"/>
                </a:solidFill>
                <a:latin typeface="Trebuchet MS"/>
                <a:ea typeface="Trebuchet MS"/>
                <a:cs typeface="Trebuchet MS"/>
                <a:sym typeface="Trebuchet MS"/>
              </a:rPr>
              <a:t>Telegram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6A5E4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26A5E4"/>
                </a:solidFill>
                <a:latin typeface="Trebuchet MS"/>
                <a:ea typeface="Trebuchet MS"/>
                <a:cs typeface="Trebuchet MS"/>
                <a:sym typeface="Trebuchet MS"/>
              </a:rPr>
              <a:t>message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4535424" y="1783080"/>
            <a:ext cx="1097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6A5E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26A5E4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4663440" y="1298448"/>
            <a:ext cx="960120" cy="114300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FFD7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5"/>
          <p:cNvSpPr/>
          <p:nvPr/>
        </p:nvSpPr>
        <p:spPr>
          <a:xfrm>
            <a:off x="4663440" y="1298448"/>
            <a:ext cx="960120" cy="54864"/>
          </a:xfrm>
          <a:prstGeom prst="rect">
            <a:avLst/>
          </a:prstGeom>
          <a:solidFill>
            <a:srgbClr val="FFD700"/>
          </a:solidFill>
          <a:ln cap="flat" cmpd="sng" w="12700">
            <a:solidFill>
              <a:srgbClr val="FFD7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5"/>
          <p:cNvSpPr/>
          <p:nvPr/>
        </p:nvSpPr>
        <p:spPr>
          <a:xfrm>
            <a:off x="4663440" y="1371600"/>
            <a:ext cx="960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👤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4663440" y="1847088"/>
            <a:ext cx="960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FFD700"/>
                </a:solidFill>
                <a:latin typeface="Trebuchet MS"/>
                <a:ea typeface="Trebuchet MS"/>
                <a:cs typeface="Trebuchet MS"/>
                <a:sym typeface="Trebuchet MS"/>
              </a:rPr>
              <a:t>Engineer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FFD700"/>
                </a:solidFill>
                <a:latin typeface="Trebuchet MS"/>
                <a:ea typeface="Trebuchet MS"/>
                <a:cs typeface="Trebuchet MS"/>
                <a:sym typeface="Trebuchet MS"/>
              </a:rPr>
              <a:t>reviews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5632704" y="1783080"/>
            <a:ext cx="1097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D700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5760720" y="1298448"/>
            <a:ext cx="960120" cy="114300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5"/>
          <p:cNvSpPr/>
          <p:nvPr/>
        </p:nvSpPr>
        <p:spPr>
          <a:xfrm>
            <a:off x="5760720" y="1298448"/>
            <a:ext cx="960120" cy="54864"/>
          </a:xfrm>
          <a:prstGeom prst="rect">
            <a:avLst/>
          </a:prstGeom>
          <a:solidFill>
            <a:srgbClr val="00C896"/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5"/>
          <p:cNvSpPr/>
          <p:nvPr/>
        </p:nvSpPr>
        <p:spPr>
          <a:xfrm>
            <a:off x="5760720" y="1371600"/>
            <a:ext cx="960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🔐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5"/>
          <p:cNvSpPr/>
          <p:nvPr/>
        </p:nvSpPr>
        <p:spPr>
          <a:xfrm>
            <a:off x="5760720" y="1847088"/>
            <a:ext cx="960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00C896"/>
                </a:solidFill>
                <a:latin typeface="Trebuchet MS"/>
                <a:ea typeface="Trebuchet MS"/>
                <a:cs typeface="Trebuchet MS"/>
                <a:sym typeface="Trebuchet MS"/>
              </a:rPr>
              <a:t>TOTP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00C896"/>
                </a:solidFill>
                <a:latin typeface="Trebuchet MS"/>
                <a:ea typeface="Trebuchet MS"/>
                <a:cs typeface="Trebuchet MS"/>
                <a:sym typeface="Trebuchet MS"/>
              </a:rPr>
              <a:t>code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5"/>
          <p:cNvSpPr/>
          <p:nvPr/>
        </p:nvSpPr>
        <p:spPr>
          <a:xfrm>
            <a:off x="6729984" y="1783080"/>
            <a:ext cx="1097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/>
          <p:nvPr/>
        </p:nvSpPr>
        <p:spPr>
          <a:xfrm>
            <a:off x="6858000" y="1298448"/>
            <a:ext cx="960120" cy="114300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FF444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5"/>
          <p:cNvSpPr/>
          <p:nvPr/>
        </p:nvSpPr>
        <p:spPr>
          <a:xfrm>
            <a:off x="6858000" y="1298448"/>
            <a:ext cx="960120" cy="54864"/>
          </a:xfrm>
          <a:prstGeom prst="rect">
            <a:avLst/>
          </a:prstGeom>
          <a:solidFill>
            <a:srgbClr val="FF4444"/>
          </a:solidFill>
          <a:ln cap="flat" cmpd="sng" w="12700">
            <a:solidFill>
              <a:srgbClr val="F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5"/>
          <p:cNvSpPr/>
          <p:nvPr/>
        </p:nvSpPr>
        <p:spPr>
          <a:xfrm>
            <a:off x="6858000" y="1371600"/>
            <a:ext cx="960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⚡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5"/>
          <p:cNvSpPr/>
          <p:nvPr/>
        </p:nvSpPr>
        <p:spPr>
          <a:xfrm>
            <a:off x="6858000" y="1847088"/>
            <a:ext cx="960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FF4444"/>
                </a:solidFill>
                <a:latin typeface="Trebuchet MS"/>
                <a:ea typeface="Trebuchet MS"/>
                <a:cs typeface="Trebuchet MS"/>
                <a:sym typeface="Trebuchet MS"/>
              </a:rPr>
              <a:t>MCP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FF4444"/>
                </a:solidFill>
                <a:latin typeface="Trebuchet MS"/>
                <a:ea typeface="Trebuchet MS"/>
                <a:cs typeface="Trebuchet MS"/>
                <a:sym typeface="Trebuchet MS"/>
              </a:rPr>
              <a:t>executes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5"/>
          <p:cNvSpPr/>
          <p:nvPr/>
        </p:nvSpPr>
        <p:spPr>
          <a:xfrm>
            <a:off x="7827264" y="1783080"/>
            <a:ext cx="1097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5"/>
          <p:cNvSpPr/>
          <p:nvPr/>
        </p:nvSpPr>
        <p:spPr>
          <a:xfrm>
            <a:off x="7955280" y="1298448"/>
            <a:ext cx="960120" cy="114300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8892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5"/>
          <p:cNvSpPr/>
          <p:nvPr/>
        </p:nvSpPr>
        <p:spPr>
          <a:xfrm>
            <a:off x="7955280" y="1298448"/>
            <a:ext cx="960120" cy="54864"/>
          </a:xfrm>
          <a:prstGeom prst="rect">
            <a:avLst/>
          </a:prstGeom>
          <a:solidFill>
            <a:srgbClr val="8892A4"/>
          </a:solidFill>
          <a:ln cap="flat" cmpd="sng" w="12700">
            <a:solidFill>
              <a:srgbClr val="8892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5"/>
          <p:cNvSpPr/>
          <p:nvPr/>
        </p:nvSpPr>
        <p:spPr>
          <a:xfrm>
            <a:off x="7955280" y="1371600"/>
            <a:ext cx="960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📋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5"/>
          <p:cNvSpPr/>
          <p:nvPr/>
        </p:nvSpPr>
        <p:spPr>
          <a:xfrm>
            <a:off x="7955280" y="1847088"/>
            <a:ext cx="960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8892A4"/>
                </a:solidFill>
                <a:latin typeface="Trebuchet MS"/>
                <a:ea typeface="Trebuchet MS"/>
                <a:cs typeface="Trebuchet MS"/>
                <a:sym typeface="Trebuchet MS"/>
              </a:rPr>
              <a:t>Audit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00"/>
              <a:buFont typeface="Trebuchet MS"/>
              <a:buNone/>
            </a:pPr>
            <a:r>
              <a:rPr b="1" i="0" lang="en-US" sz="800" u="none" cap="none" strike="noStrike">
                <a:solidFill>
                  <a:srgbClr val="8892A4"/>
                </a:solidFill>
                <a:latin typeface="Trebuchet MS"/>
                <a:ea typeface="Trebuchet MS"/>
                <a:cs typeface="Trebuchet MS"/>
                <a:sym typeface="Trebuchet MS"/>
              </a:rPr>
              <a:t>log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5"/>
          <p:cNvSpPr/>
          <p:nvPr/>
        </p:nvSpPr>
        <p:spPr>
          <a:xfrm>
            <a:off x="274320" y="2633472"/>
            <a:ext cx="2651760" cy="1024128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5"/>
          <p:cNvSpPr/>
          <p:nvPr/>
        </p:nvSpPr>
        <p:spPr>
          <a:xfrm>
            <a:off x="347472" y="2688336"/>
            <a:ext cx="457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⏰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868680" y="2688336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00C896"/>
                </a:solidFill>
                <a:latin typeface="Trebuchet MS"/>
                <a:ea typeface="Trebuchet MS"/>
                <a:cs typeface="Trebuchet MS"/>
                <a:sym typeface="Trebuchet MS"/>
              </a:rPr>
              <a:t>Time-bound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5"/>
          <p:cNvSpPr/>
          <p:nvPr/>
        </p:nvSpPr>
        <p:spPr>
          <a:xfrm>
            <a:off x="868680" y="2944368"/>
            <a:ext cx="1965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TOTP codes expire in 30 seconds — replay attacks useless. Intercepting the Telegram message gives attackers nothing.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5"/>
          <p:cNvSpPr/>
          <p:nvPr/>
        </p:nvSpPr>
        <p:spPr>
          <a:xfrm>
            <a:off x="3172968" y="2633472"/>
            <a:ext cx="2651760" cy="1024128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5"/>
          <p:cNvSpPr/>
          <p:nvPr/>
        </p:nvSpPr>
        <p:spPr>
          <a:xfrm>
            <a:off x="3246120" y="2688336"/>
            <a:ext cx="457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🔑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5"/>
          <p:cNvSpPr/>
          <p:nvPr/>
        </p:nvSpPr>
        <p:spPr>
          <a:xfrm>
            <a:off x="3767328" y="2688336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Incident-scoped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5"/>
          <p:cNvSpPr/>
          <p:nvPr/>
        </p:nvSpPr>
        <p:spPr>
          <a:xfrm>
            <a:off x="3767328" y="2944368"/>
            <a:ext cx="1965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Each approval code is tied to a specific 4-char incident key — approving #k42a cannot accidentally execute #bgy4.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5"/>
          <p:cNvSpPr/>
          <p:nvPr/>
        </p:nvSpPr>
        <p:spPr>
          <a:xfrm>
            <a:off x="6071616" y="2633472"/>
            <a:ext cx="2651760" cy="1024128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FFD7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5"/>
          <p:cNvSpPr/>
          <p:nvPr/>
        </p:nvSpPr>
        <p:spPr>
          <a:xfrm>
            <a:off x="6144768" y="2688336"/>
            <a:ext cx="457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👤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5"/>
          <p:cNvSpPr/>
          <p:nvPr/>
        </p:nvSpPr>
        <p:spPr>
          <a:xfrm>
            <a:off x="6665976" y="2688336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FFD700"/>
                </a:solidFill>
                <a:latin typeface="Trebuchet MS"/>
                <a:ea typeface="Trebuchet MS"/>
                <a:cs typeface="Trebuchet MS"/>
                <a:sym typeface="Trebuchet MS"/>
              </a:rPr>
              <a:t>Non-repudiable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5"/>
          <p:cNvSpPr/>
          <p:nvPr/>
        </p:nvSpPr>
        <p:spPr>
          <a:xfrm>
            <a:off x="6665976" y="2944368"/>
            <a:ext cx="1965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approvedBy + timestamp stored in SQLite. Full audit trail: who approved what, when, from which incident.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5"/>
          <p:cNvSpPr/>
          <p:nvPr/>
        </p:nvSpPr>
        <p:spPr>
          <a:xfrm>
            <a:off x="274320" y="3803904"/>
            <a:ext cx="2651760" cy="1024128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5"/>
          <p:cNvSpPr/>
          <p:nvPr/>
        </p:nvSpPr>
        <p:spPr>
          <a:xfrm>
            <a:off x="347472" y="3858768"/>
            <a:ext cx="457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🚫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5"/>
          <p:cNvSpPr/>
          <p:nvPr/>
        </p:nvSpPr>
        <p:spPr>
          <a:xfrm>
            <a:off x="868680" y="3858768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Idempotent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5"/>
          <p:cNvSpPr/>
          <p:nvPr/>
        </p:nvSpPr>
        <p:spPr>
          <a:xfrm>
            <a:off x="868680" y="4114800"/>
            <a:ext cx="1965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Once an incident is marked resolved, the system blocks re-execution. Same command cannot be approved twice.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5"/>
          <p:cNvSpPr/>
          <p:nvPr/>
        </p:nvSpPr>
        <p:spPr>
          <a:xfrm>
            <a:off x="3172968" y="3803904"/>
            <a:ext cx="2651760" cy="1024128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7B2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5"/>
          <p:cNvSpPr/>
          <p:nvPr/>
        </p:nvSpPr>
        <p:spPr>
          <a:xfrm>
            <a:off x="3246120" y="3858768"/>
            <a:ext cx="457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🔒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5"/>
          <p:cNvSpPr/>
          <p:nvPr/>
        </p:nvSpPr>
        <p:spPr>
          <a:xfrm>
            <a:off x="3767328" y="3858768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2FFF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7B2FFF"/>
                </a:solidFill>
                <a:latin typeface="Trebuchet MS"/>
                <a:ea typeface="Trebuchet MS"/>
                <a:cs typeface="Trebuchet MS"/>
                <a:sym typeface="Trebuchet MS"/>
              </a:rPr>
              <a:t>Least privilege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5"/>
          <p:cNvSpPr/>
          <p:nvPr/>
        </p:nvSpPr>
        <p:spPr>
          <a:xfrm>
            <a:off x="3767328" y="4114800"/>
            <a:ext cx="1965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kubectl_read is always free. kubectl_write requires TOTP. The gate only applies to destructive operations.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5"/>
          <p:cNvSpPr/>
          <p:nvPr/>
        </p:nvSpPr>
        <p:spPr>
          <a:xfrm>
            <a:off x="6071616" y="3803904"/>
            <a:ext cx="2651760" cy="1024128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8892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5"/>
          <p:cNvSpPr/>
          <p:nvPr/>
        </p:nvSpPr>
        <p:spPr>
          <a:xfrm>
            <a:off x="6144768" y="3858768"/>
            <a:ext cx="457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5"/>
          <p:cNvSpPr/>
          <p:nvPr/>
        </p:nvSpPr>
        <p:spPr>
          <a:xfrm>
            <a:off x="6665976" y="3858768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8892A4"/>
                </a:solidFill>
                <a:latin typeface="Trebuchet MS"/>
                <a:ea typeface="Trebuchet MS"/>
                <a:cs typeface="Trebuchet MS"/>
                <a:sym typeface="Trebuchet MS"/>
              </a:rPr>
              <a:t>Auditable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"/>
          <p:cNvSpPr/>
          <p:nvPr/>
        </p:nvSpPr>
        <p:spPr>
          <a:xfrm>
            <a:off x="6665976" y="4114800"/>
            <a:ext cx="1965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Every execution visible in dashboard incident audit panel. CLEAR for test cleanup, persistent for production review.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C18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6"/>
          <p:cNvSpPr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SECURITY — TOPIC 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6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Network Security &amp; Isolation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5" name="Google Shape;255;p6"/>
          <p:cNvCxnSpPr/>
          <p:nvPr/>
        </p:nvCxnSpPr>
        <p:spPr>
          <a:xfrm>
            <a:off x="457200" y="1143000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6"/>
          <p:cNvSpPr/>
          <p:nvPr/>
        </p:nvSpPr>
        <p:spPr>
          <a:xfrm>
            <a:off x="274320" y="1298448"/>
            <a:ext cx="4114800" cy="64008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FF444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6"/>
          <p:cNvSpPr/>
          <p:nvPr/>
        </p:nvSpPr>
        <p:spPr>
          <a:xfrm>
            <a:off x="274320" y="1298448"/>
            <a:ext cx="4114800" cy="54864"/>
          </a:xfrm>
          <a:prstGeom prst="rect">
            <a:avLst/>
          </a:prstGeom>
          <a:solidFill>
            <a:srgbClr val="FF4444"/>
          </a:solidFill>
          <a:ln cap="flat" cmpd="sng" w="12700">
            <a:solidFill>
              <a:srgbClr val="F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6"/>
          <p:cNvSpPr/>
          <p:nvPr/>
        </p:nvSpPr>
        <p:spPr>
          <a:xfrm>
            <a:off x="365760" y="1353312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FF4444"/>
                </a:solidFill>
                <a:latin typeface="Trebuchet MS"/>
                <a:ea typeface="Trebuchet MS"/>
                <a:cs typeface="Trebuchet MS"/>
                <a:sym typeface="Trebuchet MS"/>
              </a:rPr>
              <a:t>INTERNET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6"/>
          <p:cNvSpPr/>
          <p:nvPr/>
        </p:nvSpPr>
        <p:spPr>
          <a:xfrm>
            <a:off x="365760" y="1627632"/>
            <a:ext cx="3931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Attacker   •   Telegram servers   •   Alertmanager (via ngrok HTTPS)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6"/>
          <p:cNvSpPr/>
          <p:nvPr/>
        </p:nvSpPr>
        <p:spPr>
          <a:xfrm>
            <a:off x="274320" y="2029968"/>
            <a:ext cx="4114800" cy="64008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6"/>
          <p:cNvSpPr/>
          <p:nvPr/>
        </p:nvSpPr>
        <p:spPr>
          <a:xfrm>
            <a:off x="274320" y="2029968"/>
            <a:ext cx="4114800" cy="54864"/>
          </a:xfrm>
          <a:prstGeom prst="rect">
            <a:avLst/>
          </a:prstGeom>
          <a:solidFill>
            <a:srgbClr val="FF6B35"/>
          </a:solidFill>
          <a:ln cap="flat" cmpd="sng" w="127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6"/>
          <p:cNvSpPr/>
          <p:nvPr/>
        </p:nvSpPr>
        <p:spPr>
          <a:xfrm>
            <a:off x="365760" y="2084832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ngrok HTTPS TUNNEL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6"/>
          <p:cNvSpPr/>
          <p:nvPr/>
        </p:nvSpPr>
        <p:spPr>
          <a:xfrm>
            <a:off x="365760" y="2359152"/>
            <a:ext cx="3931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TLS termination   •   Static domain   •   Port 443 only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6"/>
          <p:cNvSpPr/>
          <p:nvPr/>
        </p:nvSpPr>
        <p:spPr>
          <a:xfrm>
            <a:off x="274320" y="2761488"/>
            <a:ext cx="4114800" cy="64008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6"/>
          <p:cNvSpPr/>
          <p:nvPr/>
        </p:nvSpPr>
        <p:spPr>
          <a:xfrm>
            <a:off x="274320" y="2761488"/>
            <a:ext cx="4114800" cy="54864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6"/>
          <p:cNvSpPr/>
          <p:nvPr/>
        </p:nvSpPr>
        <p:spPr>
          <a:xfrm>
            <a:off x="365760" y="2816352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EC2 INSTANCE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6"/>
          <p:cNvSpPr/>
          <p:nvPr/>
        </p:nvSpPr>
        <p:spPr>
          <a:xfrm>
            <a:off x="365760" y="3090672"/>
            <a:ext cx="3931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n8n :5678 (Docker)   •   MCP :8000 (Docker, internal only)   •   Port 5678 should be reverse-proxied in prod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6"/>
          <p:cNvSpPr/>
          <p:nvPr/>
        </p:nvSpPr>
        <p:spPr>
          <a:xfrm>
            <a:off x="274320" y="3493008"/>
            <a:ext cx="4114800" cy="640080"/>
          </a:xfrm>
          <a:prstGeom prst="rect">
            <a:avLst/>
          </a:prstGeom>
          <a:solidFill>
            <a:srgbClr val="0F1729"/>
          </a:solidFill>
          <a:ln cap="flat" cmpd="sng" w="19050">
            <a:solidFill>
              <a:srgbClr val="7B2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6"/>
          <p:cNvSpPr/>
          <p:nvPr/>
        </p:nvSpPr>
        <p:spPr>
          <a:xfrm>
            <a:off x="274320" y="3493008"/>
            <a:ext cx="4114800" cy="54864"/>
          </a:xfrm>
          <a:prstGeom prst="rect">
            <a:avLst/>
          </a:prstGeom>
          <a:solidFill>
            <a:srgbClr val="7B2FFF"/>
          </a:solidFill>
          <a:ln cap="flat" cmpd="sng" w="12700">
            <a:solidFill>
              <a:srgbClr val="7B2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6"/>
          <p:cNvSpPr/>
          <p:nvPr/>
        </p:nvSpPr>
        <p:spPr>
          <a:xfrm>
            <a:off x="365760" y="3547872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2FFF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7B2FFF"/>
                </a:solidFill>
                <a:latin typeface="Trebuchet MS"/>
                <a:ea typeface="Trebuchet MS"/>
                <a:cs typeface="Trebuchet MS"/>
                <a:sym typeface="Trebuchet MS"/>
              </a:rPr>
              <a:t>KUBERNETES CLUSTER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6"/>
          <p:cNvSpPr/>
          <p:nvPr/>
        </p:nvSpPr>
        <p:spPr>
          <a:xfrm>
            <a:off x="365760" y="3822192"/>
            <a:ext cx="3931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Dashboard LB (port 80, public)   •   Prometheus/Grafana/Alertmanager LBs   •   target-app NodePort (workshop only)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6"/>
          <p:cNvSpPr/>
          <p:nvPr/>
        </p:nvSpPr>
        <p:spPr>
          <a:xfrm>
            <a:off x="4663440" y="1298448"/>
            <a:ext cx="4206240" cy="283464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6"/>
          <p:cNvSpPr/>
          <p:nvPr/>
        </p:nvSpPr>
        <p:spPr>
          <a:xfrm>
            <a:off x="4663440" y="1298448"/>
            <a:ext cx="4206240" cy="384048"/>
          </a:xfrm>
          <a:prstGeom prst="rect">
            <a:avLst/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6"/>
          <p:cNvSpPr/>
          <p:nvPr/>
        </p:nvSpPr>
        <p:spPr>
          <a:xfrm>
            <a:off x="4663440" y="1298448"/>
            <a:ext cx="4206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🛡️  PROD HARDENING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6"/>
          <p:cNvSpPr/>
          <p:nvPr/>
        </p:nvSpPr>
        <p:spPr>
          <a:xfrm>
            <a:off x="4754880" y="1810512"/>
            <a:ext cx="3474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🔀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6"/>
          <p:cNvSpPr/>
          <p:nvPr/>
        </p:nvSpPr>
        <p:spPr>
          <a:xfrm>
            <a:off x="5166360" y="1828800"/>
            <a:ext cx="12801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Reverse proxy n8n: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6"/>
          <p:cNvSpPr/>
          <p:nvPr/>
        </p:nvSpPr>
        <p:spPr>
          <a:xfrm>
            <a:off x="5166360" y="201168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nginx/Traefik in front of :5678. Add SSL, rate limiting, IP allowlist.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6"/>
          <p:cNvSpPr/>
          <p:nvPr/>
        </p:nvSpPr>
        <p:spPr>
          <a:xfrm>
            <a:off x="4754880" y="2267712"/>
            <a:ext cx="3474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🔒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6"/>
          <p:cNvSpPr/>
          <p:nvPr/>
        </p:nvSpPr>
        <p:spPr>
          <a:xfrm>
            <a:off x="5166360" y="2286000"/>
            <a:ext cx="12801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MCP not public: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6"/>
          <p:cNvSpPr/>
          <p:nvPr/>
        </p:nvSpPr>
        <p:spPr>
          <a:xfrm>
            <a:off x="5166360" y="246888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mcp-server:8000 only reachable from Docker network. Never expose to internet.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6"/>
          <p:cNvSpPr/>
          <p:nvPr/>
        </p:nvSpPr>
        <p:spPr>
          <a:xfrm>
            <a:off x="4754880" y="2724912"/>
            <a:ext cx="3474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📋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6"/>
          <p:cNvSpPr/>
          <p:nvPr/>
        </p:nvSpPr>
        <p:spPr>
          <a:xfrm>
            <a:off x="5166360" y="2743200"/>
            <a:ext cx="12801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K8s RBAC: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6"/>
          <p:cNvSpPr/>
          <p:nvPr/>
        </p:nvSpPr>
        <p:spPr>
          <a:xfrm>
            <a:off x="5166360" y="292608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kubeconfig scoped to workshop namespace. No cluster-admin. Least privilege.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6"/>
          <p:cNvSpPr/>
          <p:nvPr/>
        </p:nvSpPr>
        <p:spPr>
          <a:xfrm>
            <a:off x="4754880" y="3182112"/>
            <a:ext cx="3474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🔑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6"/>
          <p:cNvSpPr/>
          <p:nvPr/>
        </p:nvSpPr>
        <p:spPr>
          <a:xfrm>
            <a:off x="5166360" y="3200400"/>
            <a:ext cx="12801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Rotate secrets: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6"/>
          <p:cNvSpPr/>
          <p:nvPr/>
        </p:nvSpPr>
        <p:spPr>
          <a:xfrm>
            <a:off x="5166360" y="338328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TOTP_SECRET, WRITE_APPROVAL_TOKEN, N8N_KEY rotated each session.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6"/>
          <p:cNvSpPr/>
          <p:nvPr/>
        </p:nvSpPr>
        <p:spPr>
          <a:xfrm>
            <a:off x="4754880" y="3639312"/>
            <a:ext cx="3474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6"/>
          <p:cNvSpPr/>
          <p:nvPr/>
        </p:nvSpPr>
        <p:spPr>
          <a:xfrm>
            <a:off x="5166360" y="3657600"/>
            <a:ext cx="12801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Trebuchet MS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Execution logging: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6"/>
          <p:cNvSpPr/>
          <p:nvPr/>
        </p:nvSpPr>
        <p:spPr>
          <a:xfrm>
            <a:off x="5166360" y="384048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n8n saves all executions. Review for unexpected workflow triggers.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6"/>
          <p:cNvSpPr/>
          <p:nvPr/>
        </p:nvSpPr>
        <p:spPr>
          <a:xfrm>
            <a:off x="4663440" y="4251960"/>
            <a:ext cx="4206240" cy="68580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6"/>
          <p:cNvSpPr/>
          <p:nvPr/>
        </p:nvSpPr>
        <p:spPr>
          <a:xfrm>
            <a:off x="4800600" y="4279392"/>
            <a:ext cx="3931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00C896"/>
                </a:solidFill>
                <a:latin typeface="Trebuchet MS"/>
                <a:ea typeface="Trebuchet MS"/>
                <a:cs typeface="Trebuchet MS"/>
                <a:sym typeface="Trebuchet MS"/>
              </a:rPr>
              <a:t>🐳  Docker Network Isolation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6"/>
          <p:cNvSpPr/>
          <p:nvPr/>
        </p:nvSpPr>
        <p:spPr>
          <a:xfrm>
            <a:off x="4800600" y="4480560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n8n → mcp-server via internal Docker DNS (never leaves the host)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External traffic cannot reach mcp-server:8000 directly — only n8n can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6"/>
          <p:cNvSpPr/>
          <p:nvPr/>
        </p:nvSpPr>
        <p:spPr>
          <a:xfrm>
            <a:off x="274320" y="4251960"/>
            <a:ext cx="4206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6B35"/>
                </a:solidFill>
                <a:latin typeface="Calibri"/>
                <a:ea typeface="Calibri"/>
                <a:cs typeface="Calibri"/>
                <a:sym typeface="Calibri"/>
              </a:rPr>
              <a:t>⚠️  In this workshop EC2 port 8000 IS open for demo purposes — close it in production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C18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7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4444"/>
          </a:solidFill>
          <a:ln cap="flat" cmpd="sng" w="12700">
            <a:solidFill>
              <a:srgbClr val="F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7"/>
          <p:cNvSpPr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SECURITY — TOPIC 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7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Security Anti-Patterns to Avoid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2" name="Google Shape;302;p7"/>
          <p:cNvCxnSpPr/>
          <p:nvPr/>
        </p:nvCxnSpPr>
        <p:spPr>
          <a:xfrm>
            <a:off x="457200" y="1143000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3" name="Google Shape;303;p7"/>
          <p:cNvSpPr/>
          <p:nvPr/>
        </p:nvSpPr>
        <p:spPr>
          <a:xfrm>
            <a:off x="274320" y="1298448"/>
            <a:ext cx="4160520" cy="114300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FF444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7"/>
          <p:cNvSpPr/>
          <p:nvPr/>
        </p:nvSpPr>
        <p:spPr>
          <a:xfrm>
            <a:off x="274320" y="1298448"/>
            <a:ext cx="384048" cy="1143000"/>
          </a:xfrm>
          <a:prstGeom prst="rect">
            <a:avLst/>
          </a:prstGeom>
          <a:solidFill>
            <a:srgbClr val="FF4444">
              <a:alpha val="21960"/>
            </a:srgbClr>
          </a:solidFill>
          <a:ln cap="flat" cmpd="sng" w="12700">
            <a:solidFill>
              <a:srgbClr val="FF4444">
                <a:alpha val="3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7"/>
          <p:cNvSpPr/>
          <p:nvPr/>
        </p:nvSpPr>
        <p:spPr>
          <a:xfrm>
            <a:off x="274320" y="1298448"/>
            <a:ext cx="384048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🔄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7"/>
          <p:cNvSpPr/>
          <p:nvPr/>
        </p:nvSpPr>
        <p:spPr>
          <a:xfrm>
            <a:off x="731520" y="1344168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FF4444"/>
                </a:solidFill>
                <a:latin typeface="Trebuchet MS"/>
                <a:ea typeface="Trebuchet MS"/>
                <a:cs typeface="Trebuchet MS"/>
                <a:sym typeface="Trebuchet MS"/>
              </a:rPr>
              <a:t>01 — Auto-heal without approval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7"/>
          <p:cNvSpPr/>
          <p:nvPr/>
        </p:nvSpPr>
        <p:spPr>
          <a:xfrm>
            <a:off x="731520" y="1609344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❌ Alert fires → n8n restarts pod → alert fires again → infinite loop → 3AM page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7"/>
          <p:cNvSpPr/>
          <p:nvPr/>
        </p:nvSpPr>
        <p:spPr>
          <a:xfrm>
            <a:off x="731520" y="1993392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✅ Always gate write operations behind human approval. Use S4's TOTP pattern.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7"/>
          <p:cNvSpPr/>
          <p:nvPr/>
        </p:nvSpPr>
        <p:spPr>
          <a:xfrm>
            <a:off x="4709160" y="1298448"/>
            <a:ext cx="4160520" cy="114300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7"/>
          <p:cNvSpPr/>
          <p:nvPr/>
        </p:nvSpPr>
        <p:spPr>
          <a:xfrm>
            <a:off x="4709160" y="1298448"/>
            <a:ext cx="384048" cy="1143000"/>
          </a:xfrm>
          <a:prstGeom prst="rect">
            <a:avLst/>
          </a:prstGeom>
          <a:solidFill>
            <a:srgbClr val="FF6B35">
              <a:alpha val="21960"/>
            </a:srgbClr>
          </a:solidFill>
          <a:ln cap="flat" cmpd="sng" w="12700">
            <a:solidFill>
              <a:srgbClr val="FF6B35">
                <a:alpha val="3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7"/>
          <p:cNvSpPr/>
          <p:nvPr/>
        </p:nvSpPr>
        <p:spPr>
          <a:xfrm>
            <a:off x="4709160" y="1298448"/>
            <a:ext cx="384048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📄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7"/>
          <p:cNvSpPr/>
          <p:nvPr/>
        </p:nvSpPr>
        <p:spPr>
          <a:xfrm>
            <a:off x="5166360" y="1344168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FF6B35"/>
                </a:solidFill>
                <a:latin typeface="Trebuchet MS"/>
                <a:ea typeface="Trebuchet MS"/>
                <a:cs typeface="Trebuchet MS"/>
                <a:sym typeface="Trebuchet MS"/>
              </a:rPr>
              <a:t>02 — Secrets in workflow JSON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7"/>
          <p:cNvSpPr/>
          <p:nvPr/>
        </p:nvSpPr>
        <p:spPr>
          <a:xfrm>
            <a:off x="5166360" y="1609344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❌ Hardcode API keys, tokens, IPs in node parameters → exported with workflow → committed to git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7"/>
          <p:cNvSpPr/>
          <p:nvPr/>
        </p:nvSpPr>
        <p:spPr>
          <a:xfrm>
            <a:off x="5166360" y="1993392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✅ Store in n8n credentials or .env. They are excluded from workflow exports.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7"/>
          <p:cNvSpPr/>
          <p:nvPr/>
        </p:nvSpPr>
        <p:spPr>
          <a:xfrm>
            <a:off x="274320" y="2560320"/>
            <a:ext cx="4160520" cy="114300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FFD7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7"/>
          <p:cNvSpPr/>
          <p:nvPr/>
        </p:nvSpPr>
        <p:spPr>
          <a:xfrm>
            <a:off x="274320" y="2560320"/>
            <a:ext cx="384048" cy="1143000"/>
          </a:xfrm>
          <a:prstGeom prst="rect">
            <a:avLst/>
          </a:prstGeom>
          <a:solidFill>
            <a:srgbClr val="FFD700">
              <a:alpha val="21960"/>
            </a:srgbClr>
          </a:solidFill>
          <a:ln cap="flat" cmpd="sng" w="12700">
            <a:solidFill>
              <a:srgbClr val="FFD700">
                <a:alpha val="3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7"/>
          <p:cNvSpPr/>
          <p:nvPr/>
        </p:nvSpPr>
        <p:spPr>
          <a:xfrm>
            <a:off x="274320" y="2560320"/>
            <a:ext cx="384048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📡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7"/>
          <p:cNvSpPr/>
          <p:nvPr/>
        </p:nvSpPr>
        <p:spPr>
          <a:xfrm>
            <a:off x="731520" y="2606040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FFD700"/>
                </a:solidFill>
                <a:latin typeface="Trebuchet MS"/>
                <a:ea typeface="Trebuchet MS"/>
                <a:cs typeface="Trebuchet MS"/>
                <a:sym typeface="Trebuchet MS"/>
              </a:rPr>
              <a:t>03 — Unauthenticated public webhooks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7"/>
          <p:cNvSpPr/>
          <p:nvPr/>
        </p:nvSpPr>
        <p:spPr>
          <a:xfrm>
            <a:off x="731520" y="2871216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❌ Plain http:// webhook URL with no auth header → anyone can trigger workflow from internet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7"/>
          <p:cNvSpPr/>
          <p:nvPr/>
        </p:nvSpPr>
        <p:spPr>
          <a:xfrm>
            <a:off x="731520" y="3255264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✅ Add header auth or JWT on every webhook. Use HTTPS via ngrok always.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7"/>
          <p:cNvSpPr/>
          <p:nvPr/>
        </p:nvSpPr>
        <p:spPr>
          <a:xfrm>
            <a:off x="4709160" y="2560320"/>
            <a:ext cx="4160520" cy="114300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7B2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7"/>
          <p:cNvSpPr/>
          <p:nvPr/>
        </p:nvSpPr>
        <p:spPr>
          <a:xfrm>
            <a:off x="4709160" y="2560320"/>
            <a:ext cx="384048" cy="1143000"/>
          </a:xfrm>
          <a:prstGeom prst="rect">
            <a:avLst/>
          </a:prstGeom>
          <a:solidFill>
            <a:srgbClr val="7B2FFF">
              <a:alpha val="21960"/>
            </a:srgbClr>
          </a:solidFill>
          <a:ln cap="flat" cmpd="sng" w="12700">
            <a:solidFill>
              <a:srgbClr val="7B2FFF">
                <a:alpha val="3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7"/>
          <p:cNvSpPr/>
          <p:nvPr/>
        </p:nvSpPr>
        <p:spPr>
          <a:xfrm>
            <a:off x="4709160" y="2560320"/>
            <a:ext cx="384048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📋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7"/>
          <p:cNvSpPr/>
          <p:nvPr/>
        </p:nvSpPr>
        <p:spPr>
          <a:xfrm>
            <a:off x="5166360" y="2606040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2FFF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7B2FFF"/>
                </a:solidFill>
                <a:latin typeface="Trebuchet MS"/>
                <a:ea typeface="Trebuchet MS"/>
                <a:cs typeface="Trebuchet MS"/>
                <a:sym typeface="Trebuchet MS"/>
              </a:rPr>
              <a:t>04 — Logging sensitive data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7"/>
          <p:cNvSpPr/>
          <p:nvPr/>
        </p:nvSpPr>
        <p:spPr>
          <a:xfrm>
            <a:off x="5166360" y="2871216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❌ n8n saves all execution data including node inputs/outputs — tokens visible in execution history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7"/>
          <p:cNvSpPr/>
          <p:nvPr/>
        </p:nvSpPr>
        <p:spPr>
          <a:xfrm>
            <a:off x="5166360" y="3255264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✅ Set saveDataSuccessExecution/saveDataErrorExecution carefully. Mask sensitive fields.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7"/>
          <p:cNvSpPr/>
          <p:nvPr/>
        </p:nvSpPr>
        <p:spPr>
          <a:xfrm>
            <a:off x="274320" y="3822192"/>
            <a:ext cx="4160520" cy="114300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7"/>
          <p:cNvSpPr/>
          <p:nvPr/>
        </p:nvSpPr>
        <p:spPr>
          <a:xfrm>
            <a:off x="274320" y="3822192"/>
            <a:ext cx="384048" cy="1143000"/>
          </a:xfrm>
          <a:prstGeom prst="rect">
            <a:avLst/>
          </a:prstGeom>
          <a:solidFill>
            <a:srgbClr val="00D4FF">
              <a:alpha val="21960"/>
            </a:srgbClr>
          </a:solidFill>
          <a:ln cap="flat" cmpd="sng" w="12700">
            <a:solidFill>
              <a:srgbClr val="00D4FF">
                <a:alpha val="3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7"/>
          <p:cNvSpPr/>
          <p:nvPr/>
        </p:nvSpPr>
        <p:spPr>
          <a:xfrm>
            <a:off x="274320" y="3822192"/>
            <a:ext cx="384048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♾️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7"/>
          <p:cNvSpPr/>
          <p:nvPr/>
        </p:nvSpPr>
        <p:spPr>
          <a:xfrm>
            <a:off x="731520" y="386791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Trebuchet MS"/>
                <a:ea typeface="Trebuchet MS"/>
                <a:cs typeface="Trebuchet MS"/>
                <a:sym typeface="Trebuchet MS"/>
              </a:rPr>
              <a:t>05 — Static tokens that never expire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7"/>
          <p:cNvSpPr/>
          <p:nvPr/>
        </p:nvSpPr>
        <p:spPr>
          <a:xfrm>
            <a:off x="731520" y="4133088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❌ WRITE_APPROVAL_TOKEN set once, never rotated → if leaked, attacker has permanent write access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7"/>
          <p:cNvSpPr/>
          <p:nvPr/>
        </p:nvSpPr>
        <p:spPr>
          <a:xfrm>
            <a:off x="731520" y="4517136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✅ Use TOTP (expires 30s) as primary. Rotate WRITE_APPROVAL_TOKEN between sessions.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7"/>
          <p:cNvSpPr/>
          <p:nvPr/>
        </p:nvSpPr>
        <p:spPr>
          <a:xfrm>
            <a:off x="4709160" y="3822192"/>
            <a:ext cx="4160520" cy="1143000"/>
          </a:xfrm>
          <a:prstGeom prst="rect">
            <a:avLst/>
          </a:prstGeom>
          <a:solidFill>
            <a:srgbClr val="0F1729"/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7"/>
          <p:cNvSpPr/>
          <p:nvPr/>
        </p:nvSpPr>
        <p:spPr>
          <a:xfrm>
            <a:off x="4709160" y="3822192"/>
            <a:ext cx="384048" cy="1143000"/>
          </a:xfrm>
          <a:prstGeom prst="rect">
            <a:avLst/>
          </a:prstGeom>
          <a:solidFill>
            <a:srgbClr val="00C896">
              <a:alpha val="21960"/>
            </a:srgbClr>
          </a:solidFill>
          <a:ln cap="flat" cmpd="sng" w="12700">
            <a:solidFill>
              <a:srgbClr val="00C896">
                <a:alpha val="3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7"/>
          <p:cNvSpPr/>
          <p:nvPr/>
        </p:nvSpPr>
        <p:spPr>
          <a:xfrm>
            <a:off x="4709160" y="3822192"/>
            <a:ext cx="384048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👑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7"/>
          <p:cNvSpPr/>
          <p:nvPr/>
        </p:nvSpPr>
        <p:spPr>
          <a:xfrm>
            <a:off x="5166360" y="386791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00"/>
              <a:buFont typeface="Trebuchet MS"/>
              <a:buNone/>
            </a:pPr>
            <a:r>
              <a:rPr b="1" i="0" lang="en-US" sz="1000" u="none" cap="none" strike="noStrike">
                <a:solidFill>
                  <a:srgbClr val="00C896"/>
                </a:solidFill>
                <a:latin typeface="Trebuchet MS"/>
                <a:ea typeface="Trebuchet MS"/>
                <a:cs typeface="Trebuchet MS"/>
                <a:sym typeface="Trebuchet MS"/>
              </a:rPr>
              <a:t>06 — Over-privileged kubeconfig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7"/>
          <p:cNvSpPr/>
          <p:nvPr/>
        </p:nvSpPr>
        <p:spPr>
          <a:xfrm>
            <a:off x="5166360" y="4133088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❌ cluster-admin kubeconfig in MCP server → kubectl-read could escalate to delete namespaces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7"/>
          <p:cNvSpPr/>
          <p:nvPr/>
        </p:nvSpPr>
        <p:spPr>
          <a:xfrm>
            <a:off x="5166360" y="4517136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✅ Namespace-scoped kubeconfig for workshop only. Separate kubeconfig for write vs read.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7"/>
          <p:cNvSpPr/>
          <p:nvPr/>
        </p:nvSpPr>
        <p:spPr>
          <a:xfrm>
            <a:off x="274320" y="5102352"/>
            <a:ext cx="8595360" cy="274320"/>
          </a:xfrm>
          <a:prstGeom prst="rect">
            <a:avLst/>
          </a:prstGeom>
          <a:solidFill>
            <a:srgbClr val="FF4444">
              <a:alpha val="12156"/>
            </a:srgbClr>
          </a:solidFill>
          <a:ln cap="flat" cmpd="sng" w="12700">
            <a:solidFill>
              <a:srgbClr val="FF4444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7"/>
          <p:cNvSpPr/>
          <p:nvPr/>
        </p:nvSpPr>
        <p:spPr>
          <a:xfrm>
            <a:off x="274320" y="510235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4444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FF4444"/>
                </a:solidFill>
                <a:latin typeface="Calibri"/>
                <a:ea typeface="Calibri"/>
                <a:cs typeface="Calibri"/>
                <a:sym typeface="Calibri"/>
              </a:rPr>
              <a:t>"The most dangerous automation is the kind that works perfectly — until it doesn't. Design for failure."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2026-04-12T19:56:58Z</dcterms:created>
  <dc:creator>PptxGenJS</dc:creator>
</cp:coreProperties>
</file>
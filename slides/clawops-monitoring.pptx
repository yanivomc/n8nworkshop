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iykngVXI941juzamzIGmNZ0vmM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9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customschemas.google.com/relationships/presentationmetadata" Target="metadata"/><Relationship Id="rId14" Type="http://schemas.openxmlformats.org/officeDocument/2006/relationships/slide" Target="slides/slide3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10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C1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SECTION 3 — PROMETHEUS ALERTS TO ACTION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 Alert Problem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" name="Google Shape;19;p1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1"/>
          <p:cNvSpPr/>
          <p:nvPr/>
        </p:nvSpPr>
        <p:spPr>
          <a:xfrm>
            <a:off x="274320" y="1325880"/>
            <a:ext cx="2651760" cy="228600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FF44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274320" y="1325880"/>
            <a:ext cx="2651760" cy="73152"/>
          </a:xfrm>
          <a:prstGeom prst="rect">
            <a:avLst/>
          </a:prstGeom>
          <a:solidFill>
            <a:srgbClr val="FF4444"/>
          </a:solidFill>
          <a:ln cap="flat" cmpd="sng" w="12700">
            <a:solidFill>
              <a:srgbClr val="F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274320" y="1417320"/>
            <a:ext cx="2651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🔊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274320" y="2011680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FF4444"/>
                </a:solidFill>
                <a:latin typeface="Trebuchet MS"/>
                <a:ea typeface="Trebuchet MS"/>
                <a:cs typeface="Trebuchet MS"/>
                <a:sym typeface="Trebuchet MS"/>
              </a:rPr>
              <a:t>Too Noisy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384048" y="2395728"/>
            <a:ext cx="2450592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Prometheus fires on every threshold breach. 200+ alerts per night. Engineers stop reading them. Signal is lost in noise.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3172968" y="1325880"/>
            <a:ext cx="2651760" cy="228600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3172968" y="1325880"/>
            <a:ext cx="2651760" cy="73152"/>
          </a:xfrm>
          <a:prstGeom prst="rect">
            <a:avLst/>
          </a:prstGeom>
          <a:solidFill>
            <a:srgbClr val="FF6B35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3172968" y="1417320"/>
            <a:ext cx="2651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⏰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3172968" y="2011680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Too Late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3282696" y="2395728"/>
            <a:ext cx="2450592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Alert fires 25 seconds after the issue starts (scrape + for: window). The pod has already crashed and restarted.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6071616" y="1325880"/>
            <a:ext cx="2651760" cy="228600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6071616" y="1325880"/>
            <a:ext cx="2651760" cy="73152"/>
          </a:xfrm>
          <a:prstGeom prst="rect">
            <a:avLst/>
          </a:prstGeom>
          <a:solidFill>
            <a:srgbClr val="FFD700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6071616" y="1417320"/>
            <a:ext cx="2651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🎯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6071616" y="2011680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FFD700"/>
                </a:solidFill>
                <a:latin typeface="Trebuchet MS"/>
                <a:ea typeface="Trebuchet MS"/>
                <a:cs typeface="Trebuchet MS"/>
                <a:sym typeface="Trebuchet MS"/>
              </a:rPr>
              <a:t>No Context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6181344" y="2395728"/>
            <a:ext cx="2450592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Alert says: "CPU high on pod X". It doesn't say WHY. Is it a chaos test? A memory leak? A traffic spike? Unknown.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274320" y="3749040"/>
            <a:ext cx="8595360" cy="118872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"/>
          <p:cNvSpPr/>
          <p:nvPr/>
        </p:nvSpPr>
        <p:spPr>
          <a:xfrm>
            <a:off x="274320" y="3749040"/>
            <a:ext cx="73152" cy="1188720"/>
          </a:xfrm>
          <a:prstGeom prst="rect">
            <a:avLst/>
          </a:prstGeom>
          <a:solidFill>
            <a:srgbClr val="00C896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"/>
          <p:cNvSpPr/>
          <p:nvPr/>
        </p:nvSpPr>
        <p:spPr>
          <a:xfrm>
            <a:off x="457200" y="379476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✅  WHAT WE WANT INSTEAD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Alert fires  →  </a:t>
            </a:r>
            <a:r>
              <a:rPr b="1" i="0" lang="en-US" sz="12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AI investigates  </a:t>
            </a:r>
            <a:r>
              <a:rPr b="0" i="0" lang="en-US" sz="12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→  correlates signals  →  </a:t>
            </a:r>
            <a:r>
              <a:rPr b="1" i="0" lang="en-US" sz="1200" u="none" cap="none" strike="noStrike">
                <a:solidFill>
                  <a:srgbClr val="7B2FFF"/>
                </a:solidFill>
                <a:latin typeface="Calibri"/>
                <a:ea typeface="Calibri"/>
                <a:cs typeface="Calibri"/>
                <a:sym typeface="Calibri"/>
              </a:rPr>
              <a:t>forms hypothesis  </a:t>
            </a:r>
            <a:r>
              <a:rPr b="0" i="0" lang="en-US" sz="12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1" i="0" lang="en-US" sz="12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recommends action  </a:t>
            </a:r>
            <a:r>
              <a:rPr b="1" i="0" lang="en-US" sz="12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→  engineer approves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457200" y="46177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The alert is just a signal. n8n + Gemini turns it into an investigation.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C18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SECTION 3 — PROMETHEUS ALERTS TO ACTION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Our Chaos Scenarios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" name="Google Shape;48;p2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p2"/>
          <p:cNvSpPr/>
          <p:nvPr/>
        </p:nvSpPr>
        <p:spPr>
          <a:xfrm>
            <a:off x="274320" y="1298448"/>
            <a:ext cx="2651760" cy="169164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274320" y="1298448"/>
            <a:ext cx="2651760" cy="73152"/>
          </a:xfrm>
          <a:prstGeom prst="rect">
            <a:avLst/>
          </a:prstGeom>
          <a:solidFill>
            <a:srgbClr val="FF6B35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384048" y="1408176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⚡ CPU Spike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384048" y="1755648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Layer 3 — RUNTIME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384048" y="2011680"/>
            <a:ext cx="2423160" cy="22860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384048" y="2011680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/chaos/cpu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384048" y="2286000"/>
            <a:ext cx="2423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target_chaos_cpu_active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3172968" y="1298448"/>
            <a:ext cx="2651760" cy="169164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FF44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3172968" y="1298448"/>
            <a:ext cx="2651760" cy="73152"/>
          </a:xfrm>
          <a:prstGeom prst="rect">
            <a:avLst/>
          </a:prstGeom>
          <a:solidFill>
            <a:srgbClr val="FF4444"/>
          </a:solidFill>
          <a:ln cap="flat" cmpd="sng" w="12700">
            <a:solidFill>
              <a:srgbClr val="F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3282696" y="1408176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4444"/>
                </a:solidFill>
                <a:latin typeface="Trebuchet MS"/>
                <a:ea typeface="Trebuchet MS"/>
                <a:cs typeface="Trebuchet MS"/>
                <a:sym typeface="Trebuchet MS"/>
              </a:rPr>
              <a:t>💾 Memory Leak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3282696" y="1755648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Layer 3 — RUNTIME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3282696" y="2011680"/>
            <a:ext cx="2423160" cy="22860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3282696" y="2011680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/chaos/memory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3282696" y="2286000"/>
            <a:ext cx="2423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target_chaos_memory_active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target_chaos_memory_bytes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6071616" y="1298448"/>
            <a:ext cx="2651760" cy="169164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6071616" y="1298448"/>
            <a:ext cx="2651760" cy="73152"/>
          </a:xfrm>
          <a:prstGeom prst="rect">
            <a:avLst/>
          </a:prstGeom>
          <a:solidFill>
            <a:srgbClr val="7B2FFF"/>
          </a:solidFill>
          <a:ln cap="flat" cmpd="sng" w="1270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6181344" y="1408176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7B2FFF"/>
                </a:solidFill>
                <a:latin typeface="Trebuchet MS"/>
                <a:ea typeface="Trebuchet MS"/>
                <a:cs typeface="Trebuchet MS"/>
                <a:sym typeface="Trebuchet MS"/>
              </a:rPr>
              <a:t>💥 Error Rate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6181344" y="1755648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Layer 4 — APPLICATION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6181344" y="2011680"/>
            <a:ext cx="2423160" cy="22860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6181344" y="2011680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/chaos/error-rate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6181344" y="2286000"/>
            <a:ext cx="2423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target_chaos_error_active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target_chaos_error_rate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274320" y="3172968"/>
            <a:ext cx="4251960" cy="169164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26A5E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274320" y="3172968"/>
            <a:ext cx="4251960" cy="73152"/>
          </a:xfrm>
          <a:prstGeom prst="rect">
            <a:avLst/>
          </a:prstGeom>
          <a:solidFill>
            <a:srgbClr val="26A5E4"/>
          </a:solidFill>
          <a:ln cap="flat" cmpd="sng" w="12700">
            <a:solidFill>
              <a:srgbClr val="26A5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384048" y="3282696"/>
            <a:ext cx="3794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A5E4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26A5E4"/>
                </a:solidFill>
                <a:latin typeface="Trebuchet MS"/>
                <a:ea typeface="Trebuchet MS"/>
                <a:cs typeface="Trebuchet MS"/>
                <a:sym typeface="Trebuchet MS"/>
              </a:rPr>
              <a:t>🐢 High Latency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384048" y="3630168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Layer 4 — APPLICATION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384048" y="3886200"/>
            <a:ext cx="4023360" cy="22860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"/>
          <p:cNvSpPr/>
          <p:nvPr/>
        </p:nvSpPr>
        <p:spPr>
          <a:xfrm>
            <a:off x="384048" y="3886200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/chaos/latency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384048" y="4160520"/>
            <a:ext cx="4023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target_chaos_latency_active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target_chaos_latency_ms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4617720" y="3172968"/>
            <a:ext cx="4251960" cy="169164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4617720" y="3172968"/>
            <a:ext cx="4251960" cy="73152"/>
          </a:xfrm>
          <a:prstGeom prst="rect">
            <a:avLst/>
          </a:prstGeom>
          <a:solidFill>
            <a:srgbClr val="00C896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"/>
          <p:cNvSpPr/>
          <p:nvPr/>
        </p:nvSpPr>
        <p:spPr>
          <a:xfrm>
            <a:off x="4727448" y="3282696"/>
            <a:ext cx="3794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💀 Crash Loop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4727448" y="3630168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Layer 3 — RUNTIME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4727448" y="3886200"/>
            <a:ext cx="4023360" cy="22860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"/>
          <p:cNvSpPr/>
          <p:nvPr/>
        </p:nvSpPr>
        <p:spPr>
          <a:xfrm>
            <a:off x="4727448" y="3886200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/chaos/crash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2"/>
          <p:cNvSpPr/>
          <p:nvPr/>
        </p:nvSpPr>
        <p:spPr>
          <a:xfrm>
            <a:off x="4727448" y="4160520"/>
            <a:ext cx="4023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kube_pod_container_status_restarts_total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2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All scenarios inject REAL resource pressure. target_chaos_* metrics confirm active state. Dashboard has one-click triggers for each.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/>
      <p:sp>
        <p:nvSpPr>
          <p:cNvPr id="45" name="Google Shape;45;p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SECTION 3 — PROMETHEUS ALERTS TO ACTION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From Metric to Webhook — the Alert Path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" name="Google Shape;48;p2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p2"/>
          <p:cNvSpPr/>
          <p:nvPr/>
        </p:nvSpPr>
        <p:spPr>
          <a:xfrm>
            <a:off x="274320" y="1298448"/>
            <a:ext cx="2651760" cy="169164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274320" y="1298448"/>
            <a:ext cx="2651760" cy="73152"/>
          </a:xfrm>
          <a:prstGeom prst="rect">
            <a:avLst/>
          </a:prstGeom>
          <a:solidFill>
            <a:srgbClr val="FF6B35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384048" y="1408176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⏱ 1 · Rule fires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384048" y="1755648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Prometheus alert rule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384048" y="2011680"/>
            <a:ext cx="2423160" cy="22860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target_chaos_cpu_active == 1</a:t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384048" y="2011680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384048" y="2286000"/>
            <a:ext cx="2423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for: 10s  ·  label workshop="true"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3172968" y="1298448"/>
            <a:ext cx="2651760" cy="169164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FF44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3172968" y="1298448"/>
            <a:ext cx="2651760" cy="73152"/>
          </a:xfrm>
          <a:prstGeom prst="rect">
            <a:avLst/>
          </a:prstGeom>
          <a:solidFill>
            <a:srgbClr val="FF4444"/>
          </a:solidFill>
          <a:ln cap="flat" cmpd="sng" w="12700">
            <a:solidFill>
              <a:srgbClr val="F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3282696" y="1408176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4444"/>
                </a:solidFill>
                <a:latin typeface="Trebuchet MS"/>
                <a:ea typeface="Trebuchet MS"/>
                <a:cs typeface="Trebuchet MS"/>
                <a:sym typeface="Trebuchet MS"/>
              </a:rPr>
              <a:t>📨 2 · Alertmanager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3282696" y="1755648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Group &amp; wait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3282696" y="2011680"/>
            <a:ext cx="2423160" cy="22860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group_by: alertname, ns, pod</a:t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3282696" y="2011680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3282696" y="2286000"/>
            <a:ext cx="2423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group_wait: 5s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6071616" y="1298448"/>
            <a:ext cx="2651760" cy="169164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6071616" y="1298448"/>
            <a:ext cx="2651760" cy="73152"/>
          </a:xfrm>
          <a:prstGeom prst="rect">
            <a:avLst/>
          </a:prstGeom>
          <a:solidFill>
            <a:srgbClr val="7B2FFF"/>
          </a:solidFill>
          <a:ln cap="flat" cmpd="sng" w="1270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6181344" y="1408176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7B2FFF"/>
                </a:solidFill>
                <a:latin typeface="Trebuchet MS"/>
                <a:ea typeface="Trebuchet MS"/>
                <a:cs typeface="Trebuchet MS"/>
                <a:sym typeface="Trebuchet MS"/>
              </a:rPr>
              <a:t>🔀 3 · Route match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6181344" y="1755648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Matcher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6181344" y="2011680"/>
            <a:ext cx="2423160" cy="22860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workshop = "true"  ?</a:t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6181344" y="2011680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6181344" y="2286000"/>
            <a:ext cx="2423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yes → n8n  ·  no → drop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274320" y="3172968"/>
            <a:ext cx="4251960" cy="169164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26A5E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274320" y="3172968"/>
            <a:ext cx="4251960" cy="73152"/>
          </a:xfrm>
          <a:prstGeom prst="rect">
            <a:avLst/>
          </a:prstGeom>
          <a:solidFill>
            <a:srgbClr val="26A5E4"/>
          </a:solidFill>
          <a:ln cap="flat" cmpd="sng" w="12700">
            <a:solidFill>
              <a:srgbClr val="26A5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384048" y="3282696"/>
            <a:ext cx="3794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A5E4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26A5E4"/>
                </a:solidFill>
                <a:latin typeface="Trebuchet MS"/>
                <a:ea typeface="Trebuchet MS"/>
                <a:cs typeface="Trebuchet MS"/>
                <a:sym typeface="Trebuchet MS"/>
              </a:rPr>
              <a:t>🎯 4 · n8n S5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384048" y="3630168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Webhook receiver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384048" y="3886200"/>
            <a:ext cx="4023360" cy="22860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POST /webhook/prometheus-alert-s5</a:t>
            </a:r>
            <a:endParaRPr/>
          </a:p>
        </p:txBody>
      </p:sp>
      <p:sp>
        <p:nvSpPr>
          <p:cNvPr id="75" name="Google Shape;75;p2"/>
          <p:cNvSpPr/>
          <p:nvPr/>
        </p:nvSpPr>
        <p:spPr>
          <a:xfrm>
            <a:off x="384048" y="3886200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384048" y="4160520"/>
            <a:ext cx="4023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starts the S5 workflow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4617720" y="3172968"/>
            <a:ext cx="4251960" cy="169164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4617720" y="3172968"/>
            <a:ext cx="4251960" cy="73152"/>
          </a:xfrm>
          <a:prstGeom prst="rect">
            <a:avLst/>
          </a:prstGeom>
          <a:solidFill>
            <a:srgbClr val="00C896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"/>
          <p:cNvSpPr/>
          <p:nvPr/>
        </p:nvSpPr>
        <p:spPr>
          <a:xfrm>
            <a:off x="4727448" y="3282696"/>
            <a:ext cx="3794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🗑 5 · Everything else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4727448" y="3630168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null-receiver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4727448" y="3886200"/>
            <a:ext cx="4023360" cy="22860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KubeProxyDown, scheduler, etcd…</a:t>
            </a:r>
            <a:endParaRPr/>
          </a:p>
        </p:txBody>
      </p:sp>
      <p:sp>
        <p:nvSpPr>
          <p:cNvPr id="82" name="Google Shape;82;p2"/>
          <p:cNvSpPr/>
          <p:nvPr/>
        </p:nvSpPr>
        <p:spPr>
          <a:xfrm>
            <a:off x="4727448" y="3886200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2"/>
          <p:cNvSpPr/>
          <p:nvPr/>
        </p:nvSpPr>
        <p:spPr>
          <a:xfrm>
            <a:off x="4727448" y="4160520"/>
            <a:ext cx="4023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dropped — never reaches n8n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2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Only workshop="true" alerts reach n8n. kops control-plane alerts (scheduler, proxy, etcd) fire constantly but match null-receiver and are dropped — that is why /prometheus/alerts looks busy while S5 stays quiet.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C18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SECTION 3 — PROMETHEUS ALERTS TO ACTION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S5 Alert Intelligence — Pipeline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" name="Google Shape;93;p3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3"/>
          <p:cNvSpPr/>
          <p:nvPr/>
        </p:nvSpPr>
        <p:spPr>
          <a:xfrm>
            <a:off x="182880" y="1371600"/>
            <a:ext cx="1005840" cy="137160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182880" y="1371600"/>
            <a:ext cx="1005840" cy="54864"/>
          </a:xfrm>
          <a:prstGeom prst="rect">
            <a:avLst/>
          </a:prstGeom>
          <a:solidFill>
            <a:srgbClr val="FF6B35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182880" y="1444752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🔔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182880" y="1883664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Alertmanager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182880" y="2395728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Webhook trigger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1188720" y="1874520"/>
            <a:ext cx="1097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1252728" y="1371600"/>
            <a:ext cx="1005840" cy="137160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1252728" y="1371600"/>
            <a:ext cx="1005840" cy="54864"/>
          </a:xfrm>
          <a:prstGeom prst="rect">
            <a:avLst/>
          </a:prstGeom>
          <a:solidFill>
            <a:srgbClr val="FFD700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"/>
          <p:cNvSpPr/>
          <p:nvPr/>
        </p:nvSpPr>
        <p:spPr>
          <a:xfrm>
            <a:off x="1252728" y="1444752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🔁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1252728" y="1883664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FFD700"/>
                </a:solidFill>
                <a:latin typeface="Trebuchet MS"/>
                <a:ea typeface="Trebuchet MS"/>
                <a:cs typeface="Trebuchet MS"/>
                <a:sym typeface="Trebuchet MS"/>
              </a:rPr>
              <a:t>Dedup Filter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1252728" y="2395728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10-min window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2258568" y="1874520"/>
            <a:ext cx="1097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2322576" y="1371600"/>
            <a:ext cx="1005840" cy="137160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2322576" y="1371600"/>
            <a:ext cx="1005840" cy="54864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"/>
          <p:cNvSpPr/>
          <p:nvPr/>
        </p:nvSpPr>
        <p:spPr>
          <a:xfrm>
            <a:off x="2322576" y="1444752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🌐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2322576" y="1883664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Set Prom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URL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2322576" y="2395728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Derive Prom base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3328416" y="1874520"/>
            <a:ext cx="1097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3392424" y="1371600"/>
            <a:ext cx="1005840" cy="137160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3392424" y="1371600"/>
            <a:ext cx="1005840" cy="54864"/>
          </a:xfrm>
          <a:prstGeom prst="rect">
            <a:avLst/>
          </a:prstGeom>
          <a:solidFill>
            <a:srgbClr val="7B2FFF"/>
          </a:solidFill>
          <a:ln cap="flat" cmpd="sng" w="1270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"/>
          <p:cNvSpPr/>
          <p:nvPr/>
        </p:nvSpPr>
        <p:spPr>
          <a:xfrm>
            <a:off x="3392424" y="1444752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🗂️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3392424" y="1883664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7B2FFF"/>
                </a:solidFill>
                <a:latin typeface="Trebuchet MS"/>
                <a:ea typeface="Trebuchet MS"/>
                <a:cs typeface="Trebuchet MS"/>
                <a:sym typeface="Trebuchet MS"/>
              </a:rPr>
              <a:t>Extract Brief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7B2FFF"/>
                </a:solidFill>
                <a:latin typeface="Trebuchet MS"/>
                <a:ea typeface="Trebuchet MS"/>
                <a:cs typeface="Trebuchet MS"/>
                <a:sym typeface="Trebuchet MS"/>
              </a:rPr>
              <a:t>+ Plan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3392424" y="2395728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Plan the queries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4398264" y="1874520"/>
            <a:ext cx="1097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7B2FFF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4462272" y="1371600"/>
            <a:ext cx="1005840" cy="137160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8892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"/>
          <p:cNvSpPr/>
          <p:nvPr/>
        </p:nvSpPr>
        <p:spPr>
          <a:xfrm>
            <a:off x="4462272" y="1371600"/>
            <a:ext cx="1005840" cy="54864"/>
          </a:xfrm>
          <a:prstGeom prst="rect">
            <a:avLst/>
          </a:prstGeom>
          <a:solidFill>
            <a:srgbClr val="8892A4"/>
          </a:solidFill>
          <a:ln cap="flat" cmpd="sng" w="12700">
            <a:solidFill>
              <a:srgbClr val="8892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4462272" y="1444752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❓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4462272" y="1883664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8892A4"/>
                </a:solidFill>
                <a:latin typeface="Trebuchet MS"/>
                <a:ea typeface="Trebuchet MS"/>
                <a:cs typeface="Trebuchet MS"/>
                <a:sym typeface="Trebuchet MS"/>
              </a:rPr>
              <a:t>Worth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8892A4"/>
                </a:solidFill>
                <a:latin typeface="Trebuchet MS"/>
                <a:ea typeface="Trebuchet MS"/>
                <a:cs typeface="Trebuchet MS"/>
                <a:sym typeface="Trebuchet MS"/>
              </a:rPr>
              <a:t>Escalating?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4462272" y="2395728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firing → AI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5468112" y="1874520"/>
            <a:ext cx="1097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5532120" y="1371600"/>
            <a:ext cx="1005840" cy="137160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"/>
          <p:cNvSpPr/>
          <p:nvPr/>
        </p:nvSpPr>
        <p:spPr>
          <a:xfrm>
            <a:off x="5532120" y="1371600"/>
            <a:ext cx="1005840" cy="54864"/>
          </a:xfrm>
          <a:prstGeom prst="rect">
            <a:avLst/>
          </a:prstGeom>
          <a:solidFill>
            <a:srgbClr val="00C896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"/>
          <p:cNvSpPr/>
          <p:nvPr/>
        </p:nvSpPr>
        <p:spPr>
          <a:xfrm>
            <a:off x="5532120" y="1444752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🤖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5532120" y="1883664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AI Agent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(Gemini)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5532120" y="2395728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SRE investigation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6537960" y="1874520"/>
            <a:ext cx="1097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6601968" y="1371600"/>
            <a:ext cx="1005840" cy="137160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3"/>
          <p:cNvSpPr/>
          <p:nvPr/>
        </p:nvSpPr>
        <p:spPr>
          <a:xfrm>
            <a:off x="6601968" y="1371600"/>
            <a:ext cx="1005840" cy="54864"/>
          </a:xfrm>
          <a:prstGeom prst="rect">
            <a:avLst/>
          </a:prstGeom>
          <a:solidFill>
            <a:srgbClr val="FF6B35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3"/>
          <p:cNvSpPr/>
          <p:nvPr/>
        </p:nvSpPr>
        <p:spPr>
          <a:xfrm>
            <a:off x="6601968" y="1444752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🗄️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6601968" y="1883664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Store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Incident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6601968" y="2395728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MCP → SQLite → key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"/>
          <p:cNvSpPr/>
          <p:nvPr/>
        </p:nvSpPr>
        <p:spPr>
          <a:xfrm>
            <a:off x="7607808" y="1874520"/>
            <a:ext cx="1097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7671816" y="1371600"/>
            <a:ext cx="1005840" cy="137160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26A5E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3"/>
          <p:cNvSpPr/>
          <p:nvPr/>
        </p:nvSpPr>
        <p:spPr>
          <a:xfrm>
            <a:off x="7671816" y="1371600"/>
            <a:ext cx="1005840" cy="54864"/>
          </a:xfrm>
          <a:prstGeom prst="rect">
            <a:avLst/>
          </a:prstGeom>
          <a:solidFill>
            <a:srgbClr val="26A5E4"/>
          </a:solidFill>
          <a:ln cap="flat" cmpd="sng" w="12700">
            <a:solidFill>
              <a:srgbClr val="26A5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3"/>
          <p:cNvSpPr/>
          <p:nvPr/>
        </p:nvSpPr>
        <p:spPr>
          <a:xfrm>
            <a:off x="7671816" y="1444752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💬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/>
          <p:nvPr/>
        </p:nvSpPr>
        <p:spPr>
          <a:xfrm>
            <a:off x="7671816" y="1883664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A5E4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26A5E4"/>
                </a:solidFill>
                <a:latin typeface="Trebuchet MS"/>
                <a:ea typeface="Trebuchet MS"/>
                <a:cs typeface="Trebuchet MS"/>
                <a:sym typeface="Trebuchet MS"/>
              </a:rPr>
              <a:t>Send 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A5E4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26A5E4"/>
                </a:solidFill>
                <a:latin typeface="Trebuchet MS"/>
                <a:ea typeface="Trebuchet MS"/>
                <a:cs typeface="Trebuchet MS"/>
                <a:sym typeface="Trebuchet MS"/>
              </a:rPr>
              <a:t>Dashboard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7671816" y="2395728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Chat + /approve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"/>
          <p:cNvSpPr/>
          <p:nvPr/>
        </p:nvSpPr>
        <p:spPr>
          <a:xfrm>
            <a:off x="201168" y="2781814"/>
            <a:ext cx="255900" cy="255900"/>
          </a:xfrm>
          <a:prstGeom prst="ellipse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3"/>
          <p:cNvSpPr/>
          <p:nvPr/>
        </p:nvSpPr>
        <p:spPr>
          <a:xfrm>
            <a:off x="201168" y="2770435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"/>
          <p:cNvSpPr/>
          <p:nvPr/>
        </p:nvSpPr>
        <p:spPr>
          <a:xfrm>
            <a:off x="1271016" y="2781814"/>
            <a:ext cx="255900" cy="255900"/>
          </a:xfrm>
          <a:prstGeom prst="ellipse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3"/>
          <p:cNvSpPr/>
          <p:nvPr/>
        </p:nvSpPr>
        <p:spPr>
          <a:xfrm>
            <a:off x="1271016" y="2770435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"/>
          <p:cNvSpPr/>
          <p:nvPr/>
        </p:nvSpPr>
        <p:spPr>
          <a:xfrm>
            <a:off x="2340864" y="2781814"/>
            <a:ext cx="255900" cy="255900"/>
          </a:xfrm>
          <a:prstGeom prst="ellipse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3"/>
          <p:cNvSpPr/>
          <p:nvPr/>
        </p:nvSpPr>
        <p:spPr>
          <a:xfrm>
            <a:off x="2340864" y="2770435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/>
          <p:nvPr/>
        </p:nvSpPr>
        <p:spPr>
          <a:xfrm>
            <a:off x="3410712" y="2781814"/>
            <a:ext cx="255900" cy="255900"/>
          </a:xfrm>
          <a:prstGeom prst="ellipse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3"/>
          <p:cNvSpPr/>
          <p:nvPr/>
        </p:nvSpPr>
        <p:spPr>
          <a:xfrm>
            <a:off x="3410712" y="2770435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3"/>
          <p:cNvSpPr/>
          <p:nvPr/>
        </p:nvSpPr>
        <p:spPr>
          <a:xfrm>
            <a:off x="4480560" y="2781814"/>
            <a:ext cx="255900" cy="255900"/>
          </a:xfrm>
          <a:prstGeom prst="ellipse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3"/>
          <p:cNvSpPr/>
          <p:nvPr/>
        </p:nvSpPr>
        <p:spPr>
          <a:xfrm>
            <a:off x="4480560" y="2770435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"/>
          <p:cNvSpPr/>
          <p:nvPr/>
        </p:nvSpPr>
        <p:spPr>
          <a:xfrm>
            <a:off x="5550408" y="2781814"/>
            <a:ext cx="255900" cy="255900"/>
          </a:xfrm>
          <a:prstGeom prst="ellipse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3"/>
          <p:cNvSpPr/>
          <p:nvPr/>
        </p:nvSpPr>
        <p:spPr>
          <a:xfrm>
            <a:off x="5550408" y="2770435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3"/>
          <p:cNvSpPr/>
          <p:nvPr/>
        </p:nvSpPr>
        <p:spPr>
          <a:xfrm>
            <a:off x="6620256" y="2781814"/>
            <a:ext cx="255900" cy="255900"/>
          </a:xfrm>
          <a:prstGeom prst="ellipse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3"/>
          <p:cNvSpPr/>
          <p:nvPr/>
        </p:nvSpPr>
        <p:spPr>
          <a:xfrm>
            <a:off x="6620256" y="2770435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3"/>
          <p:cNvSpPr/>
          <p:nvPr/>
        </p:nvSpPr>
        <p:spPr>
          <a:xfrm>
            <a:off x="7690104" y="2781814"/>
            <a:ext cx="255900" cy="255900"/>
          </a:xfrm>
          <a:prstGeom prst="ellipse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3"/>
          <p:cNvSpPr/>
          <p:nvPr/>
        </p:nvSpPr>
        <p:spPr>
          <a:xfrm>
            <a:off x="7690104" y="2770435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"/>
          <p:cNvSpPr/>
          <p:nvPr/>
        </p:nvSpPr>
        <p:spPr>
          <a:xfrm>
            <a:off x="182880" y="3097176"/>
            <a:ext cx="1005900" cy="274200"/>
          </a:xfrm>
          <a:prstGeom prst="rect">
            <a:avLst/>
          </a:prstGeom>
          <a:solidFill>
            <a:srgbClr val="FF6B35">
              <a:alpha val="20000"/>
            </a:srgbClr>
          </a:solidFill>
          <a:ln cap="flat" cmpd="sng" w="12700">
            <a:solidFill>
              <a:srgbClr val="FF6B35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3"/>
          <p:cNvSpPr/>
          <p:nvPr/>
        </p:nvSpPr>
        <p:spPr>
          <a:xfrm>
            <a:off x="182880" y="3108555"/>
            <a:ext cx="1005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FF6B35"/>
                </a:solidFill>
                <a:latin typeface="Consolas"/>
                <a:ea typeface="Consolas"/>
                <a:cs typeface="Consolas"/>
                <a:sym typeface="Consolas"/>
              </a:rPr>
              <a:t>Alertmanager POST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3"/>
          <p:cNvSpPr/>
          <p:nvPr/>
        </p:nvSpPr>
        <p:spPr>
          <a:xfrm>
            <a:off x="8138160" y="3017520"/>
            <a:ext cx="822960" cy="274320"/>
          </a:xfrm>
          <a:prstGeom prst="rect">
            <a:avLst/>
          </a:prstGeom>
          <a:solidFill>
            <a:srgbClr val="26A5E4">
              <a:alpha val="20000"/>
            </a:srgbClr>
          </a:solidFill>
          <a:ln cap="flat" cmpd="sng" w="12700">
            <a:solidFill>
              <a:srgbClr val="26A5E4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3"/>
          <p:cNvSpPr/>
          <p:nvPr/>
        </p:nvSpPr>
        <p:spPr>
          <a:xfrm>
            <a:off x="8138160" y="30175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A5E4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26A5E4"/>
                </a:solidFill>
                <a:latin typeface="Consolas"/>
                <a:ea typeface="Consolas"/>
                <a:cs typeface="Consolas"/>
                <a:sym typeface="Consolas"/>
              </a:rPr>
              <a:t>Dashboard chat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1" name="Google Shape;161;p3"/>
          <p:cNvCxnSpPr/>
          <p:nvPr/>
        </p:nvCxnSpPr>
        <p:spPr>
          <a:xfrm>
            <a:off x="4206240" y="2788920"/>
            <a:ext cx="0" cy="822960"/>
          </a:xfrm>
          <a:prstGeom prst="straightConnector1">
            <a:avLst/>
          </a:prstGeom>
          <a:noFill/>
          <a:ln cap="flat" cmpd="sng" w="12700">
            <a:solidFill>
              <a:srgbClr val="8892A4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62" name="Google Shape;162;p3"/>
          <p:cNvSpPr/>
          <p:nvPr/>
        </p:nvSpPr>
        <p:spPr>
          <a:xfrm>
            <a:off x="3840480" y="358242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resolved → Log only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3"/>
          <p:cNvSpPr/>
          <p:nvPr/>
        </p:nvSpPr>
        <p:spPr>
          <a:xfrm>
            <a:off x="182880" y="4251960"/>
            <a:ext cx="1645920" cy="640080"/>
          </a:xfrm>
          <a:prstGeom prst="rect">
            <a:avLst/>
          </a:prstGeom>
          <a:solidFill>
            <a:srgbClr val="FF6B35">
              <a:alpha val="12156"/>
            </a:srgbClr>
          </a:solidFill>
          <a:ln cap="flat" cmpd="sng" w="12700">
            <a:solidFill>
              <a:srgbClr val="FF6B35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3"/>
          <p:cNvSpPr/>
          <p:nvPr/>
        </p:nvSpPr>
        <p:spPr>
          <a:xfrm>
            <a:off x="228600" y="4251960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Real in-cluster POST from Alertmanager (workshop=true route)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3"/>
          <p:cNvSpPr/>
          <p:nvPr/>
        </p:nvSpPr>
        <p:spPr>
          <a:xfrm>
            <a:off x="3657600" y="4251960"/>
            <a:ext cx="1645920" cy="640080"/>
          </a:xfrm>
          <a:prstGeom prst="rect">
            <a:avLst/>
          </a:prstGeom>
          <a:solidFill>
            <a:srgbClr val="7B2FFF">
              <a:alpha val="12156"/>
            </a:srgbClr>
          </a:solidFill>
          <a:ln cap="flat" cmpd="sng" w="12700">
            <a:solidFill>
              <a:srgbClr val="7B2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3"/>
          <p:cNvSpPr/>
          <p:nvPr/>
        </p:nvSpPr>
        <p:spPr>
          <a:xfrm>
            <a:off x="3703320" y="4251960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B2FFF"/>
                </a:solidFill>
                <a:latin typeface="Calibri"/>
                <a:ea typeface="Calibri"/>
                <a:cs typeface="Calibri"/>
                <a:sym typeface="Calibri"/>
              </a:rPr>
              <a:t>firing → AI investigation · resolved → logged &amp; skipped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3"/>
          <p:cNvSpPr/>
          <p:nvPr/>
        </p:nvSpPr>
        <p:spPr>
          <a:xfrm>
            <a:off x="7132320" y="4251960"/>
            <a:ext cx="1645920" cy="640080"/>
          </a:xfrm>
          <a:prstGeom prst="rect">
            <a:avLst/>
          </a:prstGeom>
          <a:solidFill>
            <a:srgbClr val="00C896">
              <a:alpha val="12156"/>
            </a:srgbClr>
          </a:solidFill>
          <a:ln cap="flat" cmpd="sng" w="12700">
            <a:solidFill>
              <a:srgbClr val="00C89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3"/>
          <p:cNvSpPr/>
          <p:nvPr/>
        </p:nvSpPr>
        <p:spPr>
          <a:xfrm>
            <a:off x="7178040" y="4251960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4-char key (e.g. k42a) stored in SQLite for approval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C18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4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SECTION 3 — S5 DEEP DIVE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4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Inside S5: Nodes 1–4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7" name="Google Shape;177;p4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8" name="Google Shape;178;p4"/>
          <p:cNvSpPr/>
          <p:nvPr/>
        </p:nvSpPr>
        <p:spPr>
          <a:xfrm>
            <a:off x="274320" y="1298448"/>
            <a:ext cx="4160520" cy="166420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4"/>
          <p:cNvSpPr/>
          <p:nvPr/>
        </p:nvSpPr>
        <p:spPr>
          <a:xfrm>
            <a:off x="274320" y="1298448"/>
            <a:ext cx="384048" cy="1664208"/>
          </a:xfrm>
          <a:prstGeom prst="rect">
            <a:avLst/>
          </a:prstGeom>
          <a:solidFill>
            <a:srgbClr val="FF6B35">
              <a:alpha val="21960"/>
            </a:srgbClr>
          </a:solidFill>
          <a:ln cap="flat" cmpd="sng" w="12700">
            <a:solidFill>
              <a:srgbClr val="FF6B35">
                <a:alpha val="3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4"/>
          <p:cNvSpPr/>
          <p:nvPr/>
        </p:nvSpPr>
        <p:spPr>
          <a:xfrm>
            <a:off x="274320" y="1298448"/>
            <a:ext cx="384048" cy="1664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FF6B35"/>
                </a:solidFill>
                <a:latin typeface="Consolas"/>
                <a:ea typeface="Consolas"/>
                <a:cs typeface="Consolas"/>
                <a:sym typeface="Consolas"/>
              </a:rPr>
              <a:t>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4"/>
          <p:cNvSpPr/>
          <p:nvPr/>
        </p:nvSpPr>
        <p:spPr>
          <a:xfrm>
            <a:off x="731520" y="137160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Alertmanager Webhook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4"/>
          <p:cNvSpPr/>
          <p:nvPr/>
        </p:nvSpPr>
        <p:spPr>
          <a:xfrm>
            <a:off x="731520" y="1645920"/>
            <a:ext cx="3566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Webhook Trigger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3" name="Google Shape;183;p4"/>
          <p:cNvCxnSpPr/>
          <p:nvPr/>
        </p:nvCxnSpPr>
        <p:spPr>
          <a:xfrm>
            <a:off x="731520" y="1865376"/>
            <a:ext cx="356616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4" name="Google Shape;184;p4"/>
          <p:cNvSpPr/>
          <p:nvPr/>
        </p:nvSpPr>
        <p:spPr>
          <a:xfrm>
            <a:off x="731520" y="1920240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800"/>
              <a:buFont typeface="Trebuchet MS"/>
              <a:buNone/>
            </a:pPr>
            <a:r>
              <a:rPr b="1" i="0" lang="en-US" sz="8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WHY: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4"/>
          <p:cNvSpPr/>
          <p:nvPr/>
        </p:nvSpPr>
        <p:spPr>
          <a:xfrm>
            <a:off x="1170432" y="1920240"/>
            <a:ext cx="312724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Alertmanager needs a destination for fired alerts. In-cluster it POSTs straight to n8n's webhook Service — no tunnel, no ngrok.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4"/>
          <p:cNvSpPr/>
          <p:nvPr/>
        </p:nvSpPr>
        <p:spPr>
          <a:xfrm>
            <a:off x="731520" y="225856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800"/>
              <a:buFont typeface="Trebuchet MS"/>
              <a:buNone/>
            </a:pPr>
            <a:r>
              <a:rPr b="1" i="0" lang="en-US" sz="8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HOW: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4"/>
          <p:cNvSpPr/>
          <p:nvPr/>
        </p:nvSpPr>
        <p:spPr>
          <a:xfrm>
            <a:off x="1170432" y="2258568"/>
            <a:ext cx="31272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POST /webhook/prometheus-alert-s5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Payload: alerts[], commonLabels, groupLabels, status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4"/>
          <p:cNvSpPr/>
          <p:nvPr/>
        </p:nvSpPr>
        <p:spPr>
          <a:xfrm>
            <a:off x="731520" y="2642616"/>
            <a:ext cx="3566160" cy="256032"/>
          </a:xfrm>
          <a:prstGeom prst="rect">
            <a:avLst/>
          </a:prstGeom>
          <a:solidFill>
            <a:srgbClr val="FF6B35">
              <a:alpha val="12156"/>
            </a:srgbClr>
          </a:solidFill>
          <a:ln cap="flat" cmpd="sng" w="12700">
            <a:solidFill>
              <a:srgbClr val="FF6B35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4"/>
          <p:cNvSpPr/>
          <p:nvPr/>
        </p:nvSpPr>
        <p:spPr>
          <a:xfrm>
            <a:off x="777250" y="2646962"/>
            <a:ext cx="3492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⚡ Contains generatorURL → Prometheus base URL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Contains startsAt → alert duration calculation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4"/>
          <p:cNvSpPr/>
          <p:nvPr/>
        </p:nvSpPr>
        <p:spPr>
          <a:xfrm>
            <a:off x="4709160" y="1298448"/>
            <a:ext cx="4160520" cy="166420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4"/>
          <p:cNvSpPr/>
          <p:nvPr/>
        </p:nvSpPr>
        <p:spPr>
          <a:xfrm>
            <a:off x="4709160" y="1298448"/>
            <a:ext cx="384048" cy="1664208"/>
          </a:xfrm>
          <a:prstGeom prst="rect">
            <a:avLst/>
          </a:prstGeom>
          <a:solidFill>
            <a:srgbClr val="FFD700">
              <a:alpha val="21960"/>
            </a:srgbClr>
          </a:solidFill>
          <a:ln cap="flat" cmpd="sng" w="12700">
            <a:solidFill>
              <a:srgbClr val="FFD700">
                <a:alpha val="3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4"/>
          <p:cNvSpPr/>
          <p:nvPr/>
        </p:nvSpPr>
        <p:spPr>
          <a:xfrm>
            <a:off x="4709160" y="1298448"/>
            <a:ext cx="384048" cy="1664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FFD700"/>
                </a:solidFill>
                <a:latin typeface="Consolas"/>
                <a:ea typeface="Consolas"/>
                <a:cs typeface="Consolas"/>
                <a:sym typeface="Consolas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4"/>
          <p:cNvSpPr/>
          <p:nvPr/>
        </p:nvSpPr>
        <p:spPr>
          <a:xfrm>
            <a:off x="5166360" y="137160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D700"/>
                </a:solidFill>
                <a:latin typeface="Trebuchet MS"/>
                <a:ea typeface="Trebuchet MS"/>
                <a:cs typeface="Trebuchet MS"/>
                <a:sym typeface="Trebuchet MS"/>
              </a:rPr>
              <a:t>Dedup Filter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4"/>
          <p:cNvSpPr/>
          <p:nvPr/>
        </p:nvSpPr>
        <p:spPr>
          <a:xfrm>
            <a:off x="5166360" y="1645920"/>
            <a:ext cx="3566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Code Node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5" name="Google Shape;195;p4"/>
          <p:cNvCxnSpPr/>
          <p:nvPr/>
        </p:nvCxnSpPr>
        <p:spPr>
          <a:xfrm>
            <a:off x="5166360" y="1865376"/>
            <a:ext cx="356616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6" name="Google Shape;196;p4"/>
          <p:cNvSpPr/>
          <p:nvPr/>
        </p:nvSpPr>
        <p:spPr>
          <a:xfrm>
            <a:off x="5166360" y="1920240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800"/>
              <a:buFont typeface="Trebuchet MS"/>
              <a:buNone/>
            </a:pPr>
            <a:r>
              <a:rPr b="1" i="0" lang="en-US" sz="8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WHY: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4"/>
          <p:cNvSpPr/>
          <p:nvPr/>
        </p:nvSpPr>
        <p:spPr>
          <a:xfrm>
            <a:off x="5605272" y="1920240"/>
            <a:ext cx="312724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Same alert fires every minute while active. Without dedup, Gemini runs 60 times per hour on the same issue.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4"/>
          <p:cNvSpPr/>
          <p:nvPr/>
        </p:nvSpPr>
        <p:spPr>
          <a:xfrm>
            <a:off x="5166360" y="225856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800"/>
              <a:buFont typeface="Trebuchet MS"/>
              <a:buNone/>
            </a:pPr>
            <a:r>
              <a:rPr b="1" i="0" lang="en-US" sz="8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HOW: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4"/>
          <p:cNvSpPr/>
          <p:nvPr/>
        </p:nvSpPr>
        <p:spPr>
          <a:xfrm>
            <a:off x="5605272" y="2258568"/>
            <a:ext cx="31272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Key = alertname:namespace:status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$getWorkflowStaticData stores last-seen timestamp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10-minute suppression window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4"/>
          <p:cNvSpPr/>
          <p:nvPr/>
        </p:nvSpPr>
        <p:spPr>
          <a:xfrm>
            <a:off x="5166360" y="2642616"/>
            <a:ext cx="3566160" cy="256032"/>
          </a:xfrm>
          <a:prstGeom prst="rect">
            <a:avLst/>
          </a:prstGeom>
          <a:solidFill>
            <a:srgbClr val="FFD700">
              <a:alpha val="12156"/>
            </a:srgbClr>
          </a:solidFill>
          <a:ln cap="flat" cmpd="sng" w="12700">
            <a:solidFill>
              <a:srgbClr val="FFD700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4"/>
          <p:cNvSpPr/>
          <p:nvPr/>
        </p:nvSpPr>
        <p:spPr>
          <a:xfrm>
            <a:off x="5212080" y="2642616"/>
            <a:ext cx="34930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⚡ run_id label bypasses dedup in testing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Key includes status — firing &amp; resolved stay separate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4"/>
          <p:cNvSpPr/>
          <p:nvPr/>
        </p:nvSpPr>
        <p:spPr>
          <a:xfrm>
            <a:off x="274320" y="3127248"/>
            <a:ext cx="4160520" cy="166420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4"/>
          <p:cNvSpPr/>
          <p:nvPr/>
        </p:nvSpPr>
        <p:spPr>
          <a:xfrm>
            <a:off x="274320" y="3127248"/>
            <a:ext cx="384048" cy="1664208"/>
          </a:xfrm>
          <a:prstGeom prst="rect">
            <a:avLst/>
          </a:prstGeom>
          <a:solidFill>
            <a:srgbClr val="00D4FF">
              <a:alpha val="21960"/>
            </a:srgbClr>
          </a:solidFill>
          <a:ln cap="flat" cmpd="sng" w="12700">
            <a:solidFill>
              <a:srgbClr val="00D4FF">
                <a:alpha val="3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4"/>
          <p:cNvSpPr/>
          <p:nvPr/>
        </p:nvSpPr>
        <p:spPr>
          <a:xfrm>
            <a:off x="274320" y="3127248"/>
            <a:ext cx="384048" cy="1664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4"/>
          <p:cNvSpPr/>
          <p:nvPr/>
        </p:nvSpPr>
        <p:spPr>
          <a:xfrm>
            <a:off x="731520" y="320040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Set Prom URL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4"/>
          <p:cNvSpPr/>
          <p:nvPr/>
        </p:nvSpPr>
        <p:spPr>
          <a:xfrm>
            <a:off x="731520" y="3474720"/>
            <a:ext cx="3566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Set Node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7" name="Google Shape;207;p4"/>
          <p:cNvCxnSpPr/>
          <p:nvPr/>
        </p:nvCxnSpPr>
        <p:spPr>
          <a:xfrm>
            <a:off x="731520" y="3694176"/>
            <a:ext cx="356616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" name="Google Shape;208;p4"/>
          <p:cNvSpPr/>
          <p:nvPr/>
        </p:nvSpPr>
        <p:spPr>
          <a:xfrm>
            <a:off x="731520" y="3749040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800"/>
              <a:buFont typeface="Trebuchet MS"/>
              <a:buNone/>
            </a:pPr>
            <a:r>
              <a:rPr b="1" i="0" lang="en-US" sz="8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WHY: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4"/>
          <p:cNvSpPr/>
          <p:nvPr/>
        </p:nvSpPr>
        <p:spPr>
          <a:xfrm>
            <a:off x="1170432" y="3749040"/>
            <a:ext cx="312724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The promql tool needs Prometheus's base URL. We derive it from the alert itself, so it works in any cluster.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4"/>
          <p:cNvSpPr/>
          <p:nvPr/>
        </p:nvSpPr>
        <p:spPr>
          <a:xfrm>
            <a:off x="731520" y="408736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800"/>
              <a:buFont typeface="Trebuchet MS"/>
              <a:buNone/>
            </a:pPr>
            <a:r>
              <a:rPr b="1" i="0" lang="en-US" sz="8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HOW: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4"/>
          <p:cNvSpPr/>
          <p:nvPr/>
        </p:nvSpPr>
        <p:spPr>
          <a:xfrm>
            <a:off x="1170432" y="4087368"/>
            <a:ext cx="31272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Splits the alert's generatorURL on /graph → Prom base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Falls back to the in-cluster prometheus Service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Passes alert + body through to the next node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4"/>
          <p:cNvSpPr/>
          <p:nvPr/>
        </p:nvSpPr>
        <p:spPr>
          <a:xfrm>
            <a:off x="731520" y="4471416"/>
            <a:ext cx="3566160" cy="256032"/>
          </a:xfrm>
          <a:prstGeom prst="rect">
            <a:avLst/>
          </a:prstGeom>
          <a:solidFill>
            <a:srgbClr val="00D4FF">
              <a:alpha val="12156"/>
            </a:srgbClr>
          </a:solidFill>
          <a:ln cap="flat" cmpd="sng" w="12700">
            <a:solidFill>
              <a:srgbClr val="00D4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4"/>
          <p:cNvSpPr/>
          <p:nvPr/>
        </p:nvSpPr>
        <p:spPr>
          <a:xfrm>
            <a:off x="777240" y="4471416"/>
            <a:ext cx="34930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⚡ generatorURL is set from Prometheus' externalUrl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One expression — no hardcoded cluster URL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4"/>
          <p:cNvSpPr/>
          <p:nvPr/>
        </p:nvSpPr>
        <p:spPr>
          <a:xfrm>
            <a:off x="4709160" y="3127248"/>
            <a:ext cx="4160520" cy="166420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4"/>
          <p:cNvSpPr/>
          <p:nvPr/>
        </p:nvSpPr>
        <p:spPr>
          <a:xfrm>
            <a:off x="4709160" y="3127248"/>
            <a:ext cx="384048" cy="1664208"/>
          </a:xfrm>
          <a:prstGeom prst="rect">
            <a:avLst/>
          </a:prstGeom>
          <a:solidFill>
            <a:srgbClr val="7B2FFF">
              <a:alpha val="21960"/>
            </a:srgbClr>
          </a:solidFill>
          <a:ln cap="flat" cmpd="sng" w="12700">
            <a:solidFill>
              <a:srgbClr val="7B2FFF">
                <a:alpha val="3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4"/>
          <p:cNvSpPr/>
          <p:nvPr/>
        </p:nvSpPr>
        <p:spPr>
          <a:xfrm>
            <a:off x="4709160" y="3127248"/>
            <a:ext cx="384048" cy="1664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7B2FFF"/>
                </a:solidFill>
                <a:latin typeface="Consolas"/>
                <a:ea typeface="Consolas"/>
                <a:cs typeface="Consolas"/>
                <a:sym typeface="Consolas"/>
              </a:rPr>
              <a:t>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4"/>
          <p:cNvSpPr/>
          <p:nvPr/>
        </p:nvSpPr>
        <p:spPr>
          <a:xfrm>
            <a:off x="5166360" y="320040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7B2FFF"/>
                </a:solidFill>
                <a:latin typeface="Trebuchet MS"/>
                <a:ea typeface="Trebuchet MS"/>
                <a:cs typeface="Trebuchet MS"/>
                <a:sym typeface="Trebuchet MS"/>
              </a:rPr>
              <a:t>Extract Brief + Signal Plan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4"/>
          <p:cNvSpPr/>
          <p:nvPr/>
        </p:nvSpPr>
        <p:spPr>
          <a:xfrm>
            <a:off x="5166360" y="3474720"/>
            <a:ext cx="3566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Code Node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9" name="Google Shape;219;p4"/>
          <p:cNvCxnSpPr/>
          <p:nvPr/>
        </p:nvCxnSpPr>
        <p:spPr>
          <a:xfrm>
            <a:off x="5166360" y="3694176"/>
            <a:ext cx="356616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0" name="Google Shape;220;p4"/>
          <p:cNvSpPr/>
          <p:nvPr/>
        </p:nvSpPr>
        <p:spPr>
          <a:xfrm>
            <a:off x="5166360" y="3749040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800"/>
              <a:buFont typeface="Trebuchet MS"/>
              <a:buNone/>
            </a:pPr>
            <a:r>
              <a:rPr b="1" i="0" lang="en-US" sz="8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WHY: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4"/>
          <p:cNvSpPr/>
          <p:nvPr/>
        </p:nvSpPr>
        <p:spPr>
          <a:xfrm>
            <a:off x="5605272" y="3749040"/>
            <a:ext cx="312724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The raw alert is noisy. We extract what matters AND build a PromQL query PLAN — the exact checks worth running for this alert.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4"/>
          <p:cNvSpPr/>
          <p:nvPr/>
        </p:nvSpPr>
        <p:spPr>
          <a:xfrm>
            <a:off x="5166360" y="408736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800"/>
              <a:buFont typeface="Trebuchet MS"/>
              <a:buNone/>
            </a:pPr>
            <a:r>
              <a:rPr b="1" i="0" lang="en-US" sz="8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HOW: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4"/>
          <p:cNvSpPr/>
          <p:nvPr/>
        </p:nvSpPr>
        <p:spPr>
          <a:xfrm>
            <a:off x="5605272" y="4087368"/>
            <a:ext cx="31272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Maps alertname → signal plan (queries, NOT values)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Sets the gate: firing → HIGH, resolved → LOW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Outputs brief + signals + durationStr</a:t>
            </a:r>
          </a:p>
        </p:txBody>
      </p:sp>
      <p:sp>
        <p:nvSpPr>
          <p:cNvPr id="224" name="Google Shape;224;p4"/>
          <p:cNvSpPr/>
          <p:nvPr/>
        </p:nvSpPr>
        <p:spPr>
          <a:xfrm>
            <a:off x="5166360" y="4471416"/>
            <a:ext cx="3566160" cy="256032"/>
          </a:xfrm>
          <a:prstGeom prst="rect">
            <a:avLst/>
          </a:prstGeom>
          <a:solidFill>
            <a:srgbClr val="7B2FFF">
              <a:alpha val="12156"/>
            </a:srgbClr>
          </a:solidFill>
          <a:ln cap="flat" cmpd="sng" w="12700">
            <a:solidFill>
              <a:srgbClr val="7B2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4"/>
          <p:cNvSpPr/>
          <p:nvPr/>
        </p:nvSpPr>
        <p:spPr>
          <a:xfrm>
            <a:off x="5212080" y="4471416"/>
            <a:ext cx="34930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7B2FFF"/>
                </a:solidFill>
                <a:latin typeface="Calibri"/>
                <a:ea typeface="Calibri"/>
                <a:cs typeface="Calibri"/>
                <a:sym typeface="Calibri"/>
              </a:rPr>
              <a:t>⚡ Code nodes can't call Prometheus — so we PLAN here,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7B2FFF"/>
                </a:solidFill>
                <a:latin typeface="Calibri"/>
                <a:ea typeface="Calibri"/>
                <a:cs typeface="Calibri"/>
                <a:sym typeface="Calibri"/>
              </a:rPr>
              <a:t>and the AI RUNS the queries live via its promql tool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C18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5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SECTION 3 — S5 DEEP DIVE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5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Inside S5: Nodes 5–8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4" name="Google Shape;234;p5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5" name="Google Shape;235;p5"/>
          <p:cNvSpPr/>
          <p:nvPr/>
        </p:nvSpPr>
        <p:spPr>
          <a:xfrm>
            <a:off x="274320" y="1298448"/>
            <a:ext cx="4160520" cy="166420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8892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5"/>
          <p:cNvSpPr/>
          <p:nvPr/>
        </p:nvSpPr>
        <p:spPr>
          <a:xfrm>
            <a:off x="274320" y="1298448"/>
            <a:ext cx="384048" cy="1664208"/>
          </a:xfrm>
          <a:prstGeom prst="rect">
            <a:avLst/>
          </a:prstGeom>
          <a:solidFill>
            <a:srgbClr val="8892A4">
              <a:alpha val="21960"/>
            </a:srgbClr>
          </a:solidFill>
          <a:ln cap="flat" cmpd="sng" w="12700">
            <a:solidFill>
              <a:srgbClr val="8892A4">
                <a:alpha val="3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5"/>
          <p:cNvSpPr/>
          <p:nvPr/>
        </p:nvSpPr>
        <p:spPr>
          <a:xfrm>
            <a:off x="274320" y="1298448"/>
            <a:ext cx="384048" cy="1664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05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5"/>
          <p:cNvSpPr/>
          <p:nvPr/>
        </p:nvSpPr>
        <p:spPr>
          <a:xfrm>
            <a:off x="731520" y="137160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8892A4"/>
                </a:solidFill>
                <a:latin typeface="Trebuchet MS"/>
                <a:ea typeface="Trebuchet MS"/>
                <a:cs typeface="Trebuchet MS"/>
                <a:sym typeface="Trebuchet MS"/>
              </a:rPr>
              <a:t>Worth Escalating?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5"/>
          <p:cNvSpPr/>
          <p:nvPr/>
        </p:nvSpPr>
        <p:spPr>
          <a:xfrm>
            <a:off x="731520" y="1645920"/>
            <a:ext cx="3566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IF Node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0" name="Google Shape;240;p5"/>
          <p:cNvCxnSpPr/>
          <p:nvPr/>
        </p:nvCxnSpPr>
        <p:spPr>
          <a:xfrm>
            <a:off x="731520" y="1865376"/>
            <a:ext cx="356616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1" name="Google Shape;241;p5"/>
          <p:cNvSpPr/>
          <p:nvPr/>
        </p:nvSpPr>
        <p:spPr>
          <a:xfrm>
            <a:off x="731520" y="1920240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800"/>
              <a:buFont typeface="Trebuchet MS"/>
              <a:buNone/>
            </a:pPr>
            <a:r>
              <a:rPr b="1" i="0" lang="en-US" sz="8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WHY: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5"/>
          <p:cNvSpPr/>
          <p:nvPr/>
        </p:nvSpPr>
        <p:spPr>
          <a:xfrm>
            <a:off x="1170432" y="1920240"/>
            <a:ext cx="312724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Not every notification deserves an AI investigation. A 'resolved' alert means the problem already cleared — don't spend Gemini on it.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5"/>
          <p:cNvSpPr/>
          <p:nvPr/>
        </p:nvSpPr>
        <p:spPr>
          <a:xfrm>
            <a:off x="731520" y="225856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800"/>
              <a:buFont typeface="Trebuchet MS"/>
              <a:buNone/>
            </a:pPr>
            <a:r>
              <a:rPr b="1" i="0" lang="en-US" sz="8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HOW: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5"/>
          <p:cNvSpPr/>
          <p:nvPr/>
        </p:nvSpPr>
        <p:spPr>
          <a:xfrm>
            <a:off x="1170432" y="2258568"/>
            <a:ext cx="31272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firing → HIGH → true branch → AI Agent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resolved → LOW → false branch → Log Only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Driven by the alert's real status, not a stub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5"/>
          <p:cNvSpPr/>
          <p:nvPr/>
        </p:nvSpPr>
        <p:spPr>
          <a:xfrm>
            <a:off x="731520" y="2642616"/>
            <a:ext cx="3566160" cy="256032"/>
          </a:xfrm>
          <a:prstGeom prst="rect">
            <a:avLst/>
          </a:prstGeom>
          <a:solidFill>
            <a:srgbClr val="8892A4">
              <a:alpha val="12156"/>
            </a:srgbClr>
          </a:solidFill>
          <a:ln cap="flat" cmpd="sng" w="12700">
            <a:solidFill>
              <a:srgbClr val="8892A4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5"/>
          <p:cNvSpPr/>
          <p:nvPr/>
        </p:nvSpPr>
        <p:spPr>
          <a:xfrm>
            <a:off x="777240" y="2642616"/>
            <a:ext cx="34930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⚡ Only FIRING alerts create an incident + chat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Resolved notifications are logged and skipped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5"/>
          <p:cNvSpPr/>
          <p:nvPr/>
        </p:nvSpPr>
        <p:spPr>
          <a:xfrm>
            <a:off x="4709160" y="1298448"/>
            <a:ext cx="4160520" cy="166420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5"/>
          <p:cNvSpPr/>
          <p:nvPr/>
        </p:nvSpPr>
        <p:spPr>
          <a:xfrm>
            <a:off x="4709160" y="1298448"/>
            <a:ext cx="384048" cy="1664208"/>
          </a:xfrm>
          <a:prstGeom prst="rect">
            <a:avLst/>
          </a:prstGeom>
          <a:solidFill>
            <a:srgbClr val="00C896">
              <a:alpha val="21960"/>
            </a:srgbClr>
          </a:solidFill>
          <a:ln cap="flat" cmpd="sng" w="12700">
            <a:solidFill>
              <a:srgbClr val="00C896">
                <a:alpha val="3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5"/>
          <p:cNvSpPr/>
          <p:nvPr/>
        </p:nvSpPr>
        <p:spPr>
          <a:xfrm>
            <a:off x="4709160" y="1298448"/>
            <a:ext cx="384048" cy="1664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00C896"/>
                </a:solidFill>
                <a:latin typeface="Consolas"/>
                <a:ea typeface="Consolas"/>
                <a:cs typeface="Consolas"/>
                <a:sym typeface="Consolas"/>
              </a:rPr>
              <a:t>06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5"/>
          <p:cNvSpPr/>
          <p:nvPr/>
        </p:nvSpPr>
        <p:spPr>
          <a:xfrm>
            <a:off x="5166360" y="137160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AI Agent (Gemini)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5"/>
          <p:cNvSpPr/>
          <p:nvPr/>
        </p:nvSpPr>
        <p:spPr>
          <a:xfrm>
            <a:off x="5166360" y="1645920"/>
            <a:ext cx="3566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AI Agent Node + Tools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2" name="Google Shape;252;p5"/>
          <p:cNvCxnSpPr/>
          <p:nvPr/>
        </p:nvCxnSpPr>
        <p:spPr>
          <a:xfrm>
            <a:off x="5166360" y="1865376"/>
            <a:ext cx="356616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3" name="Google Shape;253;p5"/>
          <p:cNvSpPr/>
          <p:nvPr/>
        </p:nvSpPr>
        <p:spPr>
          <a:xfrm>
            <a:off x="5166360" y="1920240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800"/>
              <a:buFont typeface="Trebuchet MS"/>
              <a:buNone/>
            </a:pPr>
            <a:r>
              <a:rPr b="1" i="0" lang="en-US" sz="8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WHY: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5"/>
          <p:cNvSpPr/>
          <p:nvPr/>
        </p:nvSpPr>
        <p:spPr>
          <a:xfrm>
            <a:off x="5605272" y="1920240"/>
            <a:ext cx="312724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Context-aware SRE investigation. Gemini uses real tools to verify signals before drawing conclusions.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5"/>
          <p:cNvSpPr/>
          <p:nvPr/>
        </p:nvSpPr>
        <p:spPr>
          <a:xfrm>
            <a:off x="5166360" y="225856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800"/>
              <a:buFont typeface="Trebuchet MS"/>
              <a:buNone/>
            </a:pPr>
            <a:r>
              <a:rPr b="1" i="0" lang="en-US" sz="8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HOW: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5"/>
          <p:cNvSpPr/>
          <p:nvPr/>
        </p:nvSpPr>
        <p:spPr>
          <a:xfrm>
            <a:off x="5605272" y="2258568"/>
            <a:ext cx="31272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System prompt: layer-by-layer SRE methodology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Tools: kubectl_read + promql (MCP server)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Outputs: Hypothesis trail, Root cause, Confidence, SRE_ACTION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5"/>
          <p:cNvSpPr/>
          <p:nvPr/>
        </p:nvSpPr>
        <p:spPr>
          <a:xfrm>
            <a:off x="5166360" y="2642616"/>
            <a:ext cx="3566160" cy="256032"/>
          </a:xfrm>
          <a:prstGeom prst="rect">
            <a:avLst/>
          </a:prstGeom>
          <a:solidFill>
            <a:srgbClr val="00C896">
              <a:alpha val="12156"/>
            </a:srgbClr>
          </a:solidFill>
          <a:ln cap="flat" cmpd="sng" w="12700">
            <a:solidFill>
              <a:srgbClr val="00C89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5"/>
          <p:cNvSpPr/>
          <p:nvPr/>
        </p:nvSpPr>
        <p:spPr>
          <a:xfrm>
            <a:off x="5212080" y="2642616"/>
            <a:ext cx="34930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⚡ Exact metric names in prompt prevent wrong queries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Treats chaos scenarios as REAL production incidents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Single mandatory: SRE_ACTION: kubectl &lt;command&gt;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5"/>
          <p:cNvSpPr/>
          <p:nvPr/>
        </p:nvSpPr>
        <p:spPr>
          <a:xfrm>
            <a:off x="274320" y="3127248"/>
            <a:ext cx="4160520" cy="166420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5"/>
          <p:cNvSpPr/>
          <p:nvPr/>
        </p:nvSpPr>
        <p:spPr>
          <a:xfrm>
            <a:off x="274320" y="3127248"/>
            <a:ext cx="384048" cy="1664208"/>
          </a:xfrm>
          <a:prstGeom prst="rect">
            <a:avLst/>
          </a:prstGeom>
          <a:solidFill>
            <a:srgbClr val="FF6B35">
              <a:alpha val="21960"/>
            </a:srgbClr>
          </a:solidFill>
          <a:ln cap="flat" cmpd="sng" w="12700">
            <a:solidFill>
              <a:srgbClr val="FF6B35">
                <a:alpha val="3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5"/>
          <p:cNvSpPr/>
          <p:nvPr/>
        </p:nvSpPr>
        <p:spPr>
          <a:xfrm>
            <a:off x="274320" y="3127248"/>
            <a:ext cx="384048" cy="1664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FF6B35"/>
                </a:solidFill>
                <a:latin typeface="Consolas"/>
                <a:ea typeface="Consolas"/>
                <a:cs typeface="Consolas"/>
                <a:sym typeface="Consolas"/>
              </a:rPr>
              <a:t>07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5"/>
          <p:cNvSpPr/>
          <p:nvPr/>
        </p:nvSpPr>
        <p:spPr>
          <a:xfrm>
            <a:off x="731520" y="320040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Store Incident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5"/>
          <p:cNvSpPr/>
          <p:nvPr/>
        </p:nvSpPr>
        <p:spPr>
          <a:xfrm>
            <a:off x="731520" y="3474720"/>
            <a:ext cx="3566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HTTP Request Node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4" name="Google Shape;264;p5"/>
          <p:cNvCxnSpPr/>
          <p:nvPr/>
        </p:nvCxnSpPr>
        <p:spPr>
          <a:xfrm>
            <a:off x="731520" y="3694176"/>
            <a:ext cx="356616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5" name="Google Shape;265;p5"/>
          <p:cNvSpPr/>
          <p:nvPr/>
        </p:nvSpPr>
        <p:spPr>
          <a:xfrm>
            <a:off x="731520" y="3749040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800"/>
              <a:buFont typeface="Trebuchet MS"/>
              <a:buNone/>
            </a:pPr>
            <a:r>
              <a:rPr b="1" i="0" lang="en-US" sz="8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WHY: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5"/>
          <p:cNvSpPr/>
          <p:nvPr/>
        </p:nvSpPr>
        <p:spPr>
          <a:xfrm>
            <a:off x="1170432" y="3749040"/>
            <a:ext cx="312724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S4 needs to know WHICH command to execute on approval. Shared state between S5 and S4 via MCP SQLite.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5"/>
          <p:cNvSpPr/>
          <p:nvPr/>
        </p:nvSpPr>
        <p:spPr>
          <a:xfrm>
            <a:off x="731520" y="408736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800"/>
              <a:buFont typeface="Trebuchet MS"/>
              <a:buNone/>
            </a:pPr>
            <a:r>
              <a:rPr b="1" i="0" lang="en-US" sz="8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HOW: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5"/>
          <p:cNvSpPr/>
          <p:nvPr/>
        </p:nvSpPr>
        <p:spPr>
          <a:xfrm>
            <a:off x="1170432" y="4087368"/>
            <a:ext cx="31272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POST http://mcp-server:8000/incidents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Body: {alertname, namespace, pod, command (stripped of "kubectl ")}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Returns: {key: "k42a", status: "pending"}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5"/>
          <p:cNvSpPr/>
          <p:nvPr/>
        </p:nvSpPr>
        <p:spPr>
          <a:xfrm>
            <a:off x="731520" y="4471416"/>
            <a:ext cx="3566160" cy="256032"/>
          </a:xfrm>
          <a:prstGeom prst="rect">
            <a:avLst/>
          </a:prstGeom>
          <a:solidFill>
            <a:srgbClr val="FF6B35">
              <a:alpha val="12156"/>
            </a:srgbClr>
          </a:solidFill>
          <a:ln cap="flat" cmpd="sng" w="12700">
            <a:solidFill>
              <a:srgbClr val="FF6B35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5"/>
          <p:cNvSpPr/>
          <p:nvPr/>
        </p:nvSpPr>
        <p:spPr>
          <a:xfrm>
            <a:off x="777240" y="4471416"/>
            <a:ext cx="34930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⚡ Must strip "kubectl " prefix — MCP expects subcommand only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HTTP Request node (not Code node) — sandbox would block it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5"/>
          <p:cNvSpPr/>
          <p:nvPr/>
        </p:nvSpPr>
        <p:spPr>
          <a:xfrm>
            <a:off x="4709160" y="3127248"/>
            <a:ext cx="4160520" cy="166420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26A5E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5"/>
          <p:cNvSpPr/>
          <p:nvPr/>
        </p:nvSpPr>
        <p:spPr>
          <a:xfrm>
            <a:off x="4709160" y="3127248"/>
            <a:ext cx="384048" cy="1664208"/>
          </a:xfrm>
          <a:prstGeom prst="rect">
            <a:avLst/>
          </a:prstGeom>
          <a:solidFill>
            <a:srgbClr val="26A5E4">
              <a:alpha val="21960"/>
            </a:srgbClr>
          </a:solidFill>
          <a:ln cap="flat" cmpd="sng" w="12700">
            <a:solidFill>
              <a:srgbClr val="26A5E4">
                <a:alpha val="3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5"/>
          <p:cNvSpPr/>
          <p:nvPr/>
        </p:nvSpPr>
        <p:spPr>
          <a:xfrm>
            <a:off x="4709160" y="3127248"/>
            <a:ext cx="384048" cy="1664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A5E4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26A5E4"/>
                </a:solidFill>
                <a:latin typeface="Consolas"/>
                <a:ea typeface="Consolas"/>
                <a:cs typeface="Consolas"/>
                <a:sym typeface="Consolas"/>
              </a:rPr>
              <a:t>08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5"/>
          <p:cNvSpPr/>
          <p:nvPr/>
        </p:nvSpPr>
        <p:spPr>
          <a:xfrm>
            <a:off x="5166360" y="320040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A5E4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26A5E4"/>
                </a:solidFill>
                <a:latin typeface="Trebuchet MS"/>
                <a:ea typeface="Trebuchet MS"/>
                <a:cs typeface="Trebuchet MS"/>
                <a:sym typeface="Trebuchet MS"/>
              </a:rPr>
              <a:t>Send to Dashboard Chat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5"/>
          <p:cNvSpPr/>
          <p:nvPr/>
        </p:nvSpPr>
        <p:spPr>
          <a:xfrm>
            <a:off x="5166360" y="3474720"/>
            <a:ext cx="3566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HTTP Request Node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6" name="Google Shape;276;p5"/>
          <p:cNvCxnSpPr/>
          <p:nvPr/>
        </p:nvCxnSpPr>
        <p:spPr>
          <a:xfrm>
            <a:off x="5166360" y="3694176"/>
            <a:ext cx="356616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7" name="Google Shape;277;p5"/>
          <p:cNvSpPr/>
          <p:nvPr/>
        </p:nvSpPr>
        <p:spPr>
          <a:xfrm>
            <a:off x="5166360" y="3749040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800"/>
              <a:buFont typeface="Trebuchet MS"/>
              <a:buNone/>
            </a:pPr>
            <a:r>
              <a:rPr b="1" i="0" lang="en-US" sz="8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WHY: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5"/>
          <p:cNvSpPr/>
          <p:nvPr/>
        </p:nvSpPr>
        <p:spPr>
          <a:xfrm>
            <a:off x="5605272" y="3749040"/>
            <a:ext cx="312724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Engineers watch the dashboard CHAT tab in real time. The AI's full assessment + the approval prompt land there instantly.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5"/>
          <p:cNvSpPr/>
          <p:nvPr/>
        </p:nvSpPr>
        <p:spPr>
          <a:xfrm>
            <a:off x="5166360" y="408736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800"/>
              <a:buFont typeface="Trebuchet MS"/>
              <a:buNone/>
            </a:pPr>
            <a:r>
              <a:rPr b="1" i="0" lang="en-US" sz="8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HOW: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5"/>
          <p:cNvSpPr/>
          <p:nvPr/>
        </p:nvSpPr>
        <p:spPr>
          <a:xfrm>
            <a:off x="5605272" y="4087368"/>
            <a:ext cx="31272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POST clawops-dashboard…/api/chat/send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Body: role=agent, content = AI output + /approve line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meta = incident key (links the approval back)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5"/>
          <p:cNvSpPr/>
          <p:nvPr/>
        </p:nvSpPr>
        <p:spPr>
          <a:xfrm>
            <a:off x="5166360" y="4471416"/>
            <a:ext cx="3566160" cy="256032"/>
          </a:xfrm>
          <a:prstGeom prst="rect">
            <a:avLst/>
          </a:prstGeom>
          <a:solidFill>
            <a:srgbClr val="26A5E4">
              <a:alpha val="12156"/>
            </a:srgbClr>
          </a:solidFill>
          <a:ln cap="flat" cmpd="sng" w="12700">
            <a:solidFill>
              <a:srgbClr val="26A5E4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5"/>
          <p:cNvSpPr/>
          <p:nvPr/>
        </p:nvSpPr>
        <p:spPr>
          <a:xfrm>
            <a:off x="5212080" y="4471416"/>
            <a:ext cx="34930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A5E4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26A5E4"/>
                </a:solidFill>
                <a:latin typeface="Calibri"/>
                <a:ea typeface="Calibri"/>
                <a:cs typeface="Calibri"/>
                <a:sym typeface="Calibri"/>
              </a:rPr>
              <a:t>⚡ No Telegram — the dashboard IS the console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A5E4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26A5E4"/>
                </a:solidFill>
                <a:latin typeface="Calibri"/>
                <a:ea typeface="Calibri"/>
                <a:cs typeface="Calibri"/>
                <a:sym typeface="Calibri"/>
              </a:rPr>
              <a:t>💬 /approve &lt;totp&gt; &lt;key&gt; → S4 validates + executes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A5E4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26A5E4"/>
                </a:solidFill>
                <a:latin typeface="Calibri"/>
                <a:ea typeface="Calibri"/>
                <a:cs typeface="Calibri"/>
                <a:sym typeface="Calibri"/>
              </a:rPr>
              <a:t>Broadcast to every browser via SSE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/>
      <p:sp>
        <p:nvSpPr>
          <p:cNvPr id="231" name="Google Shape;231;p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5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SECTION 3 — S5 DEEP DIVE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5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Code Nodes — JavaScript that shapes the data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Rounded Rectangle 233"/>
          <p:cNvSpPr/>
          <p:nvPr/>
        </p:nvSpPr>
        <p:spPr>
          <a:xfrm>
            <a:off x="365760" y="1170432"/>
            <a:ext cx="4160520" cy="3246120"/>
          </a:xfrm>
          <a:prstGeom prst="roundRect">
            <a:avLst/>
          </a:prstGeom>
          <a:solidFill>
            <a:srgbClr val="101B2E"/>
          </a:solidFill>
          <a:ln w="12700">
            <a:solidFill>
              <a:srgbClr val="21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530352" y="1280160"/>
            <a:ext cx="3831335" cy="3026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00D4FF"/>
                </a:solidFill>
                <a:latin typeface="Consolas"/>
              </a:rPr>
              <a:t>① Dedup Filter — drop repeat alerts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8C9AB0"/>
                </a:solidFill>
                <a:latin typeface="Consolas"/>
              </a:rPr>
              <a:t>// key separates firing vs resolved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const key =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`${alertname}:${namespace}:${status}`;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const s = $getWorkflowStaticData('global');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0D4FF"/>
                </a:solidFill>
                <a:latin typeface="Consolas"/>
              </a:rPr>
              <a:t>if (s.seen[key] &amp;&amp; now - s.seen[key]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0D4FF"/>
                </a:solidFill>
                <a:latin typeface="Consolas"/>
              </a:rPr>
              <a:t>      &lt; 600000)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return [{json:{deduped:true}}];  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8C9AB0"/>
                </a:solidFill>
                <a:latin typeface="Consolas"/>
              </a:rPr>
              <a:t>// drop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s.seen[key] = now;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8C9AB0"/>
                </a:solidFill>
                <a:latin typeface="Consolas"/>
              </a:rPr>
              <a:t>   // 10-min window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8C9AB0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FFC44D"/>
                </a:solidFill>
                <a:latin typeface="Consolas"/>
              </a:rPr>
              <a:t>⚡ a run_id label bypasses dedup in tests</a:t>
            </a:r>
          </a:p>
        </p:txBody>
      </p:sp>
      <p:sp>
        <p:nvSpPr>
          <p:cNvPr id="236" name="Rounded Rectangle 235"/>
          <p:cNvSpPr/>
          <p:nvPr/>
        </p:nvSpPr>
        <p:spPr>
          <a:xfrm>
            <a:off x="4617720" y="1170432"/>
            <a:ext cx="4160520" cy="3246120"/>
          </a:xfrm>
          <a:prstGeom prst="roundRect">
            <a:avLst/>
          </a:prstGeom>
          <a:solidFill>
            <a:srgbClr val="101B2E"/>
          </a:solidFill>
          <a:ln w="12700">
            <a:solidFill>
              <a:srgbClr val="21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4782312" y="1280160"/>
            <a:ext cx="3831335" cy="3026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FFC44D"/>
                </a:solidFill>
                <a:latin typeface="Consolas"/>
              </a:rPr>
              <a:t>② Extract Brief + Signal Plan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8C9AB0"/>
                </a:solidFill>
                <a:latin typeface="Consolas"/>
              </a:rPr>
              <a:t>// PLAN the queries — do NOT run them here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const signalMap = {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TargetAppCPUStress: [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 {query:`target_chaos_cpu_active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         {namespace="${ns}"}`},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 {query:`increase(kube_pod_…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         _restarts_total[5m])`} ]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};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8C9AB0"/>
                </a:solidFill>
                <a:latin typeface="Consolas"/>
              </a:rPr>
              <a:t>// escalation gate from real status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0D4FF"/>
                </a:solidFill>
                <a:latin typeface="Consolas"/>
              </a:rPr>
              <a:t>const confidenceLabel =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0D4FF"/>
                </a:solidFill>
                <a:latin typeface="Consolas"/>
              </a:rPr>
              <a:t>  status==='firing' ? 'HIGH' : 'LOW';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365760" y="4626864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35E09A"/>
                </a:solidFill>
                <a:latin typeface="Consolas"/>
              </a:rPr>
              <a:t>Code nodes CANNOT make HTTP calls — they only shape data. The AI runs the planned queries via its promql tool.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/>
      <p:sp>
        <p:nvSpPr>
          <p:cNvPr id="231" name="Google Shape;231;p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5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SECTION 3 — S5 DEEP DIVE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5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 AI Agent — model + tools + brief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Rounded Rectangle 233"/>
          <p:cNvSpPr/>
          <p:nvPr/>
        </p:nvSpPr>
        <p:spPr>
          <a:xfrm>
            <a:off x="365760" y="1170432"/>
            <a:ext cx="4160520" cy="3246120"/>
          </a:xfrm>
          <a:prstGeom prst="roundRect">
            <a:avLst/>
          </a:prstGeom>
          <a:solidFill>
            <a:srgbClr val="101B2E"/>
          </a:solidFill>
          <a:ln w="12700">
            <a:solidFill>
              <a:srgbClr val="21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530352" y="1280160"/>
            <a:ext cx="3831335" cy="3026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00D4FF"/>
                </a:solidFill>
                <a:latin typeface="Consolas"/>
              </a:rPr>
              <a:t>Brain &amp; Brief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0D4FF"/>
                </a:solidFill>
                <a:latin typeface="Consolas"/>
              </a:rPr>
              <a:t>ai_languageModel  → Gemini Chat Model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8C9AB0"/>
                </a:solidFill>
                <a:latin typeface="Consolas"/>
              </a:rPr>
              <a:t>   the reasoning engine (the "brain")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8C9AB0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0D4FF"/>
                </a:solidFill>
                <a:latin typeface="Consolas"/>
              </a:rPr>
              <a:t>main (text)  → the investigation brief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'Alert: '      + alertname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'Status: '     + firing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'Signals to verify:'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 target_chaos_cpu_active{…}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 increase(kube_pod_…restarts[5m])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8C9AB0"/>
                </a:solidFill>
                <a:latin typeface="Consolas"/>
              </a:rPr>
              <a:t>  → the AI runs these live, then reasons</a:t>
            </a:r>
          </a:p>
        </p:txBody>
      </p:sp>
      <p:sp>
        <p:nvSpPr>
          <p:cNvPr id="236" name="Rounded Rectangle 235"/>
          <p:cNvSpPr/>
          <p:nvPr/>
        </p:nvSpPr>
        <p:spPr>
          <a:xfrm>
            <a:off x="4617720" y="1170432"/>
            <a:ext cx="4160520" cy="3246120"/>
          </a:xfrm>
          <a:prstGeom prst="roundRect">
            <a:avLst/>
          </a:prstGeom>
          <a:solidFill>
            <a:srgbClr val="101B2E"/>
          </a:solidFill>
          <a:ln w="12700">
            <a:solidFill>
              <a:srgbClr val="21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4782312" y="1280160"/>
            <a:ext cx="3831335" cy="3026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35E09A"/>
                </a:solidFill>
                <a:latin typeface="Consolas"/>
              </a:rPr>
              <a:t>Hands  →  ai_tool  (toolHttpRequest)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0D4FF"/>
                </a:solidFill>
                <a:latin typeface="Consolas"/>
              </a:rPr>
              <a:t>kubectl_read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POST mcp-server…:8000/tools/kubectl-read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jsonBody: {"command": "{command}"}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FFC44D"/>
                </a:solidFill>
                <a:latin typeface="Consolas"/>
              </a:rPr>
              <a:t>          ↑ the AI fills {command}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8C9AB0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0D4FF"/>
                </a:solidFill>
                <a:latin typeface="Consolas"/>
              </a:rPr>
              <a:t>promql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POST mcp-server…:8000/tools/promql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parametersBody: query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FFC44D"/>
                </a:solidFill>
                <a:latin typeface="Consolas"/>
              </a:rPr>
              <a:t>          ↑ the AI fills query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8C9AB0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8C9AB0"/>
                </a:solidFill>
                <a:latin typeface="Consolas"/>
              </a:rPr>
              <a:t> toolDescription tells the AI WHEN to call it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365760" y="4626864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35E09A"/>
                </a:solidFill>
                <a:latin typeface="Consolas"/>
              </a:rPr>
              <a:t>Three wires into one node: ai_languageModel (brain) · ai_tool (hands) · main (brief in → assessment out).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C18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96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6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SECTION 3 — S5 DEEP DIVE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6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 SRE Methodology Prompt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1" name="Google Shape;291;p6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2" name="Google Shape;292;p6"/>
          <p:cNvSpPr/>
          <p:nvPr/>
        </p:nvSpPr>
        <p:spPr>
          <a:xfrm>
            <a:off x="274320" y="1298448"/>
            <a:ext cx="3474720" cy="361188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6"/>
          <p:cNvSpPr/>
          <p:nvPr/>
        </p:nvSpPr>
        <p:spPr>
          <a:xfrm>
            <a:off x="274320" y="1298448"/>
            <a:ext cx="3474720" cy="384048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6"/>
          <p:cNvSpPr/>
          <p:nvPr/>
        </p:nvSpPr>
        <p:spPr>
          <a:xfrm>
            <a:off x="274320" y="1298448"/>
            <a:ext cx="3474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🧱  5 INVESTIGATION LAYERS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6"/>
          <p:cNvSpPr/>
          <p:nvPr/>
        </p:nvSpPr>
        <p:spPr>
          <a:xfrm>
            <a:off x="411480" y="1828800"/>
            <a:ext cx="320040" cy="438912"/>
          </a:xfrm>
          <a:prstGeom prst="rect">
            <a:avLst/>
          </a:prstGeom>
          <a:solidFill>
            <a:srgbClr val="FF4444">
              <a:alpha val="30196"/>
            </a:srgbClr>
          </a:solidFill>
          <a:ln cap="flat" cmpd="sng" w="12700">
            <a:solidFill>
              <a:srgbClr val="FF4444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6"/>
          <p:cNvSpPr/>
          <p:nvPr/>
        </p:nvSpPr>
        <p:spPr>
          <a:xfrm>
            <a:off x="411480" y="1828800"/>
            <a:ext cx="320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4444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6"/>
          <p:cNvSpPr/>
          <p:nvPr/>
        </p:nvSpPr>
        <p:spPr>
          <a:xfrm>
            <a:off x="804672" y="1847088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FF4444"/>
                </a:solidFill>
                <a:latin typeface="Trebuchet MS"/>
                <a:ea typeface="Trebuchet MS"/>
                <a:cs typeface="Trebuchet MS"/>
                <a:sym typeface="Trebuchet MS"/>
              </a:rPr>
              <a:t>TRAFFIC INGRESS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6"/>
          <p:cNvSpPr/>
          <p:nvPr/>
        </p:nvSpPr>
        <p:spPr>
          <a:xfrm>
            <a:off x="804672" y="204825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LB, Service, Ingress, endpoints — can traffic reach the app?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6"/>
          <p:cNvSpPr/>
          <p:nvPr/>
        </p:nvSpPr>
        <p:spPr>
          <a:xfrm>
            <a:off x="411480" y="2432304"/>
            <a:ext cx="320040" cy="438912"/>
          </a:xfrm>
          <a:prstGeom prst="rect">
            <a:avLst/>
          </a:prstGeom>
          <a:solidFill>
            <a:srgbClr val="FF6B35">
              <a:alpha val="30196"/>
            </a:srgbClr>
          </a:solidFill>
          <a:ln cap="flat" cmpd="sng" w="12700">
            <a:solidFill>
              <a:srgbClr val="FF6B3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6"/>
          <p:cNvSpPr/>
          <p:nvPr/>
        </p:nvSpPr>
        <p:spPr>
          <a:xfrm>
            <a:off x="411480" y="2432304"/>
            <a:ext cx="320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6B35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6"/>
          <p:cNvSpPr/>
          <p:nvPr/>
        </p:nvSpPr>
        <p:spPr>
          <a:xfrm>
            <a:off x="804672" y="245059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SCHEDULING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6"/>
          <p:cNvSpPr/>
          <p:nvPr/>
        </p:nvSpPr>
        <p:spPr>
          <a:xfrm>
            <a:off x="804672" y="2651760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Pod state, node assignment, resource availability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6"/>
          <p:cNvSpPr/>
          <p:nvPr/>
        </p:nvSpPr>
        <p:spPr>
          <a:xfrm>
            <a:off x="411480" y="3035808"/>
            <a:ext cx="320040" cy="438912"/>
          </a:xfrm>
          <a:prstGeom prst="rect">
            <a:avLst/>
          </a:prstGeom>
          <a:solidFill>
            <a:srgbClr val="FFD700">
              <a:alpha val="30196"/>
            </a:srgbClr>
          </a:solidFill>
          <a:ln cap="flat" cmpd="sng" w="12700">
            <a:solidFill>
              <a:srgbClr val="FFD70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6"/>
          <p:cNvSpPr/>
          <p:nvPr/>
        </p:nvSpPr>
        <p:spPr>
          <a:xfrm>
            <a:off x="411480" y="3035808"/>
            <a:ext cx="320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D700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6"/>
          <p:cNvSpPr/>
          <p:nvPr/>
        </p:nvSpPr>
        <p:spPr>
          <a:xfrm>
            <a:off x="804672" y="3054096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FFD700"/>
                </a:solidFill>
                <a:latin typeface="Trebuchet MS"/>
                <a:ea typeface="Trebuchet MS"/>
                <a:cs typeface="Trebuchet MS"/>
                <a:sym typeface="Trebuchet MS"/>
              </a:rPr>
              <a:t>RUNTIME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6"/>
          <p:cNvSpPr/>
          <p:nvPr/>
        </p:nvSpPr>
        <p:spPr>
          <a:xfrm>
            <a:off x="804672" y="325526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CPU/memory limits, restarts, OOMKill, throttling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6"/>
          <p:cNvSpPr/>
          <p:nvPr/>
        </p:nvSpPr>
        <p:spPr>
          <a:xfrm>
            <a:off x="411480" y="3639312"/>
            <a:ext cx="320040" cy="438912"/>
          </a:xfrm>
          <a:prstGeom prst="rect">
            <a:avLst/>
          </a:prstGeom>
          <a:solidFill>
            <a:srgbClr val="00D4FF">
              <a:alpha val="30196"/>
            </a:srgbClr>
          </a:solidFill>
          <a:ln cap="flat" cmpd="sng" w="12700">
            <a:solidFill>
              <a:srgbClr val="00D4FF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6"/>
          <p:cNvSpPr/>
          <p:nvPr/>
        </p:nvSpPr>
        <p:spPr>
          <a:xfrm>
            <a:off x="411480" y="3639312"/>
            <a:ext cx="320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6"/>
          <p:cNvSpPr/>
          <p:nvPr/>
        </p:nvSpPr>
        <p:spPr>
          <a:xfrm>
            <a:off x="804672" y="365760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APPLICATION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6"/>
          <p:cNvSpPr/>
          <p:nvPr/>
        </p:nvSpPr>
        <p:spPr>
          <a:xfrm>
            <a:off x="804672" y="385876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Error rate, latency, HTTP status codes inside the pod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6"/>
          <p:cNvSpPr/>
          <p:nvPr/>
        </p:nvSpPr>
        <p:spPr>
          <a:xfrm>
            <a:off x="411480" y="4242816"/>
            <a:ext cx="320040" cy="438912"/>
          </a:xfrm>
          <a:prstGeom prst="rect">
            <a:avLst/>
          </a:prstGeom>
          <a:solidFill>
            <a:srgbClr val="7B2FFF">
              <a:alpha val="30196"/>
            </a:srgbClr>
          </a:solidFill>
          <a:ln cap="flat" cmpd="sng" w="12700">
            <a:solidFill>
              <a:srgbClr val="7B2FFF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6"/>
          <p:cNvSpPr/>
          <p:nvPr/>
        </p:nvSpPr>
        <p:spPr>
          <a:xfrm>
            <a:off x="411480" y="4242816"/>
            <a:ext cx="320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7B2FFF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6"/>
          <p:cNvSpPr/>
          <p:nvPr/>
        </p:nvSpPr>
        <p:spPr>
          <a:xfrm>
            <a:off x="804672" y="4261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7B2FFF"/>
                </a:solidFill>
                <a:latin typeface="Trebuchet MS"/>
                <a:ea typeface="Trebuchet MS"/>
                <a:cs typeface="Trebuchet MS"/>
                <a:sym typeface="Trebuchet MS"/>
              </a:rPr>
              <a:t>DEPENDENCIES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6"/>
          <p:cNvSpPr/>
          <p:nvPr/>
        </p:nvSpPr>
        <p:spPr>
          <a:xfrm>
            <a:off x="804672" y="4462272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ConfigMaps, secrets, PVCs, downstream APIs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6"/>
          <p:cNvSpPr/>
          <p:nvPr/>
        </p:nvSpPr>
        <p:spPr>
          <a:xfrm>
            <a:off x="4023360" y="1298448"/>
            <a:ext cx="4846320" cy="361188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6"/>
          <p:cNvSpPr/>
          <p:nvPr/>
        </p:nvSpPr>
        <p:spPr>
          <a:xfrm>
            <a:off x="4023360" y="1298448"/>
            <a:ext cx="4846320" cy="384048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6"/>
          <p:cNvSpPr/>
          <p:nvPr/>
        </p:nvSpPr>
        <p:spPr>
          <a:xfrm>
            <a:off x="4023360" y="1298448"/>
            <a:ext cx="4846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⚡  INVESTIGATION PROTOCOL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6"/>
          <p:cNvSpPr/>
          <p:nvPr/>
        </p:nvSpPr>
        <p:spPr>
          <a:xfrm>
            <a:off x="4160520" y="1847088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Step 1 — ORIENT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6"/>
          <p:cNvSpPr/>
          <p:nvPr/>
        </p:nvSpPr>
        <p:spPr>
          <a:xfrm>
            <a:off x="4297680" y="2121408"/>
            <a:ext cx="4389120" cy="22860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6"/>
          <p:cNvSpPr/>
          <p:nvPr/>
        </p:nvSpPr>
        <p:spPr>
          <a:xfrm>
            <a:off x="4343400" y="2121408"/>
            <a:ext cx="4297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kubectl get all -n workshop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6"/>
          <p:cNvSpPr/>
          <p:nvPr/>
        </p:nvSpPr>
        <p:spPr>
          <a:xfrm>
            <a:off x="4297680" y="2368296"/>
            <a:ext cx="4389120" cy="22860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6"/>
          <p:cNvSpPr/>
          <p:nvPr/>
        </p:nvSpPr>
        <p:spPr>
          <a:xfrm>
            <a:off x="4343400" y="2368296"/>
            <a:ext cx="4297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kubectl get events -n workshop --sort-by=.lastTimestamp | tail -20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6"/>
          <p:cNvSpPr/>
          <p:nvPr/>
        </p:nvSpPr>
        <p:spPr>
          <a:xfrm>
            <a:off x="4297680" y="2615184"/>
            <a:ext cx="4389120" cy="22860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6"/>
          <p:cNvSpPr/>
          <p:nvPr/>
        </p:nvSpPr>
        <p:spPr>
          <a:xfrm>
            <a:off x="4343400" y="2615184"/>
            <a:ext cx="4297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promql: target_chaos_* broad scan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6"/>
          <p:cNvSpPr/>
          <p:nvPr/>
        </p:nvSpPr>
        <p:spPr>
          <a:xfrm>
            <a:off x="4160520" y="2935224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Step 2 — HYPOTHESIZE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6"/>
          <p:cNvSpPr/>
          <p:nvPr/>
        </p:nvSpPr>
        <p:spPr>
          <a:xfrm>
            <a:off x="4297680" y="3209544"/>
            <a:ext cx="4389120" cy="22860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6"/>
          <p:cNvSpPr/>
          <p:nvPr/>
        </p:nvSpPr>
        <p:spPr>
          <a:xfrm>
            <a:off x="4343400" y="3209544"/>
            <a:ext cx="4297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For each hypothesis: "What call CONFIRMS or ELIMINATES this?"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6"/>
          <p:cNvSpPr/>
          <p:nvPr/>
        </p:nvSpPr>
        <p:spPr>
          <a:xfrm>
            <a:off x="4297680" y="3456432"/>
            <a:ext cx="4389120" cy="22860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6"/>
          <p:cNvSpPr/>
          <p:nvPr/>
        </p:nvSpPr>
        <p:spPr>
          <a:xfrm>
            <a:off x="4343400" y="3456432"/>
            <a:ext cx="4297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Run it. Update hypothesis. Repeat.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6"/>
          <p:cNvSpPr/>
          <p:nvPr/>
        </p:nvSpPr>
        <p:spPr>
          <a:xfrm>
            <a:off x="4297680" y="3703320"/>
            <a:ext cx="4389120" cy="22860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6"/>
          <p:cNvSpPr/>
          <p:nvPr/>
        </p:nvSpPr>
        <p:spPr>
          <a:xfrm>
            <a:off x="4343400" y="3703320"/>
            <a:ext cx="4297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Do not run calls that don't change your understanding.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6"/>
          <p:cNvSpPr/>
          <p:nvPr/>
        </p:nvSpPr>
        <p:spPr>
          <a:xfrm>
            <a:off x="4160520" y="402336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Step 3 — OWNERSHIP CHECK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6"/>
          <p:cNvSpPr/>
          <p:nvPr/>
        </p:nvSpPr>
        <p:spPr>
          <a:xfrm>
            <a:off x="4297680" y="4297680"/>
            <a:ext cx="4389120" cy="22860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6"/>
          <p:cNvSpPr/>
          <p:nvPr/>
        </p:nvSpPr>
        <p:spPr>
          <a:xfrm>
            <a:off x="4343400" y="4297680"/>
            <a:ext cx="4297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Deployment exists → kubectl rollout restart deployment/&lt;n&gt;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6"/>
          <p:cNvSpPr/>
          <p:nvPr/>
        </p:nvSpPr>
        <p:spPr>
          <a:xfrm>
            <a:off x="4297680" y="4544568"/>
            <a:ext cx="4389120" cy="22860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6"/>
          <p:cNvSpPr/>
          <p:nvPr/>
        </p:nvSpPr>
        <p:spPr>
          <a:xfrm>
            <a:off x="4343400" y="4544568"/>
            <a:ext cx="4297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No controller → kubectl delete pod &lt;n&gt; ⚠️ destructive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6"/>
          <p:cNvSpPr/>
          <p:nvPr/>
        </p:nvSpPr>
        <p:spPr>
          <a:xfrm>
            <a:off x="4297680" y="4791456"/>
            <a:ext cx="4389120" cy="22860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6"/>
          <p:cNvSpPr/>
          <p:nvPr/>
        </p:nvSpPr>
        <p:spPr>
          <a:xfrm>
            <a:off x="4343400" y="4791456"/>
            <a:ext cx="4297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Output: SRE_ACTION: kubectl &lt;exact command&gt;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/>
      <p:sp>
        <p:nvSpPr>
          <p:cNvPr id="231" name="Google Shape;231;p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5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SECTION 3 — S5 DEEP DIVE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5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HTTP Request Nodes — write to MCP &amp; dashboard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Rounded Rectangle 233"/>
          <p:cNvSpPr/>
          <p:nvPr/>
        </p:nvSpPr>
        <p:spPr>
          <a:xfrm>
            <a:off x="365760" y="1170432"/>
            <a:ext cx="4160520" cy="3246120"/>
          </a:xfrm>
          <a:prstGeom prst="roundRect">
            <a:avLst/>
          </a:prstGeom>
          <a:solidFill>
            <a:srgbClr val="101B2E"/>
          </a:solidFill>
          <a:ln w="12700">
            <a:solidFill>
              <a:srgbClr val="21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530352" y="1280160"/>
            <a:ext cx="3831335" cy="3026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00D4FF"/>
                </a:solidFill>
                <a:latin typeface="Consolas"/>
              </a:rPr>
              <a:t>⑦ Store Incident  → MCP (SQLite)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POST mcp-server…:8000/incidents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body = JSON.stringify({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alertname, namespace, pod,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0D4FF"/>
                </a:solidFill>
                <a:latin typeface="Consolas"/>
              </a:rPr>
              <a:t>  command: (output.match(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0D4FF"/>
                </a:solidFill>
                <a:latin typeface="Consolas"/>
              </a:rPr>
              <a:t>    /SRE_ACTION:\s*(kubectl[^\n]+)/)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  ||[])[1]?.replace(/^kubectl\s+/i,'')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  || 'none'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})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FFC44D"/>
                </a:solidFill>
                <a:latin typeface="Consolas"/>
              </a:rPr>
              <a:t>→ returns { key:"k42a" }  links S5 → S4</a:t>
            </a:r>
          </a:p>
        </p:txBody>
      </p:sp>
      <p:sp>
        <p:nvSpPr>
          <p:cNvPr id="236" name="Rounded Rectangle 235"/>
          <p:cNvSpPr/>
          <p:nvPr/>
        </p:nvSpPr>
        <p:spPr>
          <a:xfrm>
            <a:off x="4617720" y="1170432"/>
            <a:ext cx="4160520" cy="3246120"/>
          </a:xfrm>
          <a:prstGeom prst="roundRect">
            <a:avLst/>
          </a:prstGeom>
          <a:solidFill>
            <a:srgbClr val="101B2E"/>
          </a:solidFill>
          <a:ln w="12700">
            <a:solidFill>
              <a:srgbClr val="21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4782312" y="1280160"/>
            <a:ext cx="3831335" cy="3026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35E09A"/>
                </a:solidFill>
                <a:latin typeface="Consolas"/>
              </a:rPr>
              <a:t>⑧ Send to Dashboard Chat  → SSE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POST clawops-dashboard…/api/chat/send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bodyParameters: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0D4FF"/>
                </a:solidFill>
                <a:latin typeface="Consolas"/>
              </a:rPr>
              <a:t>  role    = agent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content = 🚨 {alertname} detected!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          + AI assessment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          + /approve &lt;totp&gt; {key}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0D4FF"/>
                </a:solidFill>
                <a:latin typeface="Consolas"/>
              </a:rPr>
              <a:t>  meta    = {key}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8C9AB0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FFC44D"/>
                </a:solidFill>
                <a:latin typeface="Consolas"/>
              </a:rPr>
              <a:t>→ broadcast to every browser via SSE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365760" y="4626864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35E09A"/>
                </a:solidFill>
                <a:latin typeface="Consolas"/>
              </a:rPr>
              <a:t>Why HTTP Request nodes (not Code)? n8n's Code sandbox blocks outbound HTTP — these nodes are the only way to call out.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C18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96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7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SECTION 3 — LIVE DEMO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7"/>
          <p:cNvSpPr/>
          <p:nvPr/>
        </p:nvSpPr>
        <p:spPr>
          <a:xfrm>
            <a:off x="3200400" y="640080"/>
            <a:ext cx="2743200" cy="2743200"/>
          </a:xfrm>
          <a:prstGeom prst="ellipse">
            <a:avLst/>
          </a:prstGeom>
          <a:solidFill>
            <a:srgbClr val="00C896">
              <a:alpha val="7843"/>
            </a:srgbClr>
          </a:solidFill>
          <a:ln cap="flat" cmpd="sng" w="12700">
            <a:solidFill>
              <a:srgbClr val="00C89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7"/>
          <p:cNvSpPr/>
          <p:nvPr/>
        </p:nvSpPr>
        <p:spPr>
          <a:xfrm>
            <a:off x="3566160" y="1005840"/>
            <a:ext cx="2011680" cy="2011680"/>
          </a:xfrm>
          <a:prstGeom prst="ellipse">
            <a:avLst/>
          </a:prstGeom>
          <a:solidFill>
            <a:srgbClr val="00C896">
              <a:alpha val="14901"/>
            </a:srgbClr>
          </a:solidFill>
          <a:ln cap="flat" cmpd="sng" w="12700">
            <a:solidFill>
              <a:srgbClr val="00C896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7"/>
          <p:cNvSpPr/>
          <p:nvPr/>
        </p:nvSpPr>
        <p:spPr>
          <a:xfrm>
            <a:off x="3566160" y="1188720"/>
            <a:ext cx="2011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Calibri"/>
              <a:buNone/>
            </a:pPr>
            <a:r>
              <a:rPr b="0" i="0" lang="en-US" sz="5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🎯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7"/>
          <p:cNvSpPr/>
          <p:nvPr/>
        </p:nvSpPr>
        <p:spPr>
          <a:xfrm>
            <a:off x="3200400" y="21488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LIVE DEMO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7"/>
          <p:cNvSpPr/>
          <p:nvPr/>
        </p:nvSpPr>
        <p:spPr>
          <a:xfrm>
            <a:off x="274320" y="749808"/>
            <a:ext cx="2743200" cy="384048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7"/>
          <p:cNvSpPr/>
          <p:nvPr/>
        </p:nvSpPr>
        <p:spPr>
          <a:xfrm>
            <a:off x="274320" y="804672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WHAT WE'LL 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7"/>
          <p:cNvSpPr/>
          <p:nvPr/>
        </p:nvSpPr>
        <p:spPr>
          <a:xfrm>
            <a:off x="411480" y="1225296"/>
            <a:ext cx="256032" cy="256032"/>
          </a:xfrm>
          <a:prstGeom prst="ellipse">
            <a:avLst/>
          </a:prstGeom>
          <a:solidFill>
            <a:srgbClr val="00C896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7"/>
          <p:cNvSpPr/>
          <p:nvPr/>
        </p:nvSpPr>
        <p:spPr>
          <a:xfrm>
            <a:off x="411480" y="1225296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C1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80C1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7"/>
          <p:cNvSpPr/>
          <p:nvPr/>
        </p:nvSpPr>
        <p:spPr>
          <a:xfrm>
            <a:off x="749808" y="1207008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Dashboard → click CPU Sustained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7"/>
          <p:cNvSpPr/>
          <p:nvPr/>
        </p:nvSpPr>
        <p:spPr>
          <a:xfrm>
            <a:off x="749808" y="1463040"/>
            <a:ext cx="2148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2 cores, 300 seconds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7"/>
          <p:cNvSpPr/>
          <p:nvPr/>
        </p:nvSpPr>
        <p:spPr>
          <a:xfrm>
            <a:off x="411480" y="1755648"/>
            <a:ext cx="256032" cy="256032"/>
          </a:xfrm>
          <a:prstGeom prst="ellipse">
            <a:avLst/>
          </a:prstGeom>
          <a:solidFill>
            <a:srgbClr val="00C896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7"/>
          <p:cNvSpPr/>
          <p:nvPr/>
        </p:nvSpPr>
        <p:spPr>
          <a:xfrm>
            <a:off x="411480" y="1755648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C1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80C1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7"/>
          <p:cNvSpPr/>
          <p:nvPr/>
        </p:nvSpPr>
        <p:spPr>
          <a:xfrm>
            <a:off x="749808" y="1737360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Wait ~25 seconds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7"/>
          <p:cNvSpPr/>
          <p:nvPr/>
        </p:nvSpPr>
        <p:spPr>
          <a:xfrm>
            <a:off x="749808" y="1993392"/>
            <a:ext cx="2148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Prometheus scrape + alert for: window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7"/>
          <p:cNvSpPr/>
          <p:nvPr/>
        </p:nvSpPr>
        <p:spPr>
          <a:xfrm>
            <a:off x="411480" y="2286000"/>
            <a:ext cx="256032" cy="256032"/>
          </a:xfrm>
          <a:prstGeom prst="ellipse">
            <a:avLst/>
          </a:prstGeom>
          <a:solidFill>
            <a:srgbClr val="00C896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7"/>
          <p:cNvSpPr/>
          <p:nvPr/>
        </p:nvSpPr>
        <p:spPr>
          <a:xfrm>
            <a:off x="411480" y="228600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C1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80C1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7"/>
          <p:cNvSpPr/>
          <p:nvPr/>
        </p:nvSpPr>
        <p:spPr>
          <a:xfrm>
            <a:off x="749808" y="2267712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Alertmanager fires S5 webhook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7"/>
          <p:cNvSpPr/>
          <p:nvPr/>
        </p:nvSpPr>
        <p:spPr>
          <a:xfrm>
            <a:off x="749808" y="2523744"/>
            <a:ext cx="2148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Payload arrives at n8n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7"/>
          <p:cNvSpPr/>
          <p:nvPr/>
        </p:nvSpPr>
        <p:spPr>
          <a:xfrm>
            <a:off x="411480" y="2816352"/>
            <a:ext cx="256032" cy="256032"/>
          </a:xfrm>
          <a:prstGeom prst="ellipse">
            <a:avLst/>
          </a:prstGeom>
          <a:solidFill>
            <a:srgbClr val="00C896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7"/>
          <p:cNvSpPr/>
          <p:nvPr/>
        </p:nvSpPr>
        <p:spPr>
          <a:xfrm>
            <a:off x="411480" y="281635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C1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80C1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7"/>
          <p:cNvSpPr/>
          <p:nvPr/>
        </p:nvSpPr>
        <p:spPr>
          <a:xfrm>
            <a:off x="749808" y="2798064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Watch n8n execution in real time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7"/>
          <p:cNvSpPr/>
          <p:nvPr/>
        </p:nvSpPr>
        <p:spPr>
          <a:xfrm>
            <a:off x="749808" y="3054096"/>
            <a:ext cx="2148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See each node light up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7"/>
          <p:cNvSpPr/>
          <p:nvPr/>
        </p:nvSpPr>
        <p:spPr>
          <a:xfrm>
            <a:off x="411480" y="3346704"/>
            <a:ext cx="256032" cy="256032"/>
          </a:xfrm>
          <a:prstGeom prst="ellipse">
            <a:avLst/>
          </a:prstGeom>
          <a:solidFill>
            <a:srgbClr val="00C896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7"/>
          <p:cNvSpPr/>
          <p:nvPr/>
        </p:nvSpPr>
        <p:spPr>
          <a:xfrm>
            <a:off x="411480" y="334670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C1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80C1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7"/>
          <p:cNvSpPr/>
          <p:nvPr/>
        </p:nvSpPr>
        <p:spPr>
          <a:xfrm>
            <a:off x="749808" y="3328416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Dashboard chat message arrives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7"/>
          <p:cNvSpPr/>
          <p:nvPr/>
        </p:nvSpPr>
        <p:spPr>
          <a:xfrm>
            <a:off x="749808" y="3584448"/>
            <a:ext cx="2148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#key, hypothesis trail, SRE_ACTION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7"/>
          <p:cNvSpPr/>
          <p:nvPr/>
        </p:nvSpPr>
        <p:spPr>
          <a:xfrm>
            <a:off x="411480" y="3877056"/>
            <a:ext cx="256032" cy="256032"/>
          </a:xfrm>
          <a:prstGeom prst="ellipse">
            <a:avLst/>
          </a:prstGeom>
          <a:solidFill>
            <a:srgbClr val="00C896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7"/>
          <p:cNvSpPr/>
          <p:nvPr/>
        </p:nvSpPr>
        <p:spPr>
          <a:xfrm>
            <a:off x="411480" y="3877056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C1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80C1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7"/>
          <p:cNvSpPr/>
          <p:nvPr/>
        </p:nvSpPr>
        <p:spPr>
          <a:xfrm>
            <a:off x="749808" y="3858768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Examine the execution trace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7"/>
          <p:cNvSpPr/>
          <p:nvPr/>
        </p:nvSpPr>
        <p:spPr>
          <a:xfrm>
            <a:off x="749808" y="4114800"/>
            <a:ext cx="2148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Gemini's tool calls + reasoning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7"/>
          <p:cNvSpPr/>
          <p:nvPr/>
        </p:nvSpPr>
        <p:spPr>
          <a:xfrm>
            <a:off x="6126480" y="749808"/>
            <a:ext cx="2743200" cy="384048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7"/>
          <p:cNvSpPr/>
          <p:nvPr/>
        </p:nvSpPr>
        <p:spPr>
          <a:xfrm>
            <a:off x="6126480" y="804672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WATCH FOR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7"/>
          <p:cNvSpPr/>
          <p:nvPr/>
        </p:nvSpPr>
        <p:spPr>
          <a:xfrm>
            <a:off x="6236208" y="1243584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🔧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7"/>
          <p:cNvSpPr/>
          <p:nvPr/>
        </p:nvSpPr>
        <p:spPr>
          <a:xfrm>
            <a:off x="6656832" y="1225296"/>
            <a:ext cx="2103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promql tool call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target_chaos_cpu_active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7"/>
          <p:cNvSpPr/>
          <p:nvPr/>
        </p:nvSpPr>
        <p:spPr>
          <a:xfrm>
            <a:off x="6236208" y="1773936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⎈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7"/>
          <p:cNvSpPr/>
          <p:nvPr/>
        </p:nvSpPr>
        <p:spPr>
          <a:xfrm>
            <a:off x="6656832" y="1755648"/>
            <a:ext cx="2103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kubectl_read call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kubectl get pods -n workshop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7"/>
          <p:cNvSpPr/>
          <p:nvPr/>
        </p:nvSpPr>
        <p:spPr>
          <a:xfrm>
            <a:off x="6236208" y="2304288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7"/>
          <p:cNvSpPr/>
          <p:nvPr/>
        </p:nvSpPr>
        <p:spPr>
          <a:xfrm>
            <a:off x="6656832" y="2286000"/>
            <a:ext cx="2103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Gemini's hypothesis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[CONFIRMED] / [ELIMINATED]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7"/>
          <p:cNvSpPr/>
          <p:nvPr/>
        </p:nvSpPr>
        <p:spPr>
          <a:xfrm>
            <a:off x="6236208" y="283464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📌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7"/>
          <p:cNvSpPr/>
          <p:nvPr/>
        </p:nvSpPr>
        <p:spPr>
          <a:xfrm>
            <a:off x="6656832" y="2816352"/>
            <a:ext cx="2103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Confidence: HIGH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(2+ signals confirmed)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7"/>
          <p:cNvSpPr/>
          <p:nvPr/>
        </p:nvSpPr>
        <p:spPr>
          <a:xfrm>
            <a:off x="6236208" y="3364992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7"/>
          <p:cNvSpPr/>
          <p:nvPr/>
        </p:nvSpPr>
        <p:spPr>
          <a:xfrm>
            <a:off x="6656832" y="3346704"/>
            <a:ext cx="2103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SRE_ACTION output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kubectl rollout restart...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7"/>
          <p:cNvSpPr/>
          <p:nvPr/>
        </p:nvSpPr>
        <p:spPr>
          <a:xfrm>
            <a:off x="6236208" y="3895344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7"/>
          <p:cNvSpPr/>
          <p:nvPr/>
        </p:nvSpPr>
        <p:spPr>
          <a:xfrm>
            <a:off x="6656832" y="3877056"/>
            <a:ext cx="2103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Incident key #k42a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Stored in SQLite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TextBox 389"/>
          <p:cNvSpPr txBox="1"/>
          <p:nvPr/>
        </p:nvSpPr>
        <p:spPr>
          <a:xfrm>
            <a:off x="411480" y="4553712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  <a:latin typeface="Consolas"/>
              </a:rPr>
              <a:t>▶  Replay it live — open ◆ ARCHITECTURE → the Incident Lifecycle tab to watch this exact flow animated, node by node.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C18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2FFF"/>
          </a:solidFill>
          <a:ln cap="flat" cmpd="sng" w="1270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8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SECTION 3 — S5 DEEP DIVE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8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Reading the S5 Output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8" name="Google Shape;398;p8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9" name="Google Shape;399;p8"/>
          <p:cNvSpPr/>
          <p:nvPr/>
        </p:nvSpPr>
        <p:spPr>
          <a:xfrm>
            <a:off x="274320" y="1298448"/>
            <a:ext cx="4114800" cy="361188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8100000" dist="5080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8"/>
          <p:cNvSpPr/>
          <p:nvPr/>
        </p:nvSpPr>
        <p:spPr>
          <a:xfrm>
            <a:off x="274320" y="1298448"/>
            <a:ext cx="4114800" cy="32004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8"/>
          <p:cNvSpPr/>
          <p:nvPr/>
        </p:nvSpPr>
        <p:spPr>
          <a:xfrm>
            <a:off x="274320" y="1298448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💬 Dashboard Chat — CHAT tab · role: agent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8"/>
          <p:cNvSpPr/>
          <p:nvPr/>
        </p:nvSpPr>
        <p:spPr>
          <a:xfrm>
            <a:off x="411480" y="1691640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🚨 TargetAppCPUStress detected!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8"/>
          <p:cNvSpPr/>
          <p:nvPr/>
        </p:nvSpPr>
        <p:spPr>
          <a:xfrm>
            <a:off x="411480" y="1929384"/>
            <a:ext cx="3840480" cy="226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━━━━━━━━━━━━━━━━━━━━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8"/>
          <p:cNvSpPr/>
          <p:nvPr/>
        </p:nvSpPr>
        <p:spPr>
          <a:xfrm>
            <a:off x="411480" y="2137867"/>
            <a:ext cx="3840480" cy="2414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📍 target-app-xyz / workshop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8"/>
          <p:cNvSpPr/>
          <p:nvPr/>
        </p:nvSpPr>
        <p:spPr>
          <a:xfrm>
            <a:off x="411480" y="2360981"/>
            <a:ext cx="3840480" cy="2414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🏷 TargetAppCPUStress — 🔥 FIRING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8"/>
          <p:cNvSpPr/>
          <p:nvPr/>
        </p:nvSpPr>
        <p:spPr>
          <a:xfrm>
            <a:off x="411480" y="2584094"/>
            <a:ext cx="3840480" cy="2414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⏱ Duration: 4m 12s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8"/>
          <p:cNvSpPr/>
          <p:nvPr/>
        </p:nvSpPr>
        <p:spPr>
          <a:xfrm>
            <a:off x="411480" y="2807208"/>
            <a:ext cx="3840480" cy="2414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4444"/>
                </a:solidFill>
                <a:latin typeface="Calibri"/>
                <a:ea typeface="Calibri"/>
                <a:cs typeface="Calibri"/>
                <a:sym typeface="Calibri"/>
              </a:rPr>
              <a:t>🔍 Confidence: 🔴 HIGH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8"/>
          <p:cNvSpPr/>
          <p:nvPr/>
        </p:nvSpPr>
        <p:spPr>
          <a:xfrm>
            <a:off x="411480" y="2994151"/>
            <a:ext cx="38406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🧠 AI Assessment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8"/>
          <p:cNvSpPr/>
          <p:nvPr/>
        </p:nvSpPr>
        <p:spPr>
          <a:xfrm>
            <a:off x="411480" y="3308299"/>
            <a:ext cx="3840480" cy="226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[CONFIRMED] target_chaos_cpu_active=1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[CONFIRMED] CPU usage 0.68 cores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[ELIMINATED] No restarts, no scheduling issues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Layer 3 — RUNTIME: CPU pressure confirmed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8"/>
          <p:cNvSpPr/>
          <p:nvPr/>
        </p:nvSpPr>
        <p:spPr>
          <a:xfrm>
            <a:off x="411480" y="3639923"/>
            <a:ext cx="38406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✅ Recommended Action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8"/>
          <p:cNvSpPr/>
          <p:nvPr/>
        </p:nvSpPr>
        <p:spPr>
          <a:xfrm>
            <a:off x="411480" y="3851657"/>
            <a:ext cx="38406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kubectl rollout restart deployment/target-app -n workshop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8"/>
          <p:cNvSpPr/>
          <p:nvPr/>
        </p:nvSpPr>
        <p:spPr>
          <a:xfrm>
            <a:off x="411480" y="4058107"/>
            <a:ext cx="3840480" cy="2414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A5E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6A5E4"/>
                </a:solidFill>
                <a:latin typeface="Calibri"/>
                <a:ea typeface="Calibri"/>
                <a:cs typeface="Calibri"/>
                <a:sym typeface="Calibri"/>
              </a:rPr>
              <a:t>🔐 To approve: /approve &lt;totp&gt; k42a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8"/>
          <p:cNvSpPr/>
          <p:nvPr/>
        </p:nvSpPr>
        <p:spPr>
          <a:xfrm>
            <a:off x="411480" y="4281221"/>
            <a:ext cx="3840480" cy="226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━━━━━━━━━━━━━━━━━━━━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8"/>
          <p:cNvSpPr/>
          <p:nvPr/>
        </p:nvSpPr>
        <p:spPr>
          <a:xfrm>
            <a:off x="411480" y="4489704"/>
            <a:ext cx="3840480" cy="226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🕐 2026-04-12 14:47:06 UTC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5" name="Google Shape;415;p8"/>
          <p:cNvCxnSpPr/>
          <p:nvPr/>
        </p:nvCxnSpPr>
        <p:spPr>
          <a:xfrm>
            <a:off x="4389120" y="1627632"/>
            <a:ext cx="365760" cy="0"/>
          </a:xfrm>
          <a:prstGeom prst="straightConnector1">
            <a:avLst/>
          </a:prstGeom>
          <a:noFill/>
          <a:ln cap="flat" cmpd="sng" w="12700">
            <a:solidFill>
              <a:srgbClr val="FFD7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416" name="Google Shape;416;p8"/>
          <p:cNvSpPr/>
          <p:nvPr/>
        </p:nvSpPr>
        <p:spPr>
          <a:xfrm>
            <a:off x="4754880" y="1536192"/>
            <a:ext cx="4114800" cy="56692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8"/>
          <p:cNvSpPr/>
          <p:nvPr/>
        </p:nvSpPr>
        <p:spPr>
          <a:xfrm>
            <a:off x="4846320" y="1554480"/>
            <a:ext cx="3931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D700"/>
                </a:solidFill>
                <a:latin typeface="Trebuchet MS"/>
                <a:ea typeface="Trebuchet MS"/>
                <a:cs typeface="Trebuchet MS"/>
                <a:sym typeface="Trebuchet MS"/>
              </a:rPr>
              <a:t>Incident Key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8"/>
          <p:cNvSpPr/>
          <p:nvPr/>
        </p:nvSpPr>
        <p:spPr>
          <a:xfrm>
            <a:off x="4846320" y="1792224"/>
            <a:ext cx="39319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4-char unique ID (k42a)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Links S5 alert → S4 execution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Stored in SQLite with kubectl command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9" name="Google Shape;419;p8"/>
          <p:cNvCxnSpPr/>
          <p:nvPr/>
        </p:nvCxnSpPr>
        <p:spPr>
          <a:xfrm>
            <a:off x="4389120" y="2240280"/>
            <a:ext cx="365760" cy="0"/>
          </a:xfrm>
          <a:prstGeom prst="straightConnector1">
            <a:avLst/>
          </a:prstGeom>
          <a:noFill/>
          <a:ln cap="flat" cmpd="sng" w="12700">
            <a:solidFill>
              <a:srgbClr val="00C896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420" name="Google Shape;420;p8"/>
          <p:cNvSpPr/>
          <p:nvPr/>
        </p:nvSpPr>
        <p:spPr>
          <a:xfrm>
            <a:off x="4754880" y="2148840"/>
            <a:ext cx="4114800" cy="56692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8"/>
          <p:cNvSpPr/>
          <p:nvPr/>
        </p:nvSpPr>
        <p:spPr>
          <a:xfrm>
            <a:off x="4846320" y="2167128"/>
            <a:ext cx="3931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Confidence Badge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8"/>
          <p:cNvSpPr/>
          <p:nvPr/>
        </p:nvSpPr>
        <p:spPr>
          <a:xfrm>
            <a:off x="4846320" y="2404872"/>
            <a:ext cx="39319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HIGH = 2+ independent signals confirmed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MEDIUM = 1 signal, no contradicting data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LOW = ambiguous (usually filtered)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3" name="Google Shape;423;p8"/>
          <p:cNvCxnSpPr/>
          <p:nvPr/>
        </p:nvCxnSpPr>
        <p:spPr>
          <a:xfrm>
            <a:off x="4389120" y="2971800"/>
            <a:ext cx="365760" cy="0"/>
          </a:xfrm>
          <a:prstGeom prst="straightConnector1">
            <a:avLst/>
          </a:prstGeom>
          <a:noFill/>
          <a:ln cap="flat" cmpd="sng" w="12700">
            <a:solidFill>
              <a:srgbClr val="00D4FF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424" name="Google Shape;424;p8"/>
          <p:cNvSpPr/>
          <p:nvPr/>
        </p:nvSpPr>
        <p:spPr>
          <a:xfrm>
            <a:off x="4754880" y="2880360"/>
            <a:ext cx="4114800" cy="56692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8"/>
          <p:cNvSpPr/>
          <p:nvPr/>
        </p:nvSpPr>
        <p:spPr>
          <a:xfrm>
            <a:off x="4846320" y="2898648"/>
            <a:ext cx="3931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Hypothesis Trail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8"/>
          <p:cNvSpPr/>
          <p:nvPr/>
        </p:nvSpPr>
        <p:spPr>
          <a:xfrm>
            <a:off x="4846320" y="3136392"/>
            <a:ext cx="39319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[CONFIRMED] = tool call verified the signal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[ELIMINATED] = ruled out as root cause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Shows students HOW Gemini reasons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7" name="Google Shape;427;p8"/>
          <p:cNvCxnSpPr/>
          <p:nvPr/>
        </p:nvCxnSpPr>
        <p:spPr>
          <a:xfrm>
            <a:off x="4389120" y="3794760"/>
            <a:ext cx="365760" cy="0"/>
          </a:xfrm>
          <a:prstGeom prst="straightConnector1">
            <a:avLst/>
          </a:prstGeom>
          <a:noFill/>
          <a:ln cap="flat" cmpd="sng" w="12700">
            <a:solidFill>
              <a:srgbClr val="FF6B35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428" name="Google Shape;428;p8"/>
          <p:cNvSpPr/>
          <p:nvPr/>
        </p:nvSpPr>
        <p:spPr>
          <a:xfrm>
            <a:off x="4754880" y="3703320"/>
            <a:ext cx="4114800" cy="56692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8"/>
          <p:cNvSpPr/>
          <p:nvPr/>
        </p:nvSpPr>
        <p:spPr>
          <a:xfrm>
            <a:off x="4846320" y="3721608"/>
            <a:ext cx="3931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SRE_ACTION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8"/>
          <p:cNvSpPr/>
          <p:nvPr/>
        </p:nvSpPr>
        <p:spPr>
          <a:xfrm>
            <a:off x="4846320" y="3959352"/>
            <a:ext cx="39319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Single executable kubectl command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S4 retrieves and runs this on approval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Prefix "kubectl " stripped before storage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1" name="Google Shape;431;p8"/>
          <p:cNvCxnSpPr/>
          <p:nvPr/>
        </p:nvCxnSpPr>
        <p:spPr>
          <a:xfrm>
            <a:off x="4389120" y="4434840"/>
            <a:ext cx="365760" cy="0"/>
          </a:xfrm>
          <a:prstGeom prst="straightConnector1">
            <a:avLst/>
          </a:prstGeom>
          <a:noFill/>
          <a:ln cap="flat" cmpd="sng" w="12700">
            <a:solidFill>
              <a:srgbClr val="26A5E4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432" name="Google Shape;432;p8"/>
          <p:cNvSpPr/>
          <p:nvPr/>
        </p:nvSpPr>
        <p:spPr>
          <a:xfrm>
            <a:off x="4754880" y="4343400"/>
            <a:ext cx="4114800" cy="56692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26A5E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8"/>
          <p:cNvSpPr/>
          <p:nvPr/>
        </p:nvSpPr>
        <p:spPr>
          <a:xfrm>
            <a:off x="4846320" y="4361688"/>
            <a:ext cx="3931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A5E4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26A5E4"/>
                </a:solidFill>
                <a:latin typeface="Trebuchet MS"/>
                <a:ea typeface="Trebuchet MS"/>
                <a:cs typeface="Trebuchet MS"/>
                <a:sym typeface="Trebuchet MS"/>
              </a:rPr>
              <a:t>Approval Command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8"/>
          <p:cNvSpPr/>
          <p:nvPr/>
        </p:nvSpPr>
        <p:spPr>
          <a:xfrm>
            <a:off x="4846320" y="4599432"/>
            <a:ext cx="39319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/approve &lt;totp&gt; k42a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Totp = 6-digit Authenticator code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S4 validates TOTP before executing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/>
      <p:sp>
        <p:nvSpPr>
          <p:cNvPr id="231" name="Google Shape;231;p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5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MONITORING — SINGLE PANE OF GLASS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5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 Monitoring Layer — one screen, every signal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Rounded Rectangle 233"/>
          <p:cNvSpPr/>
          <p:nvPr/>
        </p:nvSpPr>
        <p:spPr>
          <a:xfrm>
            <a:off x="365760" y="1170432"/>
            <a:ext cx="4160520" cy="3246120"/>
          </a:xfrm>
          <a:prstGeom prst="roundRect">
            <a:avLst/>
          </a:prstGeom>
          <a:solidFill>
            <a:srgbClr val="101B2E"/>
          </a:solidFill>
          <a:ln w="12700">
            <a:solidFill>
              <a:srgbClr val="21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530352" y="1280160"/>
            <a:ext cx="3831335" cy="3026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00D4FF"/>
                </a:solidFill>
                <a:latin typeface="Consolas"/>
              </a:rPr>
              <a:t>What it is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8C9AB0"/>
                </a:solidFill>
                <a:latin typeface="Consolas"/>
              </a:rPr>
              <a:t>// the dashboard MONITOR tab —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8C9AB0"/>
                </a:solidFill>
                <a:latin typeface="Consolas"/>
              </a:rPr>
              <a:t>// a CUSTOM live view, NOT Grafana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8C9AB0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0D4FF"/>
                </a:solidFill>
                <a:latin typeface="Consolas"/>
              </a:rPr>
              <a:t>① stats row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pods running/total · events · errors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0D4FF"/>
                </a:solidFill>
                <a:latin typeface="Consolas"/>
              </a:rPr>
              <a:t>② ACTIVE PROBLEMS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firing Prometheus alerts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0D4FF"/>
                </a:solidFill>
                <a:latin typeface="Consolas"/>
              </a:rPr>
              <a:t>③ POD TOPOLOGY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live deployments → pods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0D4FF"/>
                </a:solidFill>
                <a:latin typeface="Consolas"/>
              </a:rPr>
              <a:t>④ LIVE K8S EVENTS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pod lifecycle stream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8C9AB0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FFC44D"/>
                </a:solidFill>
                <a:latin typeface="Consolas"/>
              </a:rPr>
              <a:t>one screen the incident commander never leaves</a:t>
            </a:r>
          </a:p>
        </p:txBody>
      </p:sp>
      <p:sp>
        <p:nvSpPr>
          <p:cNvPr id="236" name="Rounded Rectangle 235"/>
          <p:cNvSpPr/>
          <p:nvPr/>
        </p:nvSpPr>
        <p:spPr>
          <a:xfrm>
            <a:off x="4617720" y="1170432"/>
            <a:ext cx="4160520" cy="3246120"/>
          </a:xfrm>
          <a:prstGeom prst="roundRect">
            <a:avLst/>
          </a:prstGeom>
          <a:solidFill>
            <a:srgbClr val="101B2E"/>
          </a:solidFill>
          <a:ln w="12700">
            <a:solidFill>
              <a:srgbClr val="21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4782312" y="1280160"/>
            <a:ext cx="3831335" cy="3026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FFC44D"/>
                </a:solidFill>
                <a:latin typeface="Consolas"/>
              </a:rPr>
              <a:t>Why it exists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8C9AB0"/>
                </a:solidFill>
                <a:latin typeface="Consolas"/>
              </a:rPr>
              <a:t>// you cannot fix what you cannot see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Detect  → an alert fires / a pod dies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See     → it appears here in &lt;1s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Act     → trigger chaos, watch recovery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8C9AB0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0D4FF"/>
                </a:solidFill>
                <a:latin typeface="Consolas"/>
              </a:rPr>
              <a:t>Two signal sources, one pane: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• Prometheus alerts  (metric-based)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• Kubernetes events  (lifecycle-based)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8C9AB0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FFC44D"/>
                </a:solidFill>
                <a:latin typeface="Consolas"/>
              </a:rPr>
              <a:t>observability is the prerequisite for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FFC44D"/>
                </a:solidFill>
                <a:latin typeface="Consolas"/>
              </a:rPr>
              <a:t>AI-assisted incident command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365760" y="4626864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35E09A"/>
                </a:solidFill>
                <a:latin typeface="Consolas"/>
              </a:rPr>
              <a:t>Open the dashboard → MONITOR tab. Everything in this section is live on that screen right now.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/>
      <p:sp>
        <p:nvSpPr>
          <p:cNvPr id="231" name="Google Shape;231;p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5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MONITORING — THE STACK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5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Prometheus · Grafana · Alertmanager — one ingress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Rounded Rectangle 233"/>
          <p:cNvSpPr/>
          <p:nvPr/>
        </p:nvSpPr>
        <p:spPr>
          <a:xfrm>
            <a:off x="365760" y="1170432"/>
            <a:ext cx="4160520" cy="3246120"/>
          </a:xfrm>
          <a:prstGeom prst="roundRect">
            <a:avLst/>
          </a:prstGeom>
          <a:solidFill>
            <a:srgbClr val="101B2E"/>
          </a:solidFill>
          <a:ln w="12700">
            <a:solidFill>
              <a:srgbClr val="21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530352" y="1280160"/>
            <a:ext cx="3831335" cy="3026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00D4FF"/>
                </a:solidFill>
                <a:latin typeface="Consolas"/>
              </a:rPr>
              <a:t>Three ClusterIP services, one nginx LB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0D4FF"/>
                </a:solidFill>
                <a:latin typeface="Consolas"/>
              </a:rPr>
              <a:t>Prometheus   /prometheus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scrapes target_chaos_* metrics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evaluates the workshop alert rules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routePrefix: /prometheus  (no rewrite)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8C9AB0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0D4FF"/>
                </a:solidFill>
                <a:latin typeface="Consolas"/>
              </a:rPr>
              <a:t>Grafana      /grafana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dashboards · GF_SERVER_ROOT_URL set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8C9AB0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0D4FF"/>
                </a:solidFill>
                <a:latin typeface="Consolas"/>
              </a:rPr>
              <a:t>Alertmanager /alertmanager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routePrefix: /  · regex ingress rewrite</a:t>
            </a:r>
          </a:p>
        </p:txBody>
      </p:sp>
      <p:sp>
        <p:nvSpPr>
          <p:cNvPr id="236" name="Rounded Rectangle 235"/>
          <p:cNvSpPr/>
          <p:nvPr/>
        </p:nvSpPr>
        <p:spPr>
          <a:xfrm>
            <a:off x="4617720" y="1170432"/>
            <a:ext cx="4160520" cy="3246120"/>
          </a:xfrm>
          <a:prstGeom prst="roundRect">
            <a:avLst/>
          </a:prstGeom>
          <a:solidFill>
            <a:srgbClr val="101B2E"/>
          </a:solidFill>
          <a:ln w="12700">
            <a:solidFill>
              <a:srgbClr val="21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4782312" y="1280160"/>
            <a:ext cx="3831335" cy="3026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35E09A"/>
                </a:solidFill>
                <a:latin typeface="Consolas"/>
              </a:rPr>
              <a:t>The routing rule that matters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8C9AB0"/>
                </a:solidFill>
                <a:latin typeface="Consolas"/>
              </a:rPr>
              <a:t>// Alertmanager route config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match: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0D4FF"/>
                </a:solidFill>
                <a:latin typeface="Consolas"/>
              </a:rPr>
              <a:t>  workshop = "true"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receiver: n8n-webhook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8C9AB0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→ POST n8n …/webhook/prometheus-alert-s5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8C9AB0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8C9AB0"/>
                </a:solidFill>
                <a:latin typeface="Consolas"/>
              </a:rPr>
              <a:t>// every workshop alert rule carries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FFC44D"/>
                </a:solidFill>
                <a:latin typeface="Consolas"/>
              </a:rPr>
              <a:t>  labels: { workshop: "true" }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8C9AB0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FFC44D"/>
                </a:solidFill>
                <a:latin typeface="Consolas"/>
              </a:rPr>
              <a:t>noise from cluster-internal alerts is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FFC44D"/>
                </a:solidFill>
                <a:latin typeface="Consolas"/>
              </a:rPr>
              <a:t>dropped — only OUR signals reach n8n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365760" y="4626864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35E09A"/>
                </a:solidFill>
                <a:latin typeface="Consolas"/>
              </a:rPr>
              <a:t>All three exposed by subpath through the SAME nginx ingress — no second load balancer.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/>
      <p:sp>
        <p:nvSpPr>
          <p:cNvPr id="231" name="Google Shape;231;p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5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MONITORING — THE MONITOR TAB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5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 tour of the four panels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Rounded Rectangle 233"/>
          <p:cNvSpPr/>
          <p:nvPr/>
        </p:nvSpPr>
        <p:spPr>
          <a:xfrm>
            <a:off x="365760" y="1170432"/>
            <a:ext cx="4160520" cy="1517904"/>
          </a:xfrm>
          <a:prstGeom prst="roundRect">
            <a:avLst/>
          </a:prstGeom>
          <a:solidFill>
            <a:srgbClr val="101B2E"/>
          </a:solidFill>
          <a:ln w="12700">
            <a:solidFill>
              <a:srgbClr val="21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530352" y="1280160"/>
            <a:ext cx="3831335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00D4FF"/>
                </a:solidFill>
                <a:latin typeface="Consolas"/>
              </a:rPr>
              <a:t>① STATS ROW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pods running / total · events caught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errors (click → list) · detect time &lt;1s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FFC44D"/>
                </a:solidFill>
                <a:latin typeface="Consolas"/>
              </a:rPr>
              <a:t>errors + events from event-watcher /stats</a:t>
            </a:r>
          </a:p>
        </p:txBody>
      </p:sp>
      <p:sp>
        <p:nvSpPr>
          <p:cNvPr id="236" name="Rounded Rectangle 235"/>
          <p:cNvSpPr/>
          <p:nvPr/>
        </p:nvSpPr>
        <p:spPr>
          <a:xfrm>
            <a:off x="365760" y="2788920"/>
            <a:ext cx="4160520" cy="1627632"/>
          </a:xfrm>
          <a:prstGeom prst="roundRect">
            <a:avLst/>
          </a:prstGeom>
          <a:solidFill>
            <a:srgbClr val="101B2E"/>
          </a:solidFill>
          <a:ln w="12700">
            <a:solidFill>
              <a:srgbClr val="21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530352" y="2898648"/>
            <a:ext cx="3831335" cy="14081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00D4FF"/>
                </a:solidFill>
                <a:latin typeface="Consolas"/>
              </a:rPr>
              <a:t>③ POD TOPOLOGY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GET /api/pods/{namespace}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8C9AB0"/>
                </a:solidFill>
                <a:latin typeface="Consolas"/>
              </a:rPr>
              <a:t>  → dashboard → MCP kubectl-read -o json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deployments → live pods, color by state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running · pending · failed · terminating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FFC44D"/>
                </a:solidFill>
                <a:latin typeface="Consolas"/>
              </a:rPr>
              <a:t>refresh every 30s · ns: workshop/clawops</a:t>
            </a:r>
          </a:p>
        </p:txBody>
      </p:sp>
      <p:sp>
        <p:nvSpPr>
          <p:cNvPr id="238" name="Rounded Rectangle 237"/>
          <p:cNvSpPr/>
          <p:nvPr/>
        </p:nvSpPr>
        <p:spPr>
          <a:xfrm>
            <a:off x="4617720" y="1170432"/>
            <a:ext cx="4160520" cy="1517904"/>
          </a:xfrm>
          <a:prstGeom prst="roundRect">
            <a:avLst/>
          </a:prstGeom>
          <a:solidFill>
            <a:srgbClr val="101B2E"/>
          </a:solidFill>
          <a:ln w="12700">
            <a:solidFill>
              <a:srgbClr val="21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4782312" y="1280160"/>
            <a:ext cx="3831335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FFC44D"/>
                </a:solidFill>
                <a:latin typeface="Consolas"/>
              </a:rPr>
              <a:t>② ACTIVE PROBLEMS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cfg.prom + /api/v1/alerts  (every 10s)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filter: state==firing &amp;&amp; workshop==true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FFC44D"/>
                </a:solidFill>
                <a:latin typeface="Consolas"/>
              </a:rPr>
              <a:t>surfaces EVERY chaos type the moment it fires</a:t>
            </a:r>
          </a:p>
        </p:txBody>
      </p:sp>
      <p:sp>
        <p:nvSpPr>
          <p:cNvPr id="240" name="Rounded Rectangle 239"/>
          <p:cNvSpPr/>
          <p:nvPr/>
        </p:nvSpPr>
        <p:spPr>
          <a:xfrm>
            <a:off x="4617720" y="2788920"/>
            <a:ext cx="4160520" cy="1627632"/>
          </a:xfrm>
          <a:prstGeom prst="roundRect">
            <a:avLst/>
          </a:prstGeom>
          <a:solidFill>
            <a:srgbClr val="101B2E"/>
          </a:solidFill>
          <a:ln w="12700">
            <a:solidFill>
              <a:srgbClr val="21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4782312" y="2898648"/>
            <a:ext cx="3831335" cy="14081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35E09A"/>
                </a:solidFill>
                <a:latin typeface="Consolas"/>
              </a:rPr>
              <a:t>④ LIVE K8S EVENTS + TIMELINE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SSE /events-admin/events/stream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+ history /events-admin/events?limit=30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8C9AB0"/>
                </a:solidFill>
                <a:latin typeface="Consolas"/>
              </a:rPr>
              <a:t>  pod lifecycle: Scheduled→Pulled→Started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8C9AB0"/>
                </a:solidFill>
                <a:latin typeface="Consolas"/>
              </a:rPr>
              <a:t>  trouble: OOMKilling · BackOff · Failed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FFC44D"/>
                </a:solidFill>
                <a:latin typeface="Consolas"/>
              </a:rPr>
              <a:t>live row stream + 8-event POD LIFECYCLE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365760" y="4626864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35E09A"/>
                </a:solidFill>
                <a:latin typeface="Consolas"/>
              </a:rPr>
              <a:t>Filter bar: namespace + deployment chips · LIVE dot turns green when the event SSE is connected.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/>
      <p:sp>
        <p:nvSpPr>
          <p:cNvPr id="231" name="Google Shape;231;p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5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MONITORING — EVENT-WATCHER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5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 event-watcher — eyes on the cluster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Rounded Rectangle 233"/>
          <p:cNvSpPr/>
          <p:nvPr/>
        </p:nvSpPr>
        <p:spPr>
          <a:xfrm>
            <a:off x="365760" y="1170432"/>
            <a:ext cx="4160520" cy="3246120"/>
          </a:xfrm>
          <a:prstGeom prst="roundRect">
            <a:avLst/>
          </a:prstGeom>
          <a:solidFill>
            <a:srgbClr val="101B2E"/>
          </a:solidFill>
          <a:ln w="12700">
            <a:solidFill>
              <a:srgbClr val="21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530352" y="1280160"/>
            <a:ext cx="3831335" cy="3026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00D4FF"/>
                </a:solidFill>
                <a:latin typeface="Consolas"/>
              </a:rPr>
              <a:t>A pod that watches the K8s API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0D4FF"/>
                </a:solidFill>
                <a:latin typeface="Consolas"/>
              </a:rPr>
              <a:t>ServiceAccount + ClusterRole (read-only)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get/list/watch: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events, pods, nodes, namespaces,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deployments, replicasets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8C9AB0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0D4FF"/>
                </a:solidFill>
                <a:latin typeface="Consolas"/>
              </a:rPr>
              <a:t>Watches namespace: workshop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reasons: OOMKilling BackOff Failed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Killing Scheduled Started Pulled Created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FailedScheduling Evicted Unhealthy …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8C9AB0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FFC44D"/>
                </a:solidFill>
                <a:latin typeface="Consolas"/>
              </a:rPr>
              <a:t>stores last 500 events in SQLite on a PVC</a:t>
            </a:r>
          </a:p>
        </p:txBody>
      </p:sp>
      <p:sp>
        <p:nvSpPr>
          <p:cNvPr id="236" name="Rounded Rectangle 235"/>
          <p:cNvSpPr/>
          <p:nvPr/>
        </p:nvSpPr>
        <p:spPr>
          <a:xfrm>
            <a:off x="4617720" y="1170432"/>
            <a:ext cx="4160520" cy="3246120"/>
          </a:xfrm>
          <a:prstGeom prst="roundRect">
            <a:avLst/>
          </a:prstGeom>
          <a:solidFill>
            <a:srgbClr val="101B2E"/>
          </a:solidFill>
          <a:ln w="12700">
            <a:solidFill>
              <a:srgbClr val="21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4782312" y="1280160"/>
            <a:ext cx="3831335" cy="3026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35E09A"/>
                </a:solidFill>
                <a:latin typeface="Consolas"/>
              </a:rPr>
              <a:t>Where it sends — three destinations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0D4FF"/>
                </a:solidFill>
                <a:latin typeface="Consolas"/>
              </a:rPr>
              <a:t>① Dashboard SSE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/api/k8s-events → MONITOR live stream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8C9AB0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0D4FF"/>
                </a:solidFill>
                <a:latin typeface="Consolas"/>
              </a:rPr>
              <a:t>② n8n  /webhook/k8s-event-s6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0D4FF"/>
                </a:solidFill>
                <a:latin typeface="Consolas"/>
              </a:rPr>
              <a:t>③ n8n  /webhook/k8s-event-s8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only SERIOUS reasons forwarded: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OOMKilling BackOff Failed Killing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Evicted FailedScheduling NodeNotReady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8C9AB0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FFC44D"/>
                </a:solidFill>
                <a:latin typeface="Consolas"/>
              </a:rPr>
              <a:t>10s batch window · 60s per-deploy cooldown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FFC44D"/>
                </a:solidFill>
                <a:latin typeface="Consolas"/>
              </a:rPr>
              <a:t>→ no alert storms from a flapping pod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365760" y="4626864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35E09A"/>
                </a:solidFill>
                <a:latin typeface="Consolas"/>
              </a:rPr>
              <a:t>It is the ONLY component with a live watch on K8s events — the source of the lifecycle signal.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/>
      <p:sp>
        <p:nvSpPr>
          <p:cNvPr id="231" name="Google Shape;231;p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5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MONITORING — ACTIVE PROBLEMS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5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Why ACTIVE PROBLEMS exists — the events gap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Rounded Rectangle 233"/>
          <p:cNvSpPr/>
          <p:nvPr/>
        </p:nvSpPr>
        <p:spPr>
          <a:xfrm>
            <a:off x="365760" y="1170432"/>
            <a:ext cx="4160520" cy="3246120"/>
          </a:xfrm>
          <a:prstGeom prst="roundRect">
            <a:avLst/>
          </a:prstGeom>
          <a:solidFill>
            <a:srgbClr val="101B2E"/>
          </a:solidFill>
          <a:ln w="12700">
            <a:solidFill>
              <a:srgbClr val="21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530352" y="1280160"/>
            <a:ext cx="3831335" cy="3026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00D4FF"/>
                </a:solidFill>
                <a:latin typeface="Consolas"/>
              </a:rPr>
              <a:t>The gap it closes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8C9AB0"/>
                </a:solidFill>
                <a:latin typeface="Consolas"/>
              </a:rPr>
              <a:t>// some chaos NEVER produces a K8s event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0D4FF"/>
                </a:solidFill>
                <a:latin typeface="Consolas"/>
              </a:rPr>
              <a:t>CPU stress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app metric — no pod event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0D4FF"/>
                </a:solidFill>
                <a:latin typeface="Consolas"/>
              </a:rPr>
              <a:t>Error rate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app metric — no pod event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0D4FF"/>
                </a:solidFill>
                <a:latin typeface="Consolas"/>
              </a:rPr>
              <a:t>Latency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app metric — no pod event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8C9AB0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the pod stays Running the whole time —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Kubernetes sees nothing wrong.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8C9AB0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FFC44D"/>
                </a:solidFill>
                <a:latin typeface="Consolas"/>
              </a:rPr>
              <a:t>without this panel, half the chaos types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FFC44D"/>
                </a:solidFill>
                <a:latin typeface="Consolas"/>
              </a:rPr>
              <a:t>would be INVISIBLE on the monitor.</a:t>
            </a:r>
          </a:p>
        </p:txBody>
      </p:sp>
      <p:sp>
        <p:nvSpPr>
          <p:cNvPr id="236" name="Rounded Rectangle 235"/>
          <p:cNvSpPr/>
          <p:nvPr/>
        </p:nvSpPr>
        <p:spPr>
          <a:xfrm>
            <a:off x="4617720" y="1170432"/>
            <a:ext cx="4160520" cy="3246120"/>
          </a:xfrm>
          <a:prstGeom prst="roundRect">
            <a:avLst/>
          </a:prstGeom>
          <a:solidFill>
            <a:srgbClr val="101B2E"/>
          </a:solidFill>
          <a:ln w="12700">
            <a:solidFill>
              <a:srgbClr val="21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4782312" y="1280160"/>
            <a:ext cx="3831335" cy="3026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FFC44D"/>
                </a:solidFill>
                <a:latin typeface="Consolas"/>
              </a:rPr>
              <a:t>How it surfaces them — code path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fetch(cfg.prom + "/api/v1/alerts")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.then(d =&gt; d.data.alerts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0D4FF"/>
                </a:solidFill>
                <a:latin typeface="Consolas"/>
              </a:rPr>
              <a:t>    .filter(a =&gt;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0D4FF"/>
                </a:solidFill>
                <a:latin typeface="Consolas"/>
              </a:rPr>
              <a:t>      a.state === 'firing' &amp;&amp;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0D4FF"/>
                </a:solidFill>
                <a:latin typeface="Consolas"/>
              </a:rPr>
              <a:t>      a.labels.workshop === 'true'))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8C9AB0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render one card per firing alert: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alertname · pod · severity · firing 12s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8C9AB0"/>
                </a:solidFill>
                <a:latin typeface="Consolas"/>
              </a:rPr>
              <a:t>  refresh every 10s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8C9AB0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FFC44D"/>
                </a:solidFill>
                <a:latin typeface="Consolas"/>
              </a:rPr>
              <a:t>target_chaos_* == 1  →  alert fires  →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FFC44D"/>
                </a:solidFill>
                <a:latin typeface="Consolas"/>
              </a:rPr>
              <a:t>card appears here within ~10s of chaos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365760" y="4626864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35E09A"/>
                </a:solidFill>
                <a:latin typeface="Consolas"/>
              </a:rPr>
              <a:t>Memory &amp; crash chaos ALSO show as K8s events (OOMKilling/BackOff) — but only this panel catches ALL of them.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/>
      <p:sp>
        <p:nvSpPr>
          <p:cNvPr id="231" name="Google Shape;231;p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5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MONITORING — TWO SIGNAL SOURCES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5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Metric-based vs lifecycle-based signals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Rounded Rectangle 233"/>
          <p:cNvSpPr/>
          <p:nvPr/>
        </p:nvSpPr>
        <p:spPr>
          <a:xfrm>
            <a:off x="365760" y="1170432"/>
            <a:ext cx="4160520" cy="3246120"/>
          </a:xfrm>
          <a:prstGeom prst="roundRect">
            <a:avLst/>
          </a:prstGeom>
          <a:solidFill>
            <a:srgbClr val="101B2E"/>
          </a:solidFill>
          <a:ln w="12700">
            <a:solidFill>
              <a:srgbClr val="21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530352" y="1280160"/>
            <a:ext cx="3831335" cy="3026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FFC44D"/>
                </a:solidFill>
                <a:latin typeface="Consolas"/>
              </a:rPr>
              <a:t>Prometheus alerts  (metric-based)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8C9AB0"/>
                </a:solidFill>
                <a:latin typeface="Consolas"/>
              </a:rPr>
              <a:t>// scrape → rule → fire → ACTIVE PROBLEMS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0D4FF"/>
                </a:solidFill>
                <a:latin typeface="Consolas"/>
              </a:rPr>
              <a:t>Source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target_chaos_* gauges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0D4FF"/>
                </a:solidFill>
                <a:latin typeface="Consolas"/>
              </a:rPr>
              <a:t>Catches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CPU · memory · errors · latency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        crash-loop (restart rate)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0D4FF"/>
                </a:solidFill>
                <a:latin typeface="Consolas"/>
              </a:rPr>
              <a:t>Latency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~10-30s (scrape + eval)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8C9AB0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answers: "is a SYMPTOM threshold breached?"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8C9AB0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FFC44D"/>
                </a:solidFill>
                <a:latin typeface="Consolas"/>
              </a:rPr>
              <a:t>every chaos type is visible here</a:t>
            </a:r>
          </a:p>
        </p:txBody>
      </p:sp>
      <p:sp>
        <p:nvSpPr>
          <p:cNvPr id="236" name="Rounded Rectangle 235"/>
          <p:cNvSpPr/>
          <p:nvPr/>
        </p:nvSpPr>
        <p:spPr>
          <a:xfrm>
            <a:off x="4617720" y="1170432"/>
            <a:ext cx="4160520" cy="3246120"/>
          </a:xfrm>
          <a:prstGeom prst="roundRect">
            <a:avLst/>
          </a:prstGeom>
          <a:solidFill>
            <a:srgbClr val="101B2E"/>
          </a:solidFill>
          <a:ln w="12700">
            <a:solidFill>
              <a:srgbClr val="21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4782312" y="1280160"/>
            <a:ext cx="3831335" cy="3026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35E09A"/>
                </a:solidFill>
                <a:latin typeface="Consolas"/>
              </a:rPr>
              <a:t>K8s events  (lifecycle-based)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8C9AB0"/>
                </a:solidFill>
                <a:latin typeface="Consolas"/>
              </a:rPr>
              <a:t>// watch API → SSE → LIVE EVENTS panel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0D4FF"/>
                </a:solidFill>
                <a:latin typeface="Consolas"/>
              </a:rPr>
              <a:t>Source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Kubernetes event stream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0D4FF"/>
                </a:solidFill>
                <a:latin typeface="Consolas"/>
              </a:rPr>
              <a:t>Catches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OOMKilling · BackOff · Killing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        Scheduled · Started · Evicted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0D4FF"/>
                </a:solidFill>
                <a:latin typeface="Consolas"/>
              </a:rPr>
              <a:t>Latency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&lt;1s (live watch)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8C9AB0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answers: "what HAPPENED to the pod?"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8C9AB0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FFC44D"/>
                </a:solidFill>
                <a:latin typeface="Consolas"/>
              </a:rPr>
              <a:t>only pod-level lifecycle shows here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365760" y="4626864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35E09A"/>
                </a:solidFill>
                <a:latin typeface="Consolas"/>
              </a:rPr>
              <a:t>Two lenses on the same cluster: symptoms (metrics) and history (events). You need both.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/>
      <p:sp>
        <p:nvSpPr>
          <p:cNvPr id="231" name="Google Shape;231;p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5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MONITORING — WHY IT MATTERS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5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Recap — detect, see, act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Rounded Rectangle 233"/>
          <p:cNvSpPr/>
          <p:nvPr/>
        </p:nvSpPr>
        <p:spPr>
          <a:xfrm>
            <a:off x="365760" y="1170432"/>
            <a:ext cx="4160520" cy="3246120"/>
          </a:xfrm>
          <a:prstGeom prst="roundRect">
            <a:avLst/>
          </a:prstGeom>
          <a:solidFill>
            <a:srgbClr val="101B2E"/>
          </a:solidFill>
          <a:ln w="12700">
            <a:solidFill>
              <a:srgbClr val="21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530352" y="1280160"/>
            <a:ext cx="3831335" cy="3026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00D4FF"/>
                </a:solidFill>
                <a:latin typeface="Consolas"/>
              </a:rPr>
              <a:t>What you now have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0D4FF"/>
                </a:solidFill>
                <a:latin typeface="Consolas"/>
              </a:rPr>
              <a:t>A single pane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the MONITOR tab — never leave it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8C9AB0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0D4FF"/>
                </a:solidFill>
                <a:latin typeface="Consolas"/>
              </a:rPr>
              <a:t>Two signal sources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Prometheus alerts + K8s events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8C9AB0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0D4FF"/>
                </a:solidFill>
                <a:latin typeface="Consolas"/>
              </a:rPr>
              <a:t>Full coverage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ACTIVE PROBLEMS catches metric-only chaos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LIVE EVENTS catches pod lifecycle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8C9AB0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0D4FF"/>
                </a:solidFill>
                <a:latin typeface="Consolas"/>
              </a:rPr>
              <a:t>Custom + native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built on the same stack the AI agents use</a:t>
            </a:r>
          </a:p>
        </p:txBody>
      </p:sp>
      <p:sp>
        <p:nvSpPr>
          <p:cNvPr id="236" name="Rounded Rectangle 235"/>
          <p:cNvSpPr/>
          <p:nvPr/>
        </p:nvSpPr>
        <p:spPr>
          <a:xfrm>
            <a:off x="4617720" y="1170432"/>
            <a:ext cx="4160520" cy="3246120"/>
          </a:xfrm>
          <a:prstGeom prst="roundRect">
            <a:avLst/>
          </a:prstGeom>
          <a:solidFill>
            <a:srgbClr val="101B2E"/>
          </a:solidFill>
          <a:ln w="12700">
            <a:solidFill>
              <a:srgbClr val="21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4782312" y="1280160"/>
            <a:ext cx="3831335" cy="3026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35E09A"/>
                </a:solidFill>
                <a:latin typeface="Consolas"/>
              </a:rPr>
              <a:t>Why it matters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8C9AB0"/>
                </a:solidFill>
                <a:latin typeface="Consolas"/>
              </a:rPr>
              <a:t>// the loop the whole workshop runs on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0D4FF"/>
                </a:solidFill>
                <a:latin typeface="Consolas"/>
              </a:rPr>
              <a:t>DETECT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alert fires / pod dies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0D4FF"/>
                </a:solidFill>
                <a:latin typeface="Consolas"/>
              </a:rPr>
              <a:t>SEE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it appears on the MONITOR tab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0D4FF"/>
                </a:solidFill>
                <a:latin typeface="Consolas"/>
              </a:rPr>
              <a:t>ACT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AI investigates → you approve fix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0D4FF"/>
                </a:solidFill>
                <a:latin typeface="Consolas"/>
              </a:rPr>
              <a:t>VERIFY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watch the signal clear, live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8C9AB0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the dashboard IS the console —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no Grafana tab-hopping to run the demo.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8C9AB0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FFC44D"/>
                </a:solidFill>
                <a:latin typeface="Consolas"/>
              </a:rPr>
              <a:t>observability first. Then AI. Then you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FFC44D"/>
                </a:solidFill>
                <a:latin typeface="Consolas"/>
              </a:rPr>
              <a:t>own the approval gate.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365760" y="4626864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35E09A"/>
                </a:solidFill>
                <a:latin typeface="Consolas"/>
              </a:rPr>
              <a:t>→ Open the dashboard → MONITOR tab now. Trigger CPU chaos and watch ACTIVE PROBLEMS light up.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2026-04-12T18:07:29Z</dcterms:created>
  <dc:creator>PptxGenJS</dc:creator>
</cp:coreProperties>
</file>